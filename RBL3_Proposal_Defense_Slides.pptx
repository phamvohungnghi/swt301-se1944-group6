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85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93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59" y="1417320"/>
            <a:ext cx="78871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3900" b="1">
                <a:solidFill>
                  <a:srgbClr val="F8FBFD"/>
                </a:solidFill>
              </a:defRPr>
            </a:pPr>
            <a:r>
              <a:rPr lang="en-US" sz="3200" b="1" dirty="0">
                <a:solidFill>
                  <a:srgbClr val="F8FBFD"/>
                </a:solidFill>
              </a:rPr>
              <a:t>GPT-4o </a:t>
            </a:r>
            <a:r>
              <a:rPr lang="en-US" sz="3200" b="1" dirty="0" err="1">
                <a:solidFill>
                  <a:srgbClr val="F8FBFD"/>
                </a:solidFill>
              </a:rPr>
              <a:t>sinh</a:t>
            </a:r>
            <a:r>
              <a:rPr lang="en-US" sz="3200" b="1" dirty="0">
                <a:solidFill>
                  <a:srgbClr val="F8FBFD"/>
                </a:solidFill>
              </a:rPr>
              <a:t> unit test </a:t>
            </a:r>
            <a:r>
              <a:rPr lang="en-US" sz="3200" b="1" dirty="0" err="1">
                <a:solidFill>
                  <a:srgbClr val="F8FBFD"/>
                </a:solidFill>
              </a:rPr>
              <a:t>trên</a:t>
            </a:r>
            <a:r>
              <a:rPr lang="en-US" sz="3200" b="1" dirty="0">
                <a:solidFill>
                  <a:srgbClr val="F8FBFD"/>
                </a:solidFill>
              </a:rPr>
              <a:t> </a:t>
            </a:r>
            <a:r>
              <a:rPr lang="en-US" sz="3200" b="1" dirty="0" err="1">
                <a:solidFill>
                  <a:srgbClr val="F8FBFD"/>
                </a:solidFill>
              </a:rPr>
              <a:t>mã</a:t>
            </a:r>
            <a:r>
              <a:rPr lang="en-US" sz="3200" b="1" dirty="0">
                <a:solidFill>
                  <a:srgbClr val="F8FBFD"/>
                </a:solidFill>
              </a:rPr>
              <a:t> CC 5–15</a:t>
            </a:r>
          </a:p>
        </p:txBody>
      </p:sp>
      <p:sp>
        <p:nvSpPr>
          <p:cNvPr id="4" name="Text 2"/>
          <p:cNvSpPr/>
          <p:nvPr/>
        </p:nvSpPr>
        <p:spPr>
          <a:xfrm>
            <a:off x="861448" y="28803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chất lượng unit test sinh ra từ lần phản hồi đầu tiên của GPT-4o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3785616"/>
            <a:ext cx="7178040" cy="1298448"/>
          </a:xfrm>
          <a:prstGeom prst="roundRect">
            <a:avLst>
              <a:gd name="adj" fmla="val 8451"/>
            </a:avLst>
          </a:prstGeom>
          <a:solidFill>
            <a:srgbClr val="0F172A"/>
          </a:solidFill>
          <a:ln w="10160">
            <a:solidFill>
              <a:srgbClr val="25404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960120" y="40416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4572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40416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25/25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45720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/ Python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36592" y="40416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 5-15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36592" y="4572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29400" y="404164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1x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400" y="45720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single-turn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76272" y="4005072"/>
            <a:ext cx="0" cy="82296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4005072"/>
            <a:ext cx="0" cy="82296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4005072"/>
            <a:ext cx="0" cy="82296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8341" y="1153007"/>
            <a:ext cx="3419856" cy="4566402"/>
          </a:xfrm>
          <a:prstGeom prst="roundRect">
            <a:avLst>
              <a:gd name="adj" fmla="val 3478"/>
            </a:avLst>
          </a:prstGeom>
          <a:solidFill>
            <a:srgbClr val="101826"/>
          </a:solidFill>
          <a:ln w="10160">
            <a:solidFill>
              <a:srgbClr val="203448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4964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94192" y="1746504"/>
            <a:ext cx="3713959" cy="3703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Controlled empirical study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Không khái quát cho mọi model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Không dùng repair </a:t>
            </a:r>
            <a:r>
              <a:rPr lang="en-US" sz="130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hoặc</a:t>
            </a: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regeneration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56034" y="5221224"/>
            <a:ext cx="2148840" cy="310896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00BC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1" name="Text 19"/>
          <p:cNvSpPr/>
          <p:nvPr/>
        </p:nvSpPr>
        <p:spPr>
          <a:xfrm>
            <a:off x="8880224" y="5048351"/>
            <a:ext cx="1944872" cy="65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first response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FF7CB946-71E8-F14D-D225-E54F6A038D17}"/>
              </a:ext>
            </a:extLst>
          </p:cNvPr>
          <p:cNvSpPr txBox="1"/>
          <p:nvPr/>
        </p:nvSpPr>
        <p:spPr>
          <a:xfrm>
            <a:off x="960120" y="5429483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SWT301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D1D5DB"/>
                </a:solidFill>
                <a:latin typeface="Segoe UI" pitchFamily="34" charset="0"/>
                <a:cs typeface="Segoe UI" pitchFamily="34" charset="-120"/>
              </a:rPr>
              <a:t>GVHD: </a:t>
            </a:r>
            <a:r>
              <a:rPr lang="vi-VN" dirty="0">
                <a:solidFill>
                  <a:srgbClr val="D1D5DB"/>
                </a:solidFill>
                <a:latin typeface="Segoe UI" pitchFamily="34" charset="0"/>
                <a:cs typeface="Segoe UI" pitchFamily="34" charset="-120"/>
              </a:rPr>
              <a:t>Lê Thị Quỳnh Chi</a:t>
            </a:r>
          </a:p>
          <a:p>
            <a:pPr marL="0" indent="0" algn="l">
              <a:buNone/>
            </a:pPr>
            <a:r>
              <a:rPr lang="vi-VN" sz="1800" dirty="0">
                <a:solidFill>
                  <a:schemeClr val="bg1"/>
                </a:solidFill>
                <a:latin typeface="Seo"/>
              </a:rPr>
              <a:t>Nhóm 6 - SE1944</a:t>
            </a:r>
            <a:endParaRPr lang="en-US" sz="1800" dirty="0">
              <a:solidFill>
                <a:schemeClr val="bg1"/>
              </a:solidFill>
              <a:latin typeface="S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Bounded GAP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Tại sao cần một protocol riêng để so sánh công bằng?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394960" cy="3456432"/>
          </a:xfrm>
          <a:prstGeom prst="roundRect">
            <a:avLst>
              <a:gd name="adj" fmla="val 3175"/>
            </a:avLst>
          </a:prstGeom>
          <a:solidFill>
            <a:srgbClr val="121A2A"/>
          </a:solidFill>
          <a:ln w="10160">
            <a:solidFill>
              <a:srgbClr val="26364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2084832"/>
            <a:ext cx="4663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nghiên cứu trước không thể so sánh trực tiếp vì khác nhau về: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816352"/>
            <a:ext cx="4389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Dataset và ngôn ngữ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 và prompt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Metric đo lường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Repair mechanism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62102" y="1362456"/>
            <a:ext cx="5166360" cy="3456432"/>
          </a:xfrm>
          <a:prstGeom prst="roundRect">
            <a:avLst>
              <a:gd name="adj" fmla="val 3175"/>
            </a:avLst>
          </a:prstGeom>
          <a:solidFill>
            <a:srgbClr val="0E1B24"/>
          </a:solidFill>
          <a:ln w="10160">
            <a:solidFill>
              <a:srgbClr val="1F4C5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GAP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20840" y="2084832"/>
            <a:ext cx="4480560" cy="1124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có nghiên cứu đánh giá đồng thời trên tập mẫu cân bằng Java-Python, được lọc trước theo CC 5-15, dưới controlled protocol.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3726180"/>
            <a:ext cx="1444752" cy="662940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00BCD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3428" y="3980439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protocol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0604" y="3697955"/>
            <a:ext cx="1629498" cy="662940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FFC107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4756" y="3751839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dataset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0" y="3726180"/>
            <a:ext cx="1527048" cy="662940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00E676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77856" y="398907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CC-controlled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5084064"/>
            <a:ext cx="1001268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0160">
            <a:solidFill>
              <a:srgbClr val="2839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5285232"/>
            <a:ext cx="96012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VD </a:t>
            </a:r>
            <a:r>
              <a:rPr lang="en-US" sz="1600" dirty="0" err="1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trong</a:t>
            </a:r>
            <a:r>
              <a:rPr lang="en-US" sz="160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vi-VN" sz="160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</a:t>
            </a:r>
            <a:r>
              <a:rPr lang="vi-VN" sz="1600" dirty="0" err="1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</a:t>
            </a:r>
            <a:r>
              <a:rPr lang="vi-VN" sz="160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như</a:t>
            </a:r>
            <a:r>
              <a:rPr lang="en-US" sz="160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600" dirty="0" err="1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TestPilot</a:t>
            </a:r>
            <a:r>
              <a:rPr lang="en-US" sz="160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52.8% median branch coverage  ≠  AgoneTest: 79.8% highest branch coverage - vì hai con số không cùng estimand.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Evidence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liệu làm bối cảnh, không gộp meta-analysis và không suy ra threshold chung.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44752"/>
            <a:ext cx="2487168" cy="420624"/>
          </a:xfrm>
          <a:prstGeom prst="rect">
            <a:avLst/>
          </a:prstGeom>
          <a:solidFill>
            <a:srgbClr val="1F293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45336"/>
            <a:ext cx="2377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Nghiên cứu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54096" y="1444752"/>
            <a:ext cx="2148840" cy="420624"/>
          </a:xfrm>
          <a:prstGeom prst="rect">
            <a:avLst/>
          </a:prstGeom>
          <a:solidFill>
            <a:srgbClr val="1F293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545336"/>
            <a:ext cx="203911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Ngữ cảnh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02936" y="1444752"/>
            <a:ext cx="1965960" cy="420624"/>
          </a:xfrm>
          <a:prstGeom prst="rect">
            <a:avLst/>
          </a:prstGeom>
          <a:solidFill>
            <a:srgbClr val="1F293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545336"/>
            <a:ext cx="185623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Coverage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68896" y="1444752"/>
            <a:ext cx="1874520" cy="420624"/>
          </a:xfrm>
          <a:prstGeom prst="rect">
            <a:avLst/>
          </a:prstGeom>
          <a:solidFill>
            <a:srgbClr val="1F293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545336"/>
            <a:ext cx="17647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Score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3416" y="1444752"/>
            <a:ext cx="2587752" cy="420624"/>
          </a:xfrm>
          <a:prstGeom prst="rect">
            <a:avLst/>
          </a:prstGeom>
          <a:solidFill>
            <a:srgbClr val="1F293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545336"/>
            <a:ext cx="247802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chú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66928" y="1865376"/>
            <a:ext cx="2487168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965960"/>
            <a:ext cx="23774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TestPilot (Schäfer 2024, TSE)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54096" y="1865376"/>
            <a:ext cx="214884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965960"/>
            <a:ext cx="203911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JS/Python, Function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02936" y="1865376"/>
            <a:ext cx="196596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965960"/>
            <a:ext cx="185623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52.8% median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68896" y="1865376"/>
            <a:ext cx="187452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965960"/>
            <a:ext cx="176479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43416" y="1865376"/>
            <a:ext cx="2587752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1965960"/>
            <a:ext cx="247802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Zero-shot, no repair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2468880"/>
            <a:ext cx="2487168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569464"/>
            <a:ext cx="23774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AgoneTest (Lops 2025, ASE)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54096" y="2468880"/>
            <a:ext cx="2148840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569464"/>
            <a:ext cx="203911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Java, Class-level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02936" y="2468880"/>
            <a:ext cx="1965960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569464"/>
            <a:ext cx="185623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79.8% highest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68896" y="2468880"/>
            <a:ext cx="1874520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569464"/>
            <a:ext cx="176479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89.2% highest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43416" y="2468880"/>
            <a:ext cx="2587752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2569464"/>
            <a:ext cx="247802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36% max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" y="3072384"/>
            <a:ext cx="2487168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172968"/>
            <a:ext cx="23774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 (Celik 2026, CIbSE)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054096" y="3072384"/>
            <a:ext cx="214884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172968"/>
            <a:ext cx="203911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Java, Class-level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02936" y="3072384"/>
            <a:ext cx="196596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3172968"/>
            <a:ext cx="185623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84.30% -&gt; 88.81%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168896" y="3072384"/>
            <a:ext cx="187452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172968"/>
            <a:ext cx="176479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72.71% -&gt; 81.85%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43416" y="3072384"/>
            <a:ext cx="2587752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3172968"/>
            <a:ext cx="247802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 repair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66928" y="3675888"/>
            <a:ext cx="2487168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776472"/>
            <a:ext cx="23774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ASTER (Pan 2024, ICSE-SEIP)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054096" y="3675888"/>
            <a:ext cx="2148840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3776472"/>
            <a:ext cx="203911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 ngôn ngữ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202936" y="3675888"/>
            <a:ext cx="1965960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3776472"/>
            <a:ext cx="185623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77.2%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168896" y="3675888"/>
            <a:ext cx="1874520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776472"/>
            <a:ext cx="176479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043416" y="3675888"/>
            <a:ext cx="2587752" cy="603504"/>
          </a:xfrm>
          <a:prstGeom prst="rect">
            <a:avLst/>
          </a:prstGeom>
          <a:solidFill>
            <a:srgbClr val="0F172A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98280" y="3776472"/>
            <a:ext cx="247802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remediation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66928" y="4279392"/>
            <a:ext cx="2487168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4379976"/>
            <a:ext cx="23774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ChatTester (Yuan 2024, FSE)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054096" y="4279392"/>
            <a:ext cx="214884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4379976"/>
            <a:ext cx="203911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Java, Class-level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202936" y="4279392"/>
            <a:ext cx="196596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7800" y="4379976"/>
            <a:ext cx="185623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&gt;82.0% avg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68896" y="4279392"/>
            <a:ext cx="1874520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23760" y="4379976"/>
            <a:ext cx="1764792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&gt;65.0% avg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043416" y="4279392"/>
            <a:ext cx="2587752" cy="603504"/>
          </a:xfrm>
          <a:prstGeom prst="rect">
            <a:avLst/>
          </a:prstGeom>
          <a:solidFill>
            <a:srgbClr val="111827"/>
          </a:solidFill>
          <a:ln w="6350">
            <a:solidFill>
              <a:srgbClr val="2A39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98280" y="4379976"/>
            <a:ext cx="247802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Multi-turn repair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77240" y="5376672"/>
            <a:ext cx="10607040" cy="603504"/>
          </a:xfrm>
          <a:prstGeom prst="roundRect">
            <a:avLst>
              <a:gd name="adj" fmla="val 18182"/>
            </a:avLst>
          </a:prstGeom>
          <a:solidFill>
            <a:srgbClr val="0B242C"/>
          </a:solidFill>
          <a:ln w="10160">
            <a:solidFill>
              <a:srgbClr val="1C657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0120" y="5559552"/>
            <a:ext cx="10241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luận: các kết quả trước khác estimand, nên nghiên cứu này cố định dataset, prompt, model và metric trước khi chạy.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Questions &amp; Statistical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câu hỏi nghiên cứu gắn trực tiếp với phép kiểm định.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3410712" cy="3977640"/>
          </a:xfrm>
          <a:prstGeom prst="roundRect">
            <a:avLst>
              <a:gd name="adj" fmla="val 3217"/>
            </a:avLst>
          </a:prstGeom>
          <a:solidFill>
            <a:srgbClr val="0D2230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267712"/>
            <a:ext cx="2880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Coverage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788920"/>
            <a:ext cx="2880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branch coverage của từng ngôn ngữ có &gt; 75%?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" y="3950208"/>
            <a:ext cx="2926080" cy="0"/>
          </a:xfrm>
          <a:prstGeom prst="line">
            <a:avLst/>
          </a:prstGeom>
          <a:noFill/>
          <a:ln w="10160">
            <a:solidFill>
              <a:srgbClr val="3241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TEST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968" y="4553712"/>
            <a:ext cx="28803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sign test một phía; Holm correction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471416" y="1600200"/>
            <a:ext cx="3410712" cy="3977640"/>
          </a:xfrm>
          <a:prstGeom prst="roundRect">
            <a:avLst>
              <a:gd name="adj" fmla="val 3217"/>
            </a:avLst>
          </a:prstGeom>
          <a:solidFill>
            <a:srgbClr val="241C0C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0016" y="2267712"/>
            <a:ext cx="2880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vs Randoop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0016" y="2788920"/>
            <a:ext cx="2880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score GPT-4o có cao hơn Randoop 4.3.4 trên Java?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0016" y="3950208"/>
            <a:ext cx="2926080" cy="0"/>
          </a:xfrm>
          <a:prstGeom prst="line">
            <a:avLst/>
          </a:prstGeom>
          <a:noFill/>
          <a:ln w="10160">
            <a:solidFill>
              <a:srgbClr val="3241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TEST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00016" y="4553712"/>
            <a:ext cx="28803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 one-sided Wilcoxon signed-rank (25 Java units)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284464" y="1600200"/>
            <a:ext cx="3410712" cy="3977640"/>
          </a:xfrm>
          <a:prstGeom prst="roundRect">
            <a:avLst>
              <a:gd name="adj" fmla="val 3217"/>
            </a:avLst>
          </a:prstGeom>
          <a:solidFill>
            <a:srgbClr val="0C251B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13064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13064" y="2267712"/>
            <a:ext cx="2880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 Influence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13064" y="2788920"/>
            <a:ext cx="2880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tương quan âm giữa CC và chất lượng test?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13064" y="3950208"/>
            <a:ext cx="2926080" cy="0"/>
          </a:xfrm>
          <a:prstGeom prst="line">
            <a:avLst/>
          </a:prstGeom>
          <a:noFill/>
          <a:ln w="10160">
            <a:solidFill>
              <a:srgbClr val="3241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TEST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13064" y="4553712"/>
            <a:ext cx="28803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One-sided Spearman; Holm cho 4 cặp; exploratory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&amp; Model Specification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được đóng băng để đảm bảo tính tái bản.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377440"/>
            <a:ext cx="521208" cy="0"/>
          </a:xfrm>
          <a:prstGeom prst="line">
            <a:avLst/>
          </a:prstGeom>
          <a:noFill/>
          <a:ln w="13970">
            <a:solidFill>
              <a:srgbClr val="3CA9B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14800" y="2377440"/>
            <a:ext cx="521208" cy="0"/>
          </a:xfrm>
          <a:prstGeom prst="line">
            <a:avLst/>
          </a:prstGeom>
          <a:noFill/>
          <a:ln w="13970">
            <a:solidFill>
              <a:srgbClr val="3CA9B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17920" y="2377440"/>
            <a:ext cx="521208" cy="0"/>
          </a:xfrm>
          <a:prstGeom prst="line">
            <a:avLst/>
          </a:prstGeom>
          <a:noFill/>
          <a:ln w="13970">
            <a:solidFill>
              <a:srgbClr val="3CA9B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21040" y="2377440"/>
            <a:ext cx="521208" cy="0"/>
          </a:xfrm>
          <a:prstGeom prst="line">
            <a:avLst/>
          </a:prstGeom>
          <a:noFill/>
          <a:ln w="13970">
            <a:solidFill>
              <a:srgbClr val="3CA9B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874520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101826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2057400"/>
            <a:ext cx="1371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Lizard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 5-15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101826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07208" y="2057400"/>
            <a:ext cx="1371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07208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single-turn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874520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101826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0328" y="2057400"/>
            <a:ext cx="1371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files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response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1874520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101826"/>
          </a:solidFill>
          <a:ln w="10160">
            <a:solidFill>
              <a:srgbClr val="A78BF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13448" y="2057400"/>
            <a:ext cx="1371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13448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+ mutation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06840" y="1874520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101826"/>
          </a:solidFill>
          <a:ln w="10160">
            <a:solidFill>
              <a:srgbClr val="38BDF8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16568" y="2057400"/>
            <a:ext cx="1371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16568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/ Wilcoxon / Spearman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730752"/>
            <a:ext cx="5138928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0160">
            <a:solidFill>
              <a:srgbClr val="26364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" y="3977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SPECIFICATION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4352544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 version: gpt-4o-2024-08-06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Endpoint: POST /v1/responses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Temperature 0.2, top_p 1, max_output_tokens 2048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27648" y="3730752"/>
            <a:ext cx="5138928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0160">
            <a:solidFill>
              <a:srgbClr val="26364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352544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Raw request + response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Token usage, UTC time, hash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Không regeneration, không repair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&amp; Baseline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Mẫu nghiên cứu được lọc bằng provenance gate trước khi freeze.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185" y="1572769"/>
            <a:ext cx="5285232" cy="452628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0160">
            <a:solidFill>
              <a:srgbClr val="25384D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- 50 UNITS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4983480" cy="996696"/>
          </a:xfrm>
          <a:prstGeom prst="roundRect">
            <a:avLst>
              <a:gd name="adj" fmla="val 10909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240280"/>
            <a:ext cx="2743200" cy="99669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9" name="Text 7"/>
          <p:cNvSpPr/>
          <p:nvPr/>
        </p:nvSpPr>
        <p:spPr>
          <a:xfrm>
            <a:off x="1325880" y="2619196"/>
            <a:ext cx="155448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Java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71737" y="2620036"/>
            <a:ext cx="1400525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Python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0180" y="347420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 5-15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17520" y="3623544"/>
            <a:ext cx="2743200" cy="3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by Lizard 1.23.0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1580" y="4609554"/>
            <a:ext cx="44805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 units kế thừa từ CLASSES2TEST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Python units theo phương pháp TestPilot &amp; ASTER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 độc lập trước khi đưa vào sample freeze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444752"/>
            <a:ext cx="5285232" cy="4526280"/>
          </a:xfrm>
          <a:prstGeom prst="roundRect">
            <a:avLst>
              <a:gd name="adj" fmla="val 2424"/>
            </a:avLst>
          </a:prstGeom>
          <a:solidFill>
            <a:srgbClr val="101826"/>
          </a:solidFill>
          <a:ln w="10160">
            <a:solidFill>
              <a:srgbClr val="30404E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737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RANDOOP BASELINE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01968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4.3.4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01968" y="2834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Randoop 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0" y="23042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61120" y="2834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Java unit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29400" y="3520440"/>
            <a:ext cx="4526280" cy="502920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00E676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3739" y="3657600"/>
            <a:ext cx="3797093" cy="20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randomseed=20260621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65392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 GATE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5392" y="4553712"/>
            <a:ext cx="4389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Source, license, commit SHA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Independent build check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Only then freeze dataset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Packages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work package - một owner chính chịu trách nhiệm.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645920"/>
            <a:ext cx="1993392" cy="3794760"/>
          </a:xfrm>
          <a:prstGeom prst="roundRect">
            <a:avLst>
              <a:gd name="adj" fmla="val 5505"/>
            </a:avLst>
          </a:prstGeom>
          <a:solidFill>
            <a:srgbClr val="0F172A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Vinh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23544" y="2606040"/>
            <a:ext cx="1371600" cy="0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971800"/>
            <a:ext cx="162763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preparation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preflight checks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79576" y="4754880"/>
            <a:ext cx="822960" cy="310896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00E67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4823460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35224" y="1645920"/>
            <a:ext cx="1993392" cy="3794760"/>
          </a:xfrm>
          <a:prstGeom prst="roundRect">
            <a:avLst>
              <a:gd name="adj" fmla="val 5505"/>
            </a:avLst>
          </a:prstGeom>
          <a:solidFill>
            <a:srgbClr val="0F172A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9981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55264" y="2606040"/>
            <a:ext cx="1371600" cy="0"/>
          </a:xfrm>
          <a:prstGeom prst="line">
            <a:avLst/>
          </a:prstGeom>
          <a:noFill/>
          <a:ln w="1524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2971800"/>
            <a:ext cx="162763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generation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raw response logs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11296" y="4754880"/>
            <a:ext cx="822960" cy="310896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00BCD4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4823460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66944" y="1645920"/>
            <a:ext cx="1993392" cy="3794760"/>
          </a:xfrm>
          <a:prstGeom prst="roundRect">
            <a:avLst>
              <a:gd name="adj" fmla="val 5505"/>
            </a:avLst>
          </a:prstGeom>
          <a:solidFill>
            <a:srgbClr val="0F172A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Quân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586984" y="2606040"/>
            <a:ext cx="1371600" cy="0"/>
          </a:xfrm>
          <a:prstGeom prst="line">
            <a:avLst/>
          </a:prstGeom>
          <a:noFill/>
          <a:ln w="1524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2971800"/>
            <a:ext cx="162763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execution,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Randoop &amp; stats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43016" y="4754880"/>
            <a:ext cx="822960" cy="310896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FFC107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4823460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98664" y="1645920"/>
            <a:ext cx="1993392" cy="3794760"/>
          </a:xfrm>
          <a:prstGeom prst="roundRect">
            <a:avLst>
              <a:gd name="adj" fmla="val 5505"/>
            </a:avLst>
          </a:prstGeom>
          <a:solidFill>
            <a:srgbClr val="0F172A"/>
          </a:solidFill>
          <a:ln w="10160">
            <a:solidFill>
              <a:srgbClr val="A78BF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6325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Văn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918704" y="2606040"/>
            <a:ext cx="137160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81544" y="2971800"/>
            <a:ext cx="162763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execution,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figures &amp; validity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74736" y="4754880"/>
            <a:ext cx="822960" cy="310896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4823460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30384" y="1645920"/>
            <a:ext cx="1993392" cy="3794760"/>
          </a:xfrm>
          <a:prstGeom prst="roundRect">
            <a:avLst>
              <a:gd name="adj" fmla="val 5505"/>
            </a:avLst>
          </a:prstGeom>
          <a:solidFill>
            <a:srgbClr val="0F172A"/>
          </a:solidFill>
          <a:ln w="10160">
            <a:solidFill>
              <a:srgbClr val="38BDF8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9497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Nghi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250424" y="2606040"/>
            <a:ext cx="137160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13264" y="2971800"/>
            <a:ext cx="162763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compliance,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reproducibility &amp; integration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506456" y="4754880"/>
            <a:ext cx="822960" cy="310896"/>
          </a:xfrm>
          <a:prstGeom prst="roundRect">
            <a:avLst>
              <a:gd name="adj" fmla="val 32353"/>
            </a:avLst>
          </a:prstGeom>
          <a:solidFill>
            <a:srgbClr val="10202B"/>
          </a:solidFill>
          <a:ln w="1016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79608" y="4823460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Đo chất lượng bằng coverage, mutation và khả năng chạy được.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002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0D2230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23544" y="2267712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Coverage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852928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JaCoCo (Java)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coverage.py (Python)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3675888"/>
            <a:ext cx="2560320" cy="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3886200"/>
            <a:ext cx="2788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Mức độ bao phủ nhánh điều kiện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8264" y="16002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241C0C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26864" y="2267712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Score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2852928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 (Java)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pytest-mutagen (Python)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18304" y="3675888"/>
            <a:ext cx="2560320" cy="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3886200"/>
            <a:ext cx="2788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Khả năng phát hiện lỗi logic giả lập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6002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0C251B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0184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30184" y="2267712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Executability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0184" y="2852928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Compile/runtime success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21624" y="3675888"/>
            <a:ext cx="2560320" cy="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3886200"/>
            <a:ext cx="2788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Tỉ lệ test chạy thành công trong môi trường sạch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5230368"/>
            <a:ext cx="9418320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0160">
            <a:solidFill>
              <a:srgbClr val="263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5449824"/>
            <a:ext cx="8869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Môi trường chuẩn: Python 3.10, Java OpenJDK 17, sandbox độc lập để tránh tác động chéo.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to Validity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mối đe dọa chính và cách nhóm giảm thiểu.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2011680" cy="0"/>
          </a:xfrm>
          <a:prstGeom prst="line">
            <a:avLst/>
          </a:prstGeom>
          <a:noFill/>
          <a:ln w="1778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54480"/>
            <a:ext cx="3200400" cy="416052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83664"/>
            <a:ext cx="2286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 Validity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1832" y="2606040"/>
            <a:ext cx="2743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cao không đồng nghĩa với bắt lỗi logic thực tế.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41832" y="3730752"/>
            <a:ext cx="2743200" cy="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4389120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Dùng mutation testing để bổ sung góc nhìn.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98264" y="1554480"/>
            <a:ext cx="3200400" cy="416052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56632" y="1883664"/>
            <a:ext cx="2286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Validity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26864" y="2606040"/>
            <a:ext cx="2743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gồm 50 units, CC 5-15, Java và Python.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26864" y="3730752"/>
            <a:ext cx="2743200" cy="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26864" y="4389120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khái quát cho hệ thống lớn hoặc ngôn ngữ khác.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83296" y="1554480"/>
            <a:ext cx="3200400" cy="416052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11896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41664" y="1883664"/>
            <a:ext cx="2286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Validity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11896" y="2606040"/>
            <a:ext cx="2743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phụ thuộc vào prompt cố định.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11896" y="3730752"/>
            <a:ext cx="2743200" cy="0"/>
          </a:xfrm>
          <a:prstGeom prst="line">
            <a:avLst/>
          </a:prstGeom>
          <a:noFill/>
          <a:ln w="12700">
            <a:solidFill>
              <a:srgbClr val="2732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11896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11896" y="4389120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prompt và log đầy đủ mọi tham số API.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7"/>
            <a:ext cx="11076370" cy="179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&amp; Resources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48840" y="2971800"/>
            <a:ext cx="1444752" cy="0"/>
          </a:xfrm>
          <a:prstGeom prst="line">
            <a:avLst/>
          </a:prstGeom>
          <a:noFill/>
          <a:ln w="13970">
            <a:solidFill>
              <a:srgbClr val="46556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54880" y="2971800"/>
            <a:ext cx="1444752" cy="0"/>
          </a:xfrm>
          <a:prstGeom prst="line">
            <a:avLst/>
          </a:prstGeom>
          <a:noFill/>
          <a:ln w="13970">
            <a:solidFill>
              <a:srgbClr val="46556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60920" y="2981131"/>
            <a:ext cx="1444752" cy="0"/>
          </a:xfrm>
          <a:prstGeom prst="line">
            <a:avLst/>
          </a:prstGeom>
          <a:noFill/>
          <a:ln w="13970">
            <a:solidFill>
              <a:srgbClr val="46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70432" y="2487168"/>
            <a:ext cx="914400" cy="9144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9" name="Text 7"/>
          <p:cNvSpPr/>
          <p:nvPr/>
        </p:nvSpPr>
        <p:spPr>
          <a:xfrm>
            <a:off x="1188720" y="28117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627632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vi-VN" dirty="0"/>
          </a:p>
        </p:txBody>
      </p:sp>
      <p:sp>
        <p:nvSpPr>
          <p:cNvPr id="11" name="Text 9"/>
          <p:cNvSpPr/>
          <p:nvPr/>
        </p:nvSpPr>
        <p:spPr>
          <a:xfrm>
            <a:off x="987552" y="3886200"/>
            <a:ext cx="1298448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7552" y="4334256"/>
            <a:ext cx="136376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cs typeface="Segoe UI" pitchFamily="34" charset="-120"/>
              </a:rPr>
              <a:t>5 Java </a:t>
            </a:r>
            <a:r>
              <a:rPr lang="vi-VN" sz="1200" dirty="0">
                <a:solidFill>
                  <a:srgbClr val="D1D5DB"/>
                </a:solidFill>
                <a:latin typeface="Segoe UI" pitchFamily="34" charset="0"/>
                <a:cs typeface="Segoe UI" pitchFamily="34" charset="-120"/>
              </a:rPr>
              <a:t>và 5 </a:t>
            </a:r>
            <a:r>
              <a:rPr lang="vi-VN" sz="1200" dirty="0" err="1">
                <a:solidFill>
                  <a:srgbClr val="D1D5DB"/>
                </a:solidFill>
                <a:latin typeface="Segoe UI" pitchFamily="34" charset="0"/>
                <a:cs typeface="Segoe UI" pitchFamily="34" charset="-120"/>
              </a:rPr>
              <a:t>python</a:t>
            </a:r>
            <a:r>
              <a:rPr lang="vi-VN" sz="1200" dirty="0">
                <a:solidFill>
                  <a:srgbClr val="D1D5DB"/>
                </a:solidFill>
                <a:latin typeface="Segoe UI" pitchFamily="34" charset="0"/>
                <a:cs typeface="Segoe U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76472" y="2487168"/>
            <a:ext cx="914400" cy="9144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4" name="Text 12"/>
          <p:cNvSpPr/>
          <p:nvPr/>
        </p:nvSpPr>
        <p:spPr>
          <a:xfrm>
            <a:off x="3785616" y="28117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29000" y="3703320"/>
            <a:ext cx="1627632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93592" y="3886200"/>
            <a:ext cx="1298448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93592" y="4206240"/>
            <a:ext cx="12984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generation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Randoop baseline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382512" y="2487168"/>
            <a:ext cx="914400" cy="91440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4516" y="2797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1627632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3886200"/>
            <a:ext cx="1298448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9632" y="4206240"/>
            <a:ext cx="12984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vi-VN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</a:t>
            </a:r>
            <a:r>
              <a:rPr lang="vi-VN" sz="120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</a:t>
            </a:r>
            <a:r>
              <a:rPr lang="vi-VN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vi-VN" sz="120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r>
              <a:rPr lang="vi-VN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và </a:t>
            </a:r>
            <a:r>
              <a:rPr lang="vi-VN" sz="120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88552" y="2487168"/>
            <a:ext cx="914400" cy="914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4" name="Text 22"/>
          <p:cNvSpPr/>
          <p:nvPr/>
        </p:nvSpPr>
        <p:spPr>
          <a:xfrm>
            <a:off x="9026808" y="2797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41080" y="3703320"/>
            <a:ext cx="1627632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0160">
            <a:solidFill>
              <a:srgbClr val="A78BFA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05672" y="3886200"/>
            <a:ext cx="1298448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05672" y="4206240"/>
            <a:ext cx="12984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Final review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5486400"/>
            <a:ext cx="9966960" cy="54864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0160">
            <a:solidFill>
              <a:srgbClr val="2636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678424"/>
            <a:ext cx="9326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nguyên: OpenAI API key (GPT-4o), máy chủ chạy Randoop, JaCoCo/PIT, coverage.py/pytest-mutagen.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021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Contributions &amp;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13385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0160">
            <a:solidFill>
              <a:srgbClr val="00BCD4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8992" y="2194560"/>
            <a:ext cx="457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55648" y="213055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Protocol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55648" y="2441448"/>
            <a:ext cx="54406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thực nghiệm có kiểm soát để đánh giá GPT-4o.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0160">
            <a:solidFill>
              <a:srgbClr val="FFC107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3337560"/>
            <a:ext cx="457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55648" y="327355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Dataset &amp; Logs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55648" y="3584448"/>
            <a:ext cx="54406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dữ liệu mở đóng băng gồm log sinh test của 50 units.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0160">
            <a:solidFill>
              <a:srgbClr val="00E676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78992" y="4480560"/>
            <a:ext cx="457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55648" y="441655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Randoop Comparison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755648" y="4727448"/>
            <a:ext cx="54406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sánh thực nghiệm chi tiết với baseline Java.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2971800" cy="2926080"/>
          </a:xfrm>
          <a:prstGeom prst="roundRect">
            <a:avLst>
              <a:gd name="adj" fmla="val 3750"/>
            </a:avLst>
          </a:prstGeom>
          <a:solidFill>
            <a:srgbClr val="0B242C"/>
          </a:solidFill>
          <a:ln w="10160">
            <a:solidFill>
              <a:srgbClr val="1C6571"/>
            </a:solidFill>
            <a:prstDash val="solid"/>
          </a:ln>
          <a:effectLst>
            <a:outerShdw blurRad="127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Câu hỏi &amp; góp 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648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RBL-3 Proposal Defense | GPT-4o Unit Test Quality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1058</Words>
  <Application>Microsoft Office PowerPoint</Application>
  <PresentationFormat>Màn hình rộng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11</vt:i4>
      </vt:variant>
    </vt:vector>
  </HeadingPairs>
  <TitlesOfParts>
    <vt:vector size="15" baseType="lpstr">
      <vt:lpstr>Seo</vt:lpstr>
      <vt:lpstr>Arial</vt:lpstr>
      <vt:lpstr>Segoe UI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FPT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Empirical Evaluation of GPT-4o's First-Response Unit Test Quality</dc:title>
  <dc:subject>RBL-3 Proposal Defense</dc:subject>
  <dc:creator>ChatGPT</dc:creator>
  <cp:lastModifiedBy>Nghi Phạm</cp:lastModifiedBy>
  <cp:revision>3</cp:revision>
  <dcterms:created xsi:type="dcterms:W3CDTF">2026-06-23T15:34:06Z</dcterms:created>
  <dcterms:modified xsi:type="dcterms:W3CDTF">2026-06-26T04:44:15Z</dcterms:modified>
</cp:coreProperties>
</file>