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320" autoAdjust="0"/>
  </p:normalViewPr>
  <p:slideViewPr>
    <p:cSldViewPr snapToGrid="0">
      <p:cViewPr varScale="1">
        <p:scale>
          <a:sx n="68" d="100"/>
          <a:sy n="68" d="100"/>
        </p:scale>
        <p:origin x="12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Nghi — 20 giây. Nhóm đánh giá first-attempt unit tests từ exact GPT-4o snapshot trên 50 hàm Java/Python có CC từ 5 đến 15. Phạm vi được giới hạn rõ; nhóm không tuyên bố GPT-4o tốt cho mọi loại mã. Chuyển cho Vinh trình bày vấn đề và bằng chứng.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Vinh — 35 giây. Các con số trước đây không thể đặt cạnh nhau như cùng một benchmark vì khác dataset, model, prompt, metric và repair loop. Trong 10 paper đã rà soát, nhóm chưa thấy study nào cô lập mẫu cân bằng Java/Python theo CC 5–15 với kế hoạch suy luận đăng ký trước. Vì vậy nhóm cần một protocol có kiểm soát.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Vinh — 40 giây. Đây là năm paper liên quan trực tiếp nhất. TestPilot báo median branch coverage 52,8 phần trăm; AgoneTest báo maximum branch 79,8 và mutation 89,2 nhưng compilation cao nhất chỉ 36 phần trăm; GEM có repair/strengthening; ASTER dùng static analysis và remediation; ChatTester dùng multi-turn repair. Vì treatment, dataset và aggregation khác nhau, nhóm chỉ dùng làm bối cảnh, không gộp meta-analysis và không suy ra universal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Quân — 40 giây. RQ1 kiểm tra median branch coverage vượt 75 phần trăm, tách Java/Python và Holm correction. RQ2 so sánh paired mutation score với Randoop trên Java. RQ3 kiểm tra tương quan nghịch giữa CC và quality, được xem là exploratory. Mọi H0/H1, hướng test và alpha đã khóa trước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Thái — 45 giây. Pipeline là một đường chạy cố định: input, Lizard, fixed prompt, đúng một response, execution và measurement. Model snapshot và sampling parameters được pin. Nhóm lưu raw request/response, token, timestamp và hash. Khi đã nhận response thì không regenerate để làm đẹp kết quả.</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Vinh — 35 giây. Dataset có 25 cặp cùng bài toán ở Java và Python. Randoop chỉ áp dụng cho Java. Trước full run, mỗi hàm phải có source/provenance, license hoặc quyền sử dụng, hash, line range, CC và fixture status. Nếu 50 hàm do nhóm tự xây dựng khác nguồn public repositories trong proposal, nhóm phải làm amendment.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Văn — 40 giây. Vinh phụ trách dataset 50 hàm, Thái sinh 50 outputs, Quân xử lý 25 Java cùng Randoop và statistics, Văn xử lý 25 Python và figures, Nghi làm consistency gate. Mỗi người tự viết subsection của phần mình; Nghi chỉ merge, không viết thay.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Quân — 45 giây. Nhóm chốt trước cách diễn giải: cả Java/Python đạt thì evidence ổn định hơn; chỉ một bên đạt thì kết luận language-specific; cả hai không đạt thì target 75 phần trăm không được hỗ trợ. RQ2 cũng báo cả trường hợp GPT tốt hơn và không tốt hơn Randoop. Luôn báo effect, CI, adjusted p và missingness.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Văn — 40 giây. Internal validity: khóa exact snapshot và logs. External validity: chỉ claim trong 50 unit đã chọn. Construct validity: coverage không đồng nghĩa fault detection nên có mutation score. Conclusion validity: mẫu nhỏ nên báo effect và confidence interval, không overclaim.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Nghi — 35 giây. Tuần 7 pilot để khóa tool, logs và runtime; tuần 8 mới chạy đủ 50; tuần 9 phân tích. Resource gồm API, máy CPU và Git artifacts. Chi phí full run được ước lượng bằng chi phí trung bình pilot nhân 5. Nếu model unavailable thì amendment; nếu tool lỗi thì fix và chạy lại pilot, không nhảy thẳng full run.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Nghi — 20 giây. Đóng góp là protocol complexity-controlled, paired Java baseline và một package có traceability cho đủ 50 hàm. Nhóm không claim universal superiority. Xin mời cô và các bạn đặt câu hỏi, đặc biệt về GAP, ngưỡng 75 phần trăm, Randoop hoặc provenance dataset.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14" name="rule">
            <a:extLst>
              <a:ext uri="{FF2B5EF4-FFF2-40B4-BE49-F238E27FC236}">
                <a16:creationId xmlns:a16="http://schemas.microsoft.com/office/drawing/2014/main" id="{6DFF29F0-D7F1-4137-9EF9-504E4FA3A597}"/>
              </a:ext>
            </a:extLst>
          </p:cNvPr>
          <p:cNvSpPr>
            <a:spLocks noGrp="1"/>
          </p:cNvSpPr>
          <p:nvPr/>
        </p:nvSpPr>
        <p:spPr>
          <a:xfrm>
            <a:off x="514350" y="530392"/>
            <a:ext cx="1047750" cy="47625"/>
          </a:xfrm>
          <a:prstGeom prst="rect">
            <a:avLst/>
          </a:prstGeom>
          <a:solidFill>
            <a:srgbClr val="26D0CE"/>
          </a:solidFill>
          <a:ln w="0">
            <a:noFill/>
            <a:prstDash val="solid"/>
          </a:ln>
        </p:spPr>
      </p:sp>
      <p:sp>
        <p:nvSpPr>
          <p:cNvPr id="2" name="text">
            <a:extLst>
              <a:ext uri="{FF2B5EF4-FFF2-40B4-BE49-F238E27FC236}">
                <a16:creationId xmlns:a16="http://schemas.microsoft.com/office/drawing/2014/main" id="{F35EA89A-E202-4524-8A26-DD8DFDED64FA}"/>
              </a:ext>
            </a:extLst>
          </p:cNvPr>
          <p:cNvSpPr>
            <a:spLocks noGrp="1"/>
          </p:cNvSpPr>
          <p:nvPr/>
        </p:nvSpPr>
        <p:spPr>
          <a:xfrm>
            <a:off x="514350" y="723900"/>
            <a:ext cx="4476750" cy="285750"/>
          </a:xfrm>
          <a:prstGeom prst="rect">
            <a:avLst/>
          </a:prstGeom>
          <a:noFill/>
          <a:ln w="0">
            <a:noFill/>
            <a:prstDash val="solid"/>
          </a:ln>
        </p:spPr>
        <p:txBody>
          <a:bodyPr anchor="ctr"/>
          <a:lstStyle/>
          <a:p>
            <a:pPr algn="l">
              <a:defRPr sz="1200" b="1">
                <a:solidFill>
                  <a:srgbClr val="26D0CE"/>
                </a:solidFill>
              </a:defRPr>
            </a:pPr>
            <a:r>
              <a:rPr sz="1200" b="1">
                <a:solidFill>
                  <a:srgbClr val="26D0CE"/>
                </a:solidFill>
              </a:rPr>
              <a:t>RBL-3 • PROPOSAL DEFENSE</a:t>
            </a:r>
          </a:p>
        </p:txBody>
      </p:sp>
      <p:sp>
        <p:nvSpPr>
          <p:cNvPr id="3" name="text">
            <a:extLst>
              <a:ext uri="{FF2B5EF4-FFF2-40B4-BE49-F238E27FC236}">
                <a16:creationId xmlns:a16="http://schemas.microsoft.com/office/drawing/2014/main" id="{F1ACE07C-3483-4538-8F3D-ED783F73D467}"/>
              </a:ext>
            </a:extLst>
          </p:cNvPr>
          <p:cNvSpPr>
            <a:spLocks noGrp="1"/>
          </p:cNvSpPr>
          <p:nvPr/>
        </p:nvSpPr>
        <p:spPr>
          <a:xfrm>
            <a:off x="514350" y="1428750"/>
            <a:ext cx="7143750" cy="1314450"/>
          </a:xfrm>
          <a:prstGeom prst="rect">
            <a:avLst/>
          </a:prstGeom>
          <a:noFill/>
          <a:ln w="0">
            <a:noFill/>
            <a:prstDash val="solid"/>
          </a:ln>
        </p:spPr>
        <p:txBody>
          <a:bodyPr anchor="ctr"/>
          <a:lstStyle/>
          <a:p>
            <a:pPr algn="l">
              <a:defRPr sz="3900" b="1">
                <a:solidFill>
                  <a:srgbClr val="F8FBFD"/>
                </a:solidFill>
              </a:defRPr>
            </a:pPr>
            <a:r>
              <a:rPr sz="3900" b="1" dirty="0">
                <a:solidFill>
                  <a:srgbClr val="F8FBFD"/>
                </a:solidFill>
              </a:rPr>
              <a:t>GPT-4o </a:t>
            </a:r>
            <a:r>
              <a:rPr sz="3900" b="1" dirty="0" err="1">
                <a:solidFill>
                  <a:srgbClr val="F8FBFD"/>
                </a:solidFill>
              </a:rPr>
              <a:t>sinh</a:t>
            </a:r>
            <a:r>
              <a:rPr sz="3900" b="1" dirty="0">
                <a:solidFill>
                  <a:srgbClr val="F8FBFD"/>
                </a:solidFill>
              </a:rPr>
              <a:t> unit test</a:t>
            </a:r>
          </a:p>
          <a:p>
            <a:pPr algn="l">
              <a:defRPr sz="3900" b="1">
                <a:solidFill>
                  <a:srgbClr val="F8FBFD"/>
                </a:solidFill>
              </a:defRPr>
            </a:pPr>
            <a:r>
              <a:rPr sz="3900" b="1" dirty="0" err="1">
                <a:solidFill>
                  <a:srgbClr val="F8FBFD"/>
                </a:solidFill>
              </a:rPr>
              <a:t>trên</a:t>
            </a:r>
            <a:r>
              <a:rPr sz="3900" b="1" dirty="0">
                <a:solidFill>
                  <a:srgbClr val="F8FBFD"/>
                </a:solidFill>
              </a:rPr>
              <a:t> </a:t>
            </a:r>
            <a:r>
              <a:rPr sz="3900" b="1" dirty="0" err="1">
                <a:solidFill>
                  <a:srgbClr val="F8FBFD"/>
                </a:solidFill>
              </a:rPr>
              <a:t>mã</a:t>
            </a:r>
            <a:r>
              <a:rPr sz="3900" b="1" dirty="0">
                <a:solidFill>
                  <a:srgbClr val="F8FBFD"/>
                </a:solidFill>
              </a:rPr>
              <a:t> CC 5–15</a:t>
            </a:r>
          </a:p>
        </p:txBody>
      </p:sp>
      <p:sp>
        <p:nvSpPr>
          <p:cNvPr id="4" name="text">
            <a:extLst>
              <a:ext uri="{FF2B5EF4-FFF2-40B4-BE49-F238E27FC236}">
                <a16:creationId xmlns:a16="http://schemas.microsoft.com/office/drawing/2014/main" id="{EB918236-378F-489A-BFF4-D2B862B8AC82}"/>
              </a:ext>
            </a:extLst>
          </p:cNvPr>
          <p:cNvSpPr>
            <a:spLocks noGrp="1"/>
          </p:cNvSpPr>
          <p:nvPr/>
        </p:nvSpPr>
        <p:spPr>
          <a:xfrm>
            <a:off x="552450" y="3009900"/>
            <a:ext cx="6191250" cy="361950"/>
          </a:xfrm>
          <a:prstGeom prst="rect">
            <a:avLst/>
          </a:prstGeom>
          <a:noFill/>
          <a:ln w="0">
            <a:noFill/>
            <a:prstDash val="solid"/>
          </a:ln>
        </p:spPr>
        <p:txBody>
          <a:bodyPr anchor="ctr"/>
          <a:lstStyle/>
          <a:p>
            <a:pPr algn="l">
              <a:defRPr sz="1875" b="0">
                <a:solidFill>
                  <a:srgbClr val="9FB2C2"/>
                </a:solidFill>
              </a:defRPr>
            </a:pPr>
            <a:r>
              <a:rPr sz="1875" b="0">
                <a:solidFill>
                  <a:srgbClr val="9FB2C2"/>
                </a:solidFill>
              </a:rPr>
              <a:t>First attempt • Java + Python</a:t>
            </a:r>
          </a:p>
        </p:txBody>
      </p:sp>
      <p:sp>
        <p:nvSpPr>
          <p:cNvPr id="5" name="scope">
            <a:extLst>
              <a:ext uri="{FF2B5EF4-FFF2-40B4-BE49-F238E27FC236}">
                <a16:creationId xmlns:a16="http://schemas.microsoft.com/office/drawing/2014/main" id="{F2AB31B4-4CD4-4C6A-871D-7039A5400E40}"/>
              </a:ext>
            </a:extLst>
          </p:cNvPr>
          <p:cNvSpPr>
            <a:spLocks noGrp="1"/>
          </p:cNvSpPr>
          <p:nvPr/>
        </p:nvSpPr>
        <p:spPr>
          <a:xfrm>
            <a:off x="6923314" y="1139680"/>
            <a:ext cx="4411436" cy="3504991"/>
          </a:xfrm>
          <a:prstGeom prst="roundRect">
            <a:avLst>
              <a:gd name="adj" fmla="val 3200"/>
            </a:avLst>
          </a:prstGeom>
          <a:solidFill>
            <a:srgbClr val="0D2940"/>
          </a:solidFill>
          <a:ln w="9525">
            <a:solidFill>
              <a:srgbClr val="29475E"/>
            </a:solidFill>
            <a:prstDash val="solid"/>
          </a:ln>
        </p:spPr>
        <p:txBody>
          <a:bodyPr/>
          <a:lstStyle/>
          <a:p>
            <a:endParaRPr lang="vi-VN" dirty="0"/>
          </a:p>
        </p:txBody>
      </p:sp>
      <p:sp>
        <p:nvSpPr>
          <p:cNvPr id="6" name="text">
            <a:extLst>
              <a:ext uri="{FF2B5EF4-FFF2-40B4-BE49-F238E27FC236}">
                <a16:creationId xmlns:a16="http://schemas.microsoft.com/office/drawing/2014/main" id="{0160556D-6BDB-4A9C-BB13-91C685D3DF94}"/>
              </a:ext>
            </a:extLst>
          </p:cNvPr>
          <p:cNvSpPr>
            <a:spLocks noGrp="1"/>
          </p:cNvSpPr>
          <p:nvPr/>
        </p:nvSpPr>
        <p:spPr>
          <a:xfrm>
            <a:off x="7407001" y="1714499"/>
            <a:ext cx="3641999" cy="1177677"/>
          </a:xfrm>
          <a:prstGeom prst="rect">
            <a:avLst/>
          </a:prstGeom>
          <a:noFill/>
          <a:ln w="0">
            <a:noFill/>
            <a:prstDash val="solid"/>
          </a:ln>
        </p:spPr>
        <p:txBody>
          <a:bodyPr anchor="ctr"/>
          <a:lstStyle/>
          <a:p>
            <a:pPr algn="ctr">
              <a:defRPr sz="4650" b="1">
                <a:solidFill>
                  <a:srgbClr val="26D0CE"/>
                </a:solidFill>
              </a:defRPr>
            </a:pPr>
            <a:r>
              <a:rPr sz="4650" b="1">
                <a:solidFill>
                  <a:srgbClr val="26D0CE"/>
                </a:solidFill>
              </a:rPr>
              <a:t>50</a:t>
            </a:r>
          </a:p>
        </p:txBody>
      </p:sp>
      <p:sp>
        <p:nvSpPr>
          <p:cNvPr id="7" name="text">
            <a:extLst>
              <a:ext uri="{FF2B5EF4-FFF2-40B4-BE49-F238E27FC236}">
                <a16:creationId xmlns:a16="http://schemas.microsoft.com/office/drawing/2014/main" id="{E7051D3A-D850-4F64-97D5-529716B69D4F}"/>
              </a:ext>
            </a:extLst>
          </p:cNvPr>
          <p:cNvSpPr>
            <a:spLocks noGrp="1"/>
          </p:cNvSpPr>
          <p:nvPr/>
        </p:nvSpPr>
        <p:spPr>
          <a:xfrm>
            <a:off x="7407001" y="2476499"/>
            <a:ext cx="3641999" cy="420599"/>
          </a:xfrm>
          <a:prstGeom prst="rect">
            <a:avLst/>
          </a:prstGeom>
          <a:noFill/>
          <a:ln w="0">
            <a:noFill/>
            <a:prstDash val="solid"/>
          </a:ln>
        </p:spPr>
        <p:txBody>
          <a:bodyPr anchor="ctr"/>
          <a:lstStyle/>
          <a:p>
            <a:pPr algn="ctr">
              <a:defRPr sz="1425" b="1">
                <a:solidFill>
                  <a:srgbClr val="F8FBFD"/>
                </a:solidFill>
              </a:defRPr>
            </a:pPr>
            <a:r>
              <a:rPr sz="1425" b="1">
                <a:solidFill>
                  <a:srgbClr val="F8FBFD"/>
                </a:solidFill>
              </a:rPr>
              <a:t>HÀM</a:t>
            </a:r>
          </a:p>
        </p:txBody>
      </p:sp>
      <p:sp>
        <p:nvSpPr>
          <p:cNvPr id="8" name="rule">
            <a:extLst>
              <a:ext uri="{FF2B5EF4-FFF2-40B4-BE49-F238E27FC236}">
                <a16:creationId xmlns:a16="http://schemas.microsoft.com/office/drawing/2014/main" id="{0C0DF2F7-58CB-49B0-9C94-71C30538AAE6}"/>
              </a:ext>
            </a:extLst>
          </p:cNvPr>
          <p:cNvSpPr>
            <a:spLocks noGrp="1"/>
          </p:cNvSpPr>
          <p:nvPr/>
        </p:nvSpPr>
        <p:spPr>
          <a:xfrm>
            <a:off x="7922933" y="2990850"/>
            <a:ext cx="2821267" cy="45719"/>
          </a:xfrm>
          <a:prstGeom prst="rect">
            <a:avLst/>
          </a:prstGeom>
          <a:solidFill>
            <a:srgbClr val="FFB45A"/>
          </a:solidFill>
          <a:ln w="0">
            <a:noFill/>
            <a:prstDash val="solid"/>
          </a:ln>
        </p:spPr>
      </p:sp>
      <p:sp>
        <p:nvSpPr>
          <p:cNvPr id="9" name="text">
            <a:extLst>
              <a:ext uri="{FF2B5EF4-FFF2-40B4-BE49-F238E27FC236}">
                <a16:creationId xmlns:a16="http://schemas.microsoft.com/office/drawing/2014/main" id="{BA9160D2-2003-4121-8949-34A4537B427E}"/>
              </a:ext>
            </a:extLst>
          </p:cNvPr>
          <p:cNvSpPr>
            <a:spLocks noGrp="1"/>
          </p:cNvSpPr>
          <p:nvPr/>
        </p:nvSpPr>
        <p:spPr>
          <a:xfrm>
            <a:off x="7407001" y="3181349"/>
            <a:ext cx="3641999" cy="504719"/>
          </a:xfrm>
          <a:prstGeom prst="rect">
            <a:avLst/>
          </a:prstGeom>
          <a:noFill/>
          <a:ln w="0">
            <a:noFill/>
            <a:prstDash val="solid"/>
          </a:ln>
        </p:spPr>
        <p:txBody>
          <a:bodyPr anchor="ctr"/>
          <a:lstStyle/>
          <a:p>
            <a:pPr algn="ctr">
              <a:defRPr sz="1425" b="1">
                <a:solidFill>
                  <a:srgbClr val="FFB45A"/>
                </a:solidFill>
              </a:defRPr>
            </a:pPr>
            <a:r>
              <a:rPr sz="1425" b="1">
                <a:solidFill>
                  <a:srgbClr val="FFB45A"/>
                </a:solidFill>
              </a:rPr>
              <a:t>25 JAVA + 25 PYTHON</a:t>
            </a:r>
          </a:p>
        </p:txBody>
      </p:sp>
      <p:sp>
        <p:nvSpPr>
          <p:cNvPr id="10" name="text">
            <a:extLst>
              <a:ext uri="{FF2B5EF4-FFF2-40B4-BE49-F238E27FC236}">
                <a16:creationId xmlns:a16="http://schemas.microsoft.com/office/drawing/2014/main" id="{48DC6257-A622-460A-88A8-70E3FFD4ACF4}"/>
              </a:ext>
            </a:extLst>
          </p:cNvPr>
          <p:cNvSpPr>
            <a:spLocks noGrp="1"/>
          </p:cNvSpPr>
          <p:nvPr/>
        </p:nvSpPr>
        <p:spPr>
          <a:xfrm>
            <a:off x="514350" y="5429250"/>
            <a:ext cx="6667500" cy="323850"/>
          </a:xfrm>
          <a:prstGeom prst="rect">
            <a:avLst/>
          </a:prstGeom>
          <a:noFill/>
          <a:ln w="0">
            <a:noFill/>
            <a:prstDash val="solid"/>
          </a:ln>
        </p:spPr>
        <p:txBody>
          <a:bodyPr anchor="ctr"/>
          <a:lstStyle/>
          <a:p>
            <a:pPr algn="l">
              <a:defRPr sz="1500" b="1">
                <a:solidFill>
                  <a:srgbClr val="F8FBFD"/>
                </a:solidFill>
              </a:defRPr>
            </a:pPr>
            <a:r>
              <a:rPr lang="vi-VN" sz="1500" b="1" dirty="0">
                <a:solidFill>
                  <a:srgbClr val="F8FBFD"/>
                </a:solidFill>
              </a:rPr>
              <a:t>Nhóm 6</a:t>
            </a:r>
          </a:p>
          <a:p>
            <a:pPr algn="l">
              <a:defRPr sz="1500" b="1">
                <a:solidFill>
                  <a:srgbClr val="F8FBFD"/>
                </a:solidFill>
              </a:defRPr>
            </a:pPr>
            <a:r>
              <a:rPr lang="vi-VN" sz="1500" b="1" dirty="0">
                <a:solidFill>
                  <a:srgbClr val="F8FBFD"/>
                </a:solidFill>
              </a:rPr>
              <a:t>Thành viên: </a:t>
            </a:r>
            <a:r>
              <a:rPr sz="1500" b="1" dirty="0">
                <a:solidFill>
                  <a:srgbClr val="F8FBFD"/>
                </a:solidFill>
              </a:rPr>
              <a:t>Nghi • Vinh • Thái • Quân • Văn</a:t>
            </a:r>
          </a:p>
        </p:txBody>
      </p:sp>
      <p:sp>
        <p:nvSpPr>
          <p:cNvPr id="11" name="text">
            <a:extLst>
              <a:ext uri="{FF2B5EF4-FFF2-40B4-BE49-F238E27FC236}">
                <a16:creationId xmlns:a16="http://schemas.microsoft.com/office/drawing/2014/main" id="{5FED7C26-023E-4F8A-BB4F-3BE6B22982A8}"/>
              </a:ext>
            </a:extLst>
          </p:cNvPr>
          <p:cNvSpPr>
            <a:spLocks noGrp="1"/>
          </p:cNvSpPr>
          <p:nvPr/>
        </p:nvSpPr>
        <p:spPr>
          <a:xfrm>
            <a:off x="514350" y="5848350"/>
            <a:ext cx="4762500" cy="266700"/>
          </a:xfrm>
          <a:prstGeom prst="rect">
            <a:avLst/>
          </a:prstGeom>
          <a:noFill/>
          <a:ln w="0">
            <a:noFill/>
            <a:prstDash val="solid"/>
          </a:ln>
        </p:spPr>
        <p:txBody>
          <a:bodyPr anchor="ctr"/>
          <a:lstStyle/>
          <a:p>
            <a:pPr algn="l">
              <a:defRPr sz="1275" b="0">
                <a:solidFill>
                  <a:srgbClr val="9FB2C2"/>
                </a:solidFill>
              </a:defRPr>
            </a:pPr>
            <a:r>
              <a:rPr lang="vi-VN" sz="1275" b="0" dirty="0">
                <a:solidFill>
                  <a:srgbClr val="9FB2C2"/>
                </a:solidFill>
              </a:rPr>
              <a:t>23/06/2026</a:t>
            </a:r>
            <a:endParaRPr sz="1275" b="0" dirty="0">
              <a:solidFill>
                <a:srgbClr val="9FB2C2"/>
              </a:solidFill>
            </a:endParaRPr>
          </a:p>
        </p:txBody>
      </p:sp>
      <p:sp>
        <p:nvSpPr>
          <p:cNvPr id="12" name="text">
            <a:extLst>
              <a:ext uri="{FF2B5EF4-FFF2-40B4-BE49-F238E27FC236}">
                <a16:creationId xmlns:a16="http://schemas.microsoft.com/office/drawing/2014/main" id="{E4A78CCA-1157-4C69-A557-52F19D1D061E}"/>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13" name="text">
            <a:extLst>
              <a:ext uri="{FF2B5EF4-FFF2-40B4-BE49-F238E27FC236}">
                <a16:creationId xmlns:a16="http://schemas.microsoft.com/office/drawing/2014/main" id="{897B54F0-E737-41F0-A973-D743762BF3BD}"/>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01</a:t>
            </a:r>
          </a:p>
        </p:txBody>
      </p:sp>
    </p:spTree>
    <p:extLst>
      <p:ext uri="{BB962C8B-B14F-4D97-AF65-F5344CB8AC3E}">
        <p14:creationId xmlns:p14="http://schemas.microsoft.com/office/powerpoint/2010/main" val="1761220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20" name="text">
            <a:extLst>
              <a:ext uri="{FF2B5EF4-FFF2-40B4-BE49-F238E27FC236}">
                <a16:creationId xmlns:a16="http://schemas.microsoft.com/office/drawing/2014/main" id="{8092B747-B1C1-4DC6-9371-D1D17F834AE9}"/>
              </a:ext>
            </a:extLst>
          </p:cNvPr>
          <p:cNvSpPr>
            <a:spLocks noGrp="1"/>
          </p:cNvSpPr>
          <p:nvPr/>
        </p:nvSpPr>
        <p:spPr>
          <a:xfrm>
            <a:off x="514350" y="323850"/>
            <a:ext cx="457200" cy="266700"/>
          </a:xfrm>
          <a:prstGeom prst="rect">
            <a:avLst/>
          </a:prstGeom>
          <a:noFill/>
          <a:ln w="0">
            <a:noFill/>
            <a:prstDash val="solid"/>
          </a:ln>
        </p:spPr>
        <p:txBody>
          <a:bodyPr anchor="ctr"/>
          <a:lstStyle/>
          <a:p>
            <a:pPr algn="l">
              <a:defRPr sz="1050" b="1">
                <a:solidFill>
                  <a:srgbClr val="26D0CE"/>
                </a:solidFill>
              </a:defRPr>
            </a:pPr>
            <a:r>
              <a:rPr sz="1050" b="1">
                <a:solidFill>
                  <a:srgbClr val="26D0CE"/>
                </a:solidFill>
              </a:rPr>
              <a:t>02</a:t>
            </a:r>
          </a:p>
        </p:txBody>
      </p:sp>
      <p:sp>
        <p:nvSpPr>
          <p:cNvPr id="2" name="text">
            <a:extLst>
              <a:ext uri="{FF2B5EF4-FFF2-40B4-BE49-F238E27FC236}">
                <a16:creationId xmlns:a16="http://schemas.microsoft.com/office/drawing/2014/main" id="{F9B17BDD-8B8E-4584-9FED-4C72EFC8D92A}"/>
              </a:ext>
            </a:extLst>
          </p:cNvPr>
          <p:cNvSpPr>
            <a:spLocks noGrp="1"/>
          </p:cNvSpPr>
          <p:nvPr/>
        </p:nvSpPr>
        <p:spPr>
          <a:xfrm>
            <a:off x="1066800" y="323850"/>
            <a:ext cx="5619750" cy="266700"/>
          </a:xfrm>
          <a:prstGeom prst="rect">
            <a:avLst/>
          </a:prstGeom>
          <a:noFill/>
          <a:ln w="0">
            <a:noFill/>
            <a:prstDash val="solid"/>
          </a:ln>
        </p:spPr>
        <p:txBody>
          <a:bodyPr anchor="ctr"/>
          <a:lstStyle/>
          <a:p>
            <a:pPr algn="l">
              <a:defRPr sz="1050" b="1">
                <a:solidFill>
                  <a:srgbClr val="9FB2C2"/>
                </a:solidFill>
              </a:defRPr>
            </a:pPr>
            <a:r>
              <a:rPr sz="1050" b="1">
                <a:solidFill>
                  <a:srgbClr val="9FB2C2"/>
                </a:solidFill>
              </a:rPr>
              <a:t>PROBLEM → GAP</a:t>
            </a:r>
          </a:p>
        </p:txBody>
      </p:sp>
      <p:sp>
        <p:nvSpPr>
          <p:cNvPr id="3" name="text">
            <a:extLst>
              <a:ext uri="{FF2B5EF4-FFF2-40B4-BE49-F238E27FC236}">
                <a16:creationId xmlns:a16="http://schemas.microsoft.com/office/drawing/2014/main" id="{B89903BC-9CA0-4E24-993D-14BD7FC6F970}"/>
              </a:ext>
            </a:extLst>
          </p:cNvPr>
          <p:cNvSpPr>
            <a:spLocks noGrp="1"/>
          </p:cNvSpPr>
          <p:nvPr/>
        </p:nvSpPr>
        <p:spPr>
          <a:xfrm>
            <a:off x="514350" y="685800"/>
            <a:ext cx="11144250" cy="590550"/>
          </a:xfrm>
          <a:prstGeom prst="rect">
            <a:avLst/>
          </a:prstGeom>
          <a:noFill/>
          <a:ln w="0">
            <a:noFill/>
            <a:prstDash val="solid"/>
          </a:ln>
        </p:spPr>
        <p:txBody>
          <a:bodyPr anchor="ctr"/>
          <a:lstStyle/>
          <a:p>
            <a:pPr algn="l">
              <a:defRPr sz="2850" b="1">
                <a:solidFill>
                  <a:srgbClr val="F8FBFD"/>
                </a:solidFill>
              </a:defRPr>
            </a:pPr>
            <a:r>
              <a:rPr sz="2850" b="1">
                <a:solidFill>
                  <a:srgbClr val="F8FBFD"/>
                </a:solidFill>
              </a:rPr>
              <a:t>Kết quả trước chưa cùng một thước đo</a:t>
            </a:r>
          </a:p>
        </p:txBody>
      </p:sp>
      <p:sp>
        <p:nvSpPr>
          <p:cNvPr id="4" name="rule">
            <a:extLst>
              <a:ext uri="{FF2B5EF4-FFF2-40B4-BE49-F238E27FC236}">
                <a16:creationId xmlns:a16="http://schemas.microsoft.com/office/drawing/2014/main" id="{60F8012D-4D4C-4727-BB66-6B797CDA4CF1}"/>
              </a:ext>
            </a:extLst>
          </p:cNvPr>
          <p:cNvSpPr>
            <a:spLocks noGrp="1"/>
          </p:cNvSpPr>
          <p:nvPr/>
        </p:nvSpPr>
        <p:spPr>
          <a:xfrm>
            <a:off x="514350" y="1371600"/>
            <a:ext cx="857250" cy="38100"/>
          </a:xfrm>
          <a:prstGeom prst="rect">
            <a:avLst/>
          </a:prstGeom>
          <a:solidFill>
            <a:srgbClr val="26D0CE"/>
          </a:solidFill>
          <a:ln w="0">
            <a:noFill/>
            <a:prstDash val="solid"/>
          </a:ln>
        </p:spPr>
      </p:sp>
      <p:sp>
        <p:nvSpPr>
          <p:cNvPr id="5" name="text">
            <a:extLst>
              <a:ext uri="{FF2B5EF4-FFF2-40B4-BE49-F238E27FC236}">
                <a16:creationId xmlns:a16="http://schemas.microsoft.com/office/drawing/2014/main" id="{2211E5D2-C072-4CCE-8511-4FC9F04F23C8}"/>
              </a:ext>
            </a:extLst>
          </p:cNvPr>
          <p:cNvSpPr>
            <a:spLocks noGrp="1"/>
          </p:cNvSpPr>
          <p:nvPr/>
        </p:nvSpPr>
        <p:spPr>
          <a:xfrm>
            <a:off x="3352800" y="2647950"/>
            <a:ext cx="704850" cy="457200"/>
          </a:xfrm>
          <a:prstGeom prst="rect">
            <a:avLst/>
          </a:prstGeom>
          <a:noFill/>
          <a:ln w="0">
            <a:noFill/>
            <a:prstDash val="solid"/>
          </a:ln>
        </p:spPr>
        <p:txBody>
          <a:bodyPr anchor="ctr"/>
          <a:lstStyle/>
          <a:p>
            <a:pPr algn="ctr">
              <a:defRPr sz="2400" b="1">
                <a:solidFill>
                  <a:srgbClr val="9FB2C2"/>
                </a:solidFill>
              </a:defRPr>
            </a:pPr>
            <a:r>
              <a:rPr sz="2400" b="1">
                <a:solidFill>
                  <a:srgbClr val="9FB2C2"/>
                </a:solidFill>
              </a:rPr>
              <a:t>→</a:t>
            </a:r>
          </a:p>
        </p:txBody>
      </p:sp>
      <p:sp>
        <p:nvSpPr>
          <p:cNvPr id="6" name="text">
            <a:extLst>
              <a:ext uri="{FF2B5EF4-FFF2-40B4-BE49-F238E27FC236}">
                <a16:creationId xmlns:a16="http://schemas.microsoft.com/office/drawing/2014/main" id="{EFE186DB-1DFA-4D62-88EF-90F0F733605A}"/>
              </a:ext>
            </a:extLst>
          </p:cNvPr>
          <p:cNvSpPr>
            <a:spLocks noGrp="1"/>
          </p:cNvSpPr>
          <p:nvPr/>
        </p:nvSpPr>
        <p:spPr>
          <a:xfrm>
            <a:off x="7886700" y="2647950"/>
            <a:ext cx="704850" cy="457200"/>
          </a:xfrm>
          <a:prstGeom prst="rect">
            <a:avLst/>
          </a:prstGeom>
          <a:noFill/>
          <a:ln w="0">
            <a:noFill/>
            <a:prstDash val="solid"/>
          </a:ln>
        </p:spPr>
        <p:txBody>
          <a:bodyPr anchor="ctr"/>
          <a:lstStyle/>
          <a:p>
            <a:pPr algn="ctr">
              <a:defRPr sz="2400" b="1">
                <a:solidFill>
                  <a:srgbClr val="9FB2C2"/>
                </a:solidFill>
              </a:defRPr>
            </a:pPr>
            <a:r>
              <a:rPr sz="2400" b="1">
                <a:solidFill>
                  <a:srgbClr val="9FB2C2"/>
                </a:solidFill>
              </a:rPr>
              <a:t>→</a:t>
            </a:r>
          </a:p>
        </p:txBody>
      </p:sp>
      <p:sp>
        <p:nvSpPr>
          <p:cNvPr id="7" name="box">
            <a:extLst>
              <a:ext uri="{FF2B5EF4-FFF2-40B4-BE49-F238E27FC236}">
                <a16:creationId xmlns:a16="http://schemas.microsoft.com/office/drawing/2014/main" id="{C80568D4-5450-49F0-A607-C29286CE4DD3}"/>
              </a:ext>
            </a:extLst>
          </p:cNvPr>
          <p:cNvSpPr>
            <a:spLocks noGrp="1"/>
          </p:cNvSpPr>
          <p:nvPr/>
        </p:nvSpPr>
        <p:spPr>
          <a:xfrm>
            <a:off x="628650" y="1943100"/>
            <a:ext cx="2857500" cy="2000250"/>
          </a:xfrm>
          <a:prstGeom prst="roundRect">
            <a:avLst>
              <a:gd name="adj" fmla="val 3810"/>
            </a:avLst>
          </a:prstGeom>
          <a:solidFill>
            <a:srgbClr val="0D2940"/>
          </a:solidFill>
          <a:ln w="9525">
            <a:solidFill>
              <a:srgbClr val="29475E"/>
            </a:solidFill>
            <a:prstDash val="solid"/>
          </a:ln>
        </p:spPr>
      </p:sp>
      <p:sp>
        <p:nvSpPr>
          <p:cNvPr id="8" name="text">
            <a:extLst>
              <a:ext uri="{FF2B5EF4-FFF2-40B4-BE49-F238E27FC236}">
                <a16:creationId xmlns:a16="http://schemas.microsoft.com/office/drawing/2014/main" id="{DDFC7B7F-68AB-466A-B356-3CAFEC6E0B53}"/>
              </a:ext>
            </a:extLst>
          </p:cNvPr>
          <p:cNvSpPr>
            <a:spLocks noGrp="1"/>
          </p:cNvSpPr>
          <p:nvPr/>
        </p:nvSpPr>
        <p:spPr>
          <a:xfrm>
            <a:off x="819150" y="2152650"/>
            <a:ext cx="2476500" cy="285750"/>
          </a:xfrm>
          <a:prstGeom prst="rect">
            <a:avLst/>
          </a:prstGeom>
          <a:noFill/>
          <a:ln w="0">
            <a:noFill/>
            <a:prstDash val="solid"/>
          </a:ln>
        </p:spPr>
        <p:txBody>
          <a:bodyPr anchor="ctr"/>
          <a:lstStyle/>
          <a:p>
            <a:pPr algn="ctr">
              <a:defRPr sz="1200" b="1">
                <a:solidFill>
                  <a:srgbClr val="26D0CE"/>
                </a:solidFill>
              </a:defRPr>
            </a:pPr>
            <a:r>
              <a:rPr sz="1200" b="1">
                <a:solidFill>
                  <a:srgbClr val="26D0CE"/>
                </a:solidFill>
              </a:rPr>
              <a:t>PRIOR WORK</a:t>
            </a:r>
          </a:p>
        </p:txBody>
      </p:sp>
      <p:sp>
        <p:nvSpPr>
          <p:cNvPr id="9" name="text">
            <a:extLst>
              <a:ext uri="{FF2B5EF4-FFF2-40B4-BE49-F238E27FC236}">
                <a16:creationId xmlns:a16="http://schemas.microsoft.com/office/drawing/2014/main" id="{A31C14AF-F020-43BB-8BEB-D33EFD5576B5}"/>
              </a:ext>
            </a:extLst>
          </p:cNvPr>
          <p:cNvSpPr>
            <a:spLocks noGrp="1"/>
          </p:cNvSpPr>
          <p:nvPr/>
        </p:nvSpPr>
        <p:spPr>
          <a:xfrm>
            <a:off x="819150" y="2647950"/>
            <a:ext cx="2476500" cy="704850"/>
          </a:xfrm>
          <a:prstGeom prst="rect">
            <a:avLst/>
          </a:prstGeom>
          <a:noFill/>
          <a:ln w="0">
            <a:noFill/>
            <a:prstDash val="solid"/>
          </a:ln>
        </p:spPr>
        <p:txBody>
          <a:bodyPr anchor="ctr"/>
          <a:lstStyle/>
          <a:p>
            <a:pPr algn="ctr">
              <a:defRPr sz="2100" b="1">
                <a:solidFill>
                  <a:srgbClr val="F8FBFD"/>
                </a:solidFill>
              </a:defRPr>
            </a:pPr>
            <a:r>
              <a:rPr sz="2100" b="1">
                <a:solidFill>
                  <a:srgbClr val="F8FBFD"/>
                </a:solidFill>
              </a:rPr>
              <a:t>Dataset</a:t>
            </a:r>
          </a:p>
          <a:p>
            <a:pPr algn="ctr">
              <a:defRPr sz="2100" b="1">
                <a:solidFill>
                  <a:srgbClr val="F8FBFD"/>
                </a:solidFill>
              </a:defRPr>
            </a:pPr>
            <a:r>
              <a:rPr sz="2100" b="1">
                <a:solidFill>
                  <a:srgbClr val="F8FBFD"/>
                </a:solidFill>
              </a:rPr>
              <a:t>khác nhau</a:t>
            </a:r>
          </a:p>
        </p:txBody>
      </p:sp>
      <p:sp>
        <p:nvSpPr>
          <p:cNvPr id="10" name="box">
            <a:extLst>
              <a:ext uri="{FF2B5EF4-FFF2-40B4-BE49-F238E27FC236}">
                <a16:creationId xmlns:a16="http://schemas.microsoft.com/office/drawing/2014/main" id="{E3D49A00-E6B9-48AB-9DDD-FD4F0293C70A}"/>
              </a:ext>
            </a:extLst>
          </p:cNvPr>
          <p:cNvSpPr>
            <a:spLocks noGrp="1"/>
          </p:cNvSpPr>
          <p:nvPr/>
        </p:nvSpPr>
        <p:spPr>
          <a:xfrm>
            <a:off x="4095750" y="1943100"/>
            <a:ext cx="3714750" cy="2000250"/>
          </a:xfrm>
          <a:prstGeom prst="roundRect">
            <a:avLst>
              <a:gd name="adj" fmla="val 3810"/>
            </a:avLst>
          </a:prstGeom>
          <a:solidFill>
            <a:srgbClr val="EAF3F7"/>
          </a:solidFill>
          <a:ln w="0">
            <a:noFill/>
            <a:prstDash val="solid"/>
          </a:ln>
        </p:spPr>
      </p:sp>
      <p:sp>
        <p:nvSpPr>
          <p:cNvPr id="11" name="text">
            <a:extLst>
              <a:ext uri="{FF2B5EF4-FFF2-40B4-BE49-F238E27FC236}">
                <a16:creationId xmlns:a16="http://schemas.microsoft.com/office/drawing/2014/main" id="{3152775E-D5FA-4315-ADF8-721359482F6A}"/>
              </a:ext>
            </a:extLst>
          </p:cNvPr>
          <p:cNvSpPr>
            <a:spLocks noGrp="1"/>
          </p:cNvSpPr>
          <p:nvPr/>
        </p:nvSpPr>
        <p:spPr>
          <a:xfrm>
            <a:off x="4324350" y="2152650"/>
            <a:ext cx="3257550" cy="285750"/>
          </a:xfrm>
          <a:prstGeom prst="rect">
            <a:avLst/>
          </a:prstGeom>
          <a:noFill/>
          <a:ln w="0">
            <a:noFill/>
            <a:prstDash val="solid"/>
          </a:ln>
        </p:spPr>
        <p:txBody>
          <a:bodyPr anchor="ctr"/>
          <a:lstStyle/>
          <a:p>
            <a:pPr algn="ctr">
              <a:defRPr sz="1200" b="1">
                <a:solidFill>
                  <a:srgbClr val="0FA3A1"/>
                </a:solidFill>
              </a:defRPr>
            </a:pPr>
            <a:r>
              <a:rPr sz="1200" b="1">
                <a:solidFill>
                  <a:srgbClr val="0FA3A1"/>
                </a:solidFill>
              </a:rPr>
              <a:t>NHIỄU</a:t>
            </a:r>
          </a:p>
        </p:txBody>
      </p:sp>
      <p:sp>
        <p:nvSpPr>
          <p:cNvPr id="12" name="text">
            <a:extLst>
              <a:ext uri="{FF2B5EF4-FFF2-40B4-BE49-F238E27FC236}">
                <a16:creationId xmlns:a16="http://schemas.microsoft.com/office/drawing/2014/main" id="{7D690071-6024-46D8-AEDD-8E01F6CF2BD0}"/>
              </a:ext>
            </a:extLst>
          </p:cNvPr>
          <p:cNvSpPr>
            <a:spLocks noGrp="1"/>
          </p:cNvSpPr>
          <p:nvPr/>
        </p:nvSpPr>
        <p:spPr>
          <a:xfrm>
            <a:off x="4324350" y="2647950"/>
            <a:ext cx="3257550" cy="704850"/>
          </a:xfrm>
          <a:prstGeom prst="rect">
            <a:avLst/>
          </a:prstGeom>
          <a:noFill/>
          <a:ln w="0">
            <a:noFill/>
            <a:prstDash val="solid"/>
          </a:ln>
        </p:spPr>
        <p:txBody>
          <a:bodyPr anchor="ctr"/>
          <a:lstStyle/>
          <a:p>
            <a:pPr algn="ctr">
              <a:defRPr sz="2025" b="1">
                <a:solidFill>
                  <a:srgbClr val="102638"/>
                </a:solidFill>
              </a:defRPr>
            </a:pPr>
            <a:r>
              <a:rPr sz="2025" b="1">
                <a:solidFill>
                  <a:srgbClr val="102638"/>
                </a:solidFill>
              </a:rPr>
              <a:t>Model • Prompt</a:t>
            </a:r>
          </a:p>
          <a:p>
            <a:pPr algn="ctr">
              <a:defRPr sz="2025" b="1">
                <a:solidFill>
                  <a:srgbClr val="102638"/>
                </a:solidFill>
              </a:defRPr>
            </a:pPr>
            <a:r>
              <a:rPr sz="2025" b="1">
                <a:solidFill>
                  <a:srgbClr val="102638"/>
                </a:solidFill>
              </a:rPr>
              <a:t>Metric • Repair</a:t>
            </a:r>
          </a:p>
        </p:txBody>
      </p:sp>
      <p:sp>
        <p:nvSpPr>
          <p:cNvPr id="13" name="box">
            <a:extLst>
              <a:ext uri="{FF2B5EF4-FFF2-40B4-BE49-F238E27FC236}">
                <a16:creationId xmlns:a16="http://schemas.microsoft.com/office/drawing/2014/main" id="{810F703C-5F09-4577-95D7-8CF7357C39E9}"/>
              </a:ext>
            </a:extLst>
          </p:cNvPr>
          <p:cNvSpPr>
            <a:spLocks noGrp="1"/>
          </p:cNvSpPr>
          <p:nvPr/>
        </p:nvSpPr>
        <p:spPr>
          <a:xfrm>
            <a:off x="8610600" y="1943100"/>
            <a:ext cx="2952750" cy="2000250"/>
          </a:xfrm>
          <a:prstGeom prst="roundRect">
            <a:avLst>
              <a:gd name="adj" fmla="val 3810"/>
            </a:avLst>
          </a:prstGeom>
          <a:solidFill>
            <a:srgbClr val="0D2940"/>
          </a:solidFill>
          <a:ln w="9525">
            <a:solidFill>
              <a:srgbClr val="29475E"/>
            </a:solidFill>
            <a:prstDash val="solid"/>
          </a:ln>
        </p:spPr>
      </p:sp>
      <p:sp>
        <p:nvSpPr>
          <p:cNvPr id="14" name="text">
            <a:extLst>
              <a:ext uri="{FF2B5EF4-FFF2-40B4-BE49-F238E27FC236}">
                <a16:creationId xmlns:a16="http://schemas.microsoft.com/office/drawing/2014/main" id="{97BCFE82-84EA-47DC-B042-D1E9FA80D0CB}"/>
              </a:ext>
            </a:extLst>
          </p:cNvPr>
          <p:cNvSpPr>
            <a:spLocks noGrp="1"/>
          </p:cNvSpPr>
          <p:nvPr/>
        </p:nvSpPr>
        <p:spPr>
          <a:xfrm>
            <a:off x="8820150" y="2152650"/>
            <a:ext cx="2533650" cy="285750"/>
          </a:xfrm>
          <a:prstGeom prst="rect">
            <a:avLst/>
          </a:prstGeom>
          <a:noFill/>
          <a:ln w="0">
            <a:noFill/>
            <a:prstDash val="solid"/>
          </a:ln>
        </p:spPr>
        <p:txBody>
          <a:bodyPr anchor="ctr"/>
          <a:lstStyle/>
          <a:p>
            <a:pPr algn="ctr">
              <a:defRPr sz="1200" b="1">
                <a:solidFill>
                  <a:srgbClr val="FFB45A"/>
                </a:solidFill>
              </a:defRPr>
            </a:pPr>
            <a:r>
              <a:rPr sz="1200" b="1">
                <a:solidFill>
                  <a:srgbClr val="FFB45A"/>
                </a:solidFill>
              </a:rPr>
              <a:t>BOUNDED GAP</a:t>
            </a:r>
          </a:p>
        </p:txBody>
      </p:sp>
      <p:sp>
        <p:nvSpPr>
          <p:cNvPr id="15" name="text">
            <a:extLst>
              <a:ext uri="{FF2B5EF4-FFF2-40B4-BE49-F238E27FC236}">
                <a16:creationId xmlns:a16="http://schemas.microsoft.com/office/drawing/2014/main" id="{6230AEA6-1AEC-45F1-81D1-826F7C9F86A5}"/>
              </a:ext>
            </a:extLst>
          </p:cNvPr>
          <p:cNvSpPr>
            <a:spLocks noGrp="1"/>
          </p:cNvSpPr>
          <p:nvPr/>
        </p:nvSpPr>
        <p:spPr>
          <a:xfrm>
            <a:off x="8820150" y="2552700"/>
            <a:ext cx="2533650" cy="990600"/>
          </a:xfrm>
          <a:prstGeom prst="rect">
            <a:avLst/>
          </a:prstGeom>
          <a:noFill/>
          <a:ln w="0">
            <a:noFill/>
            <a:prstDash val="solid"/>
          </a:ln>
        </p:spPr>
        <p:txBody>
          <a:bodyPr anchor="ctr"/>
          <a:lstStyle/>
          <a:p>
            <a:pPr algn="ctr">
              <a:defRPr sz="1650" b="1">
                <a:solidFill>
                  <a:srgbClr val="F8FBFD"/>
                </a:solidFill>
              </a:defRPr>
            </a:pPr>
            <a:r>
              <a:rPr sz="1650" b="1">
                <a:solidFill>
                  <a:srgbClr val="F8FBFD"/>
                </a:solidFill>
              </a:rPr>
              <a:t>10 papers</a:t>
            </a:r>
          </a:p>
          <a:p>
            <a:pPr algn="ctr">
              <a:defRPr sz="1650" b="1">
                <a:solidFill>
                  <a:srgbClr val="F8FBFD"/>
                </a:solidFill>
              </a:defRPr>
            </a:pPr>
            <a:r>
              <a:rPr sz="1650" b="1">
                <a:solidFill>
                  <a:srgbClr val="F8FBFD"/>
                </a:solidFill>
              </a:rPr>
              <a:t>không có mẫu cân bằng</a:t>
            </a:r>
          </a:p>
          <a:p>
            <a:pPr algn="ctr">
              <a:defRPr sz="1650" b="1">
                <a:solidFill>
                  <a:srgbClr val="F8FBFD"/>
                </a:solidFill>
              </a:defRPr>
            </a:pPr>
            <a:r>
              <a:rPr sz="1650" b="1">
                <a:solidFill>
                  <a:srgbClr val="F8FBFD"/>
                </a:solidFill>
              </a:rPr>
              <a:t>Java/Python • CC 5–15</a:t>
            </a:r>
          </a:p>
        </p:txBody>
      </p:sp>
      <p:sp>
        <p:nvSpPr>
          <p:cNvPr id="16" name="box">
            <a:extLst>
              <a:ext uri="{FF2B5EF4-FFF2-40B4-BE49-F238E27FC236}">
                <a16:creationId xmlns:a16="http://schemas.microsoft.com/office/drawing/2014/main" id="{50B0FE37-AD4D-4D77-A98C-0090DAED2B15}"/>
              </a:ext>
            </a:extLst>
          </p:cNvPr>
          <p:cNvSpPr>
            <a:spLocks noGrp="1"/>
          </p:cNvSpPr>
          <p:nvPr/>
        </p:nvSpPr>
        <p:spPr>
          <a:xfrm>
            <a:off x="3238500" y="4686300"/>
            <a:ext cx="5715000" cy="342900"/>
          </a:xfrm>
          <a:prstGeom prst="roundRect">
            <a:avLst>
              <a:gd name="adj" fmla="val 22222"/>
            </a:avLst>
          </a:prstGeom>
          <a:solidFill>
            <a:srgbClr val="FFB45A"/>
          </a:solidFill>
          <a:ln w="0">
            <a:noFill/>
            <a:prstDash val="solid"/>
          </a:ln>
        </p:spPr>
      </p:sp>
      <p:sp>
        <p:nvSpPr>
          <p:cNvPr id="17" name="text">
            <a:extLst>
              <a:ext uri="{FF2B5EF4-FFF2-40B4-BE49-F238E27FC236}">
                <a16:creationId xmlns:a16="http://schemas.microsoft.com/office/drawing/2014/main" id="{564FAB5A-061D-4F24-859C-3206273CF3B7}"/>
              </a:ext>
            </a:extLst>
          </p:cNvPr>
          <p:cNvSpPr>
            <a:spLocks noGrp="1"/>
          </p:cNvSpPr>
          <p:nvPr/>
        </p:nvSpPr>
        <p:spPr>
          <a:xfrm>
            <a:off x="3314700" y="4695825"/>
            <a:ext cx="5562600" cy="323850"/>
          </a:xfrm>
          <a:prstGeom prst="rect">
            <a:avLst/>
          </a:prstGeom>
          <a:noFill/>
          <a:ln w="0">
            <a:noFill/>
            <a:prstDash val="solid"/>
          </a:ln>
        </p:spPr>
        <p:txBody>
          <a:bodyPr anchor="ctr"/>
          <a:lstStyle/>
          <a:p>
            <a:pPr algn="ctr">
              <a:defRPr sz="1500" b="1">
                <a:solidFill>
                  <a:srgbClr val="071A2B"/>
                </a:solidFill>
              </a:defRPr>
            </a:pPr>
            <a:r>
              <a:rPr sz="1500" b="1">
                <a:solidFill>
                  <a:srgbClr val="071A2B"/>
                </a:solidFill>
              </a:rPr>
              <a:t>CẦN MỘT PROTOCOL CÓ KIỂM SOÁT</a:t>
            </a:r>
          </a:p>
        </p:txBody>
      </p:sp>
      <p:sp>
        <p:nvSpPr>
          <p:cNvPr id="18" name="text">
            <a:extLst>
              <a:ext uri="{FF2B5EF4-FFF2-40B4-BE49-F238E27FC236}">
                <a16:creationId xmlns:a16="http://schemas.microsoft.com/office/drawing/2014/main" id="{7F987E88-599B-4066-B2B0-95ADE81491A3}"/>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19" name="text">
            <a:extLst>
              <a:ext uri="{FF2B5EF4-FFF2-40B4-BE49-F238E27FC236}">
                <a16:creationId xmlns:a16="http://schemas.microsoft.com/office/drawing/2014/main" id="{5B82AA85-0E12-49E3-ACCC-CD7F2AA6853F}"/>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02</a:t>
            </a:r>
          </a:p>
        </p:txBody>
      </p:sp>
    </p:spTree>
    <p:extLst>
      <p:ext uri="{BB962C8B-B14F-4D97-AF65-F5344CB8AC3E}">
        <p14:creationId xmlns:p14="http://schemas.microsoft.com/office/powerpoint/2010/main" val="845004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56" name="text">
            <a:extLst>
              <a:ext uri="{FF2B5EF4-FFF2-40B4-BE49-F238E27FC236}">
                <a16:creationId xmlns:a16="http://schemas.microsoft.com/office/drawing/2014/main" id="{C859684A-E9C6-4BFD-906E-97B7FFA9E88D}"/>
              </a:ext>
            </a:extLst>
          </p:cNvPr>
          <p:cNvSpPr>
            <a:spLocks noGrp="1"/>
          </p:cNvSpPr>
          <p:nvPr/>
        </p:nvSpPr>
        <p:spPr>
          <a:xfrm>
            <a:off x="514350" y="323850"/>
            <a:ext cx="457200" cy="266700"/>
          </a:xfrm>
          <a:prstGeom prst="rect">
            <a:avLst/>
          </a:prstGeom>
          <a:noFill/>
          <a:ln w="0">
            <a:noFill/>
            <a:prstDash val="solid"/>
          </a:ln>
        </p:spPr>
        <p:txBody>
          <a:bodyPr anchor="ctr"/>
          <a:lstStyle/>
          <a:p>
            <a:pPr algn="l">
              <a:defRPr sz="1050" b="1">
                <a:solidFill>
                  <a:srgbClr val="26D0CE"/>
                </a:solidFill>
              </a:defRPr>
            </a:pPr>
            <a:r>
              <a:rPr sz="1050" b="1">
                <a:solidFill>
                  <a:srgbClr val="26D0CE"/>
                </a:solidFill>
              </a:rPr>
              <a:t>03</a:t>
            </a:r>
          </a:p>
        </p:txBody>
      </p:sp>
      <p:sp>
        <p:nvSpPr>
          <p:cNvPr id="2" name="text">
            <a:extLst>
              <a:ext uri="{FF2B5EF4-FFF2-40B4-BE49-F238E27FC236}">
                <a16:creationId xmlns:a16="http://schemas.microsoft.com/office/drawing/2014/main" id="{8C4131B4-30BB-4047-AE12-5F031A8D3BA3}"/>
              </a:ext>
            </a:extLst>
          </p:cNvPr>
          <p:cNvSpPr>
            <a:spLocks noGrp="1"/>
          </p:cNvSpPr>
          <p:nvPr/>
        </p:nvSpPr>
        <p:spPr>
          <a:xfrm>
            <a:off x="1066800" y="323850"/>
            <a:ext cx="5619750" cy="266700"/>
          </a:xfrm>
          <a:prstGeom prst="rect">
            <a:avLst/>
          </a:prstGeom>
          <a:noFill/>
          <a:ln w="0">
            <a:noFill/>
            <a:prstDash val="solid"/>
          </a:ln>
        </p:spPr>
        <p:txBody>
          <a:bodyPr anchor="ctr"/>
          <a:lstStyle/>
          <a:p>
            <a:pPr algn="l">
              <a:defRPr sz="1050" b="1">
                <a:solidFill>
                  <a:srgbClr val="9FB2C2"/>
                </a:solidFill>
              </a:defRPr>
            </a:pPr>
            <a:r>
              <a:rPr sz="1050" b="1">
                <a:solidFill>
                  <a:srgbClr val="9FB2C2"/>
                </a:solidFill>
              </a:rPr>
              <a:t>KEY EVIDENCE • MAX 5 PAPERS</a:t>
            </a:r>
          </a:p>
        </p:txBody>
      </p:sp>
      <p:sp>
        <p:nvSpPr>
          <p:cNvPr id="3" name="text">
            <a:extLst>
              <a:ext uri="{FF2B5EF4-FFF2-40B4-BE49-F238E27FC236}">
                <a16:creationId xmlns:a16="http://schemas.microsoft.com/office/drawing/2014/main" id="{EC1AA5C2-FDCC-4335-9D49-289FD7C3A06A}"/>
              </a:ext>
            </a:extLst>
          </p:cNvPr>
          <p:cNvSpPr>
            <a:spLocks noGrp="1"/>
          </p:cNvSpPr>
          <p:nvPr/>
        </p:nvSpPr>
        <p:spPr>
          <a:xfrm>
            <a:off x="514350" y="685800"/>
            <a:ext cx="11144250" cy="590550"/>
          </a:xfrm>
          <a:prstGeom prst="rect">
            <a:avLst/>
          </a:prstGeom>
          <a:noFill/>
          <a:ln w="0">
            <a:noFill/>
            <a:prstDash val="solid"/>
          </a:ln>
        </p:spPr>
        <p:txBody>
          <a:bodyPr anchor="ctr"/>
          <a:lstStyle/>
          <a:p>
            <a:pPr algn="l">
              <a:defRPr sz="2850" b="1">
                <a:solidFill>
                  <a:srgbClr val="F8FBFD"/>
                </a:solidFill>
              </a:defRPr>
            </a:pPr>
            <a:r>
              <a:rPr sz="2850" b="1">
                <a:solidFill>
                  <a:srgbClr val="F8FBFD"/>
                </a:solidFill>
              </a:rPr>
              <a:t>Evidence không dùng chung một estimand</a:t>
            </a:r>
          </a:p>
        </p:txBody>
      </p:sp>
      <p:sp>
        <p:nvSpPr>
          <p:cNvPr id="4" name="rule">
            <a:extLst>
              <a:ext uri="{FF2B5EF4-FFF2-40B4-BE49-F238E27FC236}">
                <a16:creationId xmlns:a16="http://schemas.microsoft.com/office/drawing/2014/main" id="{E749B80D-8070-4E89-992A-324FB7CFA732}"/>
              </a:ext>
            </a:extLst>
          </p:cNvPr>
          <p:cNvSpPr>
            <a:spLocks noGrp="1"/>
          </p:cNvSpPr>
          <p:nvPr/>
        </p:nvSpPr>
        <p:spPr>
          <a:xfrm>
            <a:off x="514350" y="1371600"/>
            <a:ext cx="857250" cy="38100"/>
          </a:xfrm>
          <a:prstGeom prst="rect">
            <a:avLst/>
          </a:prstGeom>
          <a:solidFill>
            <a:srgbClr val="26D0CE"/>
          </a:solidFill>
          <a:ln w="0">
            <a:noFill/>
            <a:prstDash val="solid"/>
          </a:ln>
        </p:spPr>
      </p:sp>
      <p:sp>
        <p:nvSpPr>
          <p:cNvPr id="5" name="box">
            <a:extLst>
              <a:ext uri="{FF2B5EF4-FFF2-40B4-BE49-F238E27FC236}">
                <a16:creationId xmlns:a16="http://schemas.microsoft.com/office/drawing/2014/main" id="{90267CF8-007B-43F8-8220-4B04A7CA9657}"/>
              </a:ext>
            </a:extLst>
          </p:cNvPr>
          <p:cNvSpPr>
            <a:spLocks noGrp="1"/>
          </p:cNvSpPr>
          <p:nvPr/>
        </p:nvSpPr>
        <p:spPr>
          <a:xfrm>
            <a:off x="514350" y="1752600"/>
            <a:ext cx="1809750" cy="419100"/>
          </a:xfrm>
          <a:prstGeom prst="rect">
            <a:avLst/>
          </a:prstGeom>
          <a:solidFill>
            <a:srgbClr val="0D2940"/>
          </a:solidFill>
          <a:ln w="9525">
            <a:solidFill>
              <a:srgbClr val="29475E"/>
            </a:solidFill>
            <a:prstDash val="solid"/>
          </a:ln>
        </p:spPr>
      </p:sp>
      <p:sp>
        <p:nvSpPr>
          <p:cNvPr id="6" name="text">
            <a:extLst>
              <a:ext uri="{FF2B5EF4-FFF2-40B4-BE49-F238E27FC236}">
                <a16:creationId xmlns:a16="http://schemas.microsoft.com/office/drawing/2014/main" id="{DBBC2117-D310-47B4-AB3B-1AD05D6B5169}"/>
              </a:ext>
            </a:extLst>
          </p:cNvPr>
          <p:cNvSpPr>
            <a:spLocks noGrp="1"/>
          </p:cNvSpPr>
          <p:nvPr/>
        </p:nvSpPr>
        <p:spPr>
          <a:xfrm>
            <a:off x="609600" y="1800225"/>
            <a:ext cx="1619250" cy="323850"/>
          </a:xfrm>
          <a:prstGeom prst="rect">
            <a:avLst/>
          </a:prstGeom>
          <a:noFill/>
          <a:ln w="0">
            <a:noFill/>
            <a:prstDash val="solid"/>
          </a:ln>
        </p:spPr>
        <p:txBody>
          <a:bodyPr anchor="ctr"/>
          <a:lstStyle/>
          <a:p>
            <a:pPr algn="ctr">
              <a:defRPr sz="1125" b="1">
                <a:solidFill>
                  <a:srgbClr val="F8FBFD"/>
                </a:solidFill>
              </a:defRPr>
            </a:pPr>
            <a:r>
              <a:rPr sz="1125" b="1">
                <a:solidFill>
                  <a:srgbClr val="F8FBFD"/>
                </a:solidFill>
              </a:rPr>
              <a:t>PAPER</a:t>
            </a:r>
          </a:p>
        </p:txBody>
      </p:sp>
      <p:sp>
        <p:nvSpPr>
          <p:cNvPr id="7" name="box">
            <a:extLst>
              <a:ext uri="{FF2B5EF4-FFF2-40B4-BE49-F238E27FC236}">
                <a16:creationId xmlns:a16="http://schemas.microsoft.com/office/drawing/2014/main" id="{DD3A59B6-3822-478D-A662-9AD0A030B7EB}"/>
              </a:ext>
            </a:extLst>
          </p:cNvPr>
          <p:cNvSpPr>
            <a:spLocks noGrp="1"/>
          </p:cNvSpPr>
          <p:nvPr/>
        </p:nvSpPr>
        <p:spPr>
          <a:xfrm>
            <a:off x="2324100" y="1752600"/>
            <a:ext cx="2000250" cy="419100"/>
          </a:xfrm>
          <a:prstGeom prst="rect">
            <a:avLst/>
          </a:prstGeom>
          <a:solidFill>
            <a:srgbClr val="0D2940"/>
          </a:solidFill>
          <a:ln w="9525">
            <a:solidFill>
              <a:srgbClr val="29475E"/>
            </a:solidFill>
            <a:prstDash val="solid"/>
          </a:ln>
        </p:spPr>
      </p:sp>
      <p:sp>
        <p:nvSpPr>
          <p:cNvPr id="8" name="text">
            <a:extLst>
              <a:ext uri="{FF2B5EF4-FFF2-40B4-BE49-F238E27FC236}">
                <a16:creationId xmlns:a16="http://schemas.microsoft.com/office/drawing/2014/main" id="{8EF2E444-F319-4A73-B305-6B4364C0CCBE}"/>
              </a:ext>
            </a:extLst>
          </p:cNvPr>
          <p:cNvSpPr>
            <a:spLocks noGrp="1"/>
          </p:cNvSpPr>
          <p:nvPr/>
        </p:nvSpPr>
        <p:spPr>
          <a:xfrm>
            <a:off x="2419350" y="1800225"/>
            <a:ext cx="1809750" cy="323850"/>
          </a:xfrm>
          <a:prstGeom prst="rect">
            <a:avLst/>
          </a:prstGeom>
          <a:noFill/>
          <a:ln w="0">
            <a:noFill/>
            <a:prstDash val="solid"/>
          </a:ln>
        </p:spPr>
        <p:txBody>
          <a:bodyPr anchor="ctr"/>
          <a:lstStyle/>
          <a:p>
            <a:pPr algn="ctr">
              <a:defRPr sz="1125" b="1">
                <a:solidFill>
                  <a:srgbClr val="F8FBFD"/>
                </a:solidFill>
              </a:defRPr>
            </a:pPr>
            <a:r>
              <a:rPr sz="1125" b="1">
                <a:solidFill>
                  <a:srgbClr val="F8FBFD"/>
                </a:solidFill>
              </a:rPr>
              <a:t>COVERAGE</a:t>
            </a:r>
          </a:p>
        </p:txBody>
      </p:sp>
      <p:sp>
        <p:nvSpPr>
          <p:cNvPr id="9" name="box">
            <a:extLst>
              <a:ext uri="{FF2B5EF4-FFF2-40B4-BE49-F238E27FC236}">
                <a16:creationId xmlns:a16="http://schemas.microsoft.com/office/drawing/2014/main" id="{13D6A9F3-8E1A-4FD0-9550-DF329FC8EE03}"/>
              </a:ext>
            </a:extLst>
          </p:cNvPr>
          <p:cNvSpPr>
            <a:spLocks noGrp="1"/>
          </p:cNvSpPr>
          <p:nvPr/>
        </p:nvSpPr>
        <p:spPr>
          <a:xfrm>
            <a:off x="4324350" y="1752600"/>
            <a:ext cx="1809750" cy="419100"/>
          </a:xfrm>
          <a:prstGeom prst="rect">
            <a:avLst/>
          </a:prstGeom>
          <a:solidFill>
            <a:srgbClr val="0D2940"/>
          </a:solidFill>
          <a:ln w="9525">
            <a:solidFill>
              <a:srgbClr val="29475E"/>
            </a:solidFill>
            <a:prstDash val="solid"/>
          </a:ln>
        </p:spPr>
      </p:sp>
      <p:sp>
        <p:nvSpPr>
          <p:cNvPr id="10" name="text">
            <a:extLst>
              <a:ext uri="{FF2B5EF4-FFF2-40B4-BE49-F238E27FC236}">
                <a16:creationId xmlns:a16="http://schemas.microsoft.com/office/drawing/2014/main" id="{C8E97B6A-66C0-488C-A822-452E012F8FB1}"/>
              </a:ext>
            </a:extLst>
          </p:cNvPr>
          <p:cNvSpPr>
            <a:spLocks noGrp="1"/>
          </p:cNvSpPr>
          <p:nvPr/>
        </p:nvSpPr>
        <p:spPr>
          <a:xfrm>
            <a:off x="4419600" y="1800225"/>
            <a:ext cx="1619250" cy="323850"/>
          </a:xfrm>
          <a:prstGeom prst="rect">
            <a:avLst/>
          </a:prstGeom>
          <a:noFill/>
          <a:ln w="0">
            <a:noFill/>
            <a:prstDash val="solid"/>
          </a:ln>
        </p:spPr>
        <p:txBody>
          <a:bodyPr anchor="ctr"/>
          <a:lstStyle/>
          <a:p>
            <a:pPr algn="ctr">
              <a:defRPr sz="1125" b="1">
                <a:solidFill>
                  <a:srgbClr val="F8FBFD"/>
                </a:solidFill>
              </a:defRPr>
            </a:pPr>
            <a:r>
              <a:rPr sz="1125" b="1">
                <a:solidFill>
                  <a:srgbClr val="F8FBFD"/>
                </a:solidFill>
              </a:rPr>
              <a:t>MUTATION</a:t>
            </a:r>
          </a:p>
        </p:txBody>
      </p:sp>
      <p:sp>
        <p:nvSpPr>
          <p:cNvPr id="11" name="box">
            <a:extLst>
              <a:ext uri="{FF2B5EF4-FFF2-40B4-BE49-F238E27FC236}">
                <a16:creationId xmlns:a16="http://schemas.microsoft.com/office/drawing/2014/main" id="{9EE146F0-6DB0-4DBB-8940-60168027DCDF}"/>
              </a:ext>
            </a:extLst>
          </p:cNvPr>
          <p:cNvSpPr>
            <a:spLocks noGrp="1"/>
          </p:cNvSpPr>
          <p:nvPr/>
        </p:nvSpPr>
        <p:spPr>
          <a:xfrm>
            <a:off x="6134100" y="1752600"/>
            <a:ext cx="5543550" cy="419100"/>
          </a:xfrm>
          <a:prstGeom prst="rect">
            <a:avLst/>
          </a:prstGeom>
          <a:solidFill>
            <a:srgbClr val="26D0CE"/>
          </a:solidFill>
          <a:ln w="9525">
            <a:solidFill>
              <a:srgbClr val="29475E"/>
            </a:solidFill>
            <a:prstDash val="solid"/>
          </a:ln>
        </p:spPr>
      </p:sp>
      <p:sp>
        <p:nvSpPr>
          <p:cNvPr id="12" name="text">
            <a:extLst>
              <a:ext uri="{FF2B5EF4-FFF2-40B4-BE49-F238E27FC236}">
                <a16:creationId xmlns:a16="http://schemas.microsoft.com/office/drawing/2014/main" id="{31635336-14DB-4261-A21C-1D734338ED26}"/>
              </a:ext>
            </a:extLst>
          </p:cNvPr>
          <p:cNvSpPr>
            <a:spLocks noGrp="1"/>
          </p:cNvSpPr>
          <p:nvPr/>
        </p:nvSpPr>
        <p:spPr>
          <a:xfrm>
            <a:off x="6229350" y="1800225"/>
            <a:ext cx="5353050" cy="323850"/>
          </a:xfrm>
          <a:prstGeom prst="rect">
            <a:avLst/>
          </a:prstGeom>
          <a:noFill/>
          <a:ln w="0">
            <a:noFill/>
            <a:prstDash val="solid"/>
          </a:ln>
        </p:spPr>
        <p:txBody>
          <a:bodyPr anchor="ctr"/>
          <a:lstStyle/>
          <a:p>
            <a:pPr algn="l">
              <a:defRPr sz="1125" b="1">
                <a:solidFill>
                  <a:srgbClr val="071A2B"/>
                </a:solidFill>
              </a:defRPr>
            </a:pPr>
            <a:r>
              <a:rPr sz="1125" b="1">
                <a:solidFill>
                  <a:srgbClr val="071A2B"/>
                </a:solidFill>
              </a:rPr>
              <a:t>MAIN FINDING</a:t>
            </a:r>
          </a:p>
        </p:txBody>
      </p:sp>
      <p:sp>
        <p:nvSpPr>
          <p:cNvPr id="13" name="box">
            <a:extLst>
              <a:ext uri="{FF2B5EF4-FFF2-40B4-BE49-F238E27FC236}">
                <a16:creationId xmlns:a16="http://schemas.microsoft.com/office/drawing/2014/main" id="{A58A5D9B-1BBD-4D4C-9335-2EFB06CBE072}"/>
              </a:ext>
            </a:extLst>
          </p:cNvPr>
          <p:cNvSpPr>
            <a:spLocks noGrp="1"/>
          </p:cNvSpPr>
          <p:nvPr/>
        </p:nvSpPr>
        <p:spPr>
          <a:xfrm>
            <a:off x="514350" y="2171700"/>
            <a:ext cx="1809750" cy="685800"/>
          </a:xfrm>
          <a:prstGeom prst="rect">
            <a:avLst/>
          </a:prstGeom>
          <a:solidFill>
            <a:srgbClr val="EAF3F7"/>
          </a:solidFill>
          <a:ln w="9525">
            <a:solidFill>
              <a:srgbClr val="29475E"/>
            </a:solidFill>
            <a:prstDash val="solid"/>
          </a:ln>
        </p:spPr>
      </p:sp>
      <p:sp>
        <p:nvSpPr>
          <p:cNvPr id="14" name="text">
            <a:extLst>
              <a:ext uri="{FF2B5EF4-FFF2-40B4-BE49-F238E27FC236}">
                <a16:creationId xmlns:a16="http://schemas.microsoft.com/office/drawing/2014/main" id="{0A3482D8-1CDE-46ED-B91D-5C420F00BF4C}"/>
              </a:ext>
            </a:extLst>
          </p:cNvPr>
          <p:cNvSpPr>
            <a:spLocks noGrp="1"/>
          </p:cNvSpPr>
          <p:nvPr/>
        </p:nvSpPr>
        <p:spPr>
          <a:xfrm>
            <a:off x="628650" y="2247900"/>
            <a:ext cx="1581150" cy="533400"/>
          </a:xfrm>
          <a:prstGeom prst="rect">
            <a:avLst/>
          </a:prstGeom>
          <a:noFill/>
          <a:ln w="0">
            <a:noFill/>
            <a:prstDash val="solid"/>
          </a:ln>
        </p:spPr>
        <p:txBody>
          <a:bodyPr anchor="ctr"/>
          <a:lstStyle/>
          <a:p>
            <a:pPr algn="ctr">
              <a:defRPr sz="1275" b="1">
                <a:solidFill>
                  <a:srgbClr val="102638"/>
                </a:solidFill>
              </a:defRPr>
            </a:pPr>
            <a:r>
              <a:rPr sz="1275" b="1">
                <a:solidFill>
                  <a:srgbClr val="102638"/>
                </a:solidFill>
              </a:rPr>
              <a:t>TestPilot</a:t>
            </a:r>
          </a:p>
        </p:txBody>
      </p:sp>
      <p:sp>
        <p:nvSpPr>
          <p:cNvPr id="15" name="box">
            <a:extLst>
              <a:ext uri="{FF2B5EF4-FFF2-40B4-BE49-F238E27FC236}">
                <a16:creationId xmlns:a16="http://schemas.microsoft.com/office/drawing/2014/main" id="{F63C1EC3-434E-49C0-8ED1-3D2192E022AA}"/>
              </a:ext>
            </a:extLst>
          </p:cNvPr>
          <p:cNvSpPr>
            <a:spLocks noGrp="1"/>
          </p:cNvSpPr>
          <p:nvPr/>
        </p:nvSpPr>
        <p:spPr>
          <a:xfrm>
            <a:off x="2324100" y="2171700"/>
            <a:ext cx="2000250" cy="685800"/>
          </a:xfrm>
          <a:prstGeom prst="rect">
            <a:avLst/>
          </a:prstGeom>
          <a:solidFill>
            <a:srgbClr val="EAF3F7"/>
          </a:solidFill>
          <a:ln w="9525">
            <a:solidFill>
              <a:srgbClr val="29475E"/>
            </a:solidFill>
            <a:prstDash val="solid"/>
          </a:ln>
        </p:spPr>
      </p:sp>
      <p:sp>
        <p:nvSpPr>
          <p:cNvPr id="16" name="text">
            <a:extLst>
              <a:ext uri="{FF2B5EF4-FFF2-40B4-BE49-F238E27FC236}">
                <a16:creationId xmlns:a16="http://schemas.microsoft.com/office/drawing/2014/main" id="{1CF498B6-4BF5-41B6-972E-BA09FDB3FCA4}"/>
              </a:ext>
            </a:extLst>
          </p:cNvPr>
          <p:cNvSpPr>
            <a:spLocks noGrp="1"/>
          </p:cNvSpPr>
          <p:nvPr/>
        </p:nvSpPr>
        <p:spPr>
          <a:xfrm>
            <a:off x="2438400" y="2247900"/>
            <a:ext cx="1771650" cy="533400"/>
          </a:xfrm>
          <a:prstGeom prst="rect">
            <a:avLst/>
          </a:prstGeom>
          <a:noFill/>
          <a:ln w="0">
            <a:noFill/>
            <a:prstDash val="solid"/>
          </a:ln>
        </p:spPr>
        <p:txBody>
          <a:bodyPr anchor="ctr"/>
          <a:lstStyle/>
          <a:p>
            <a:pPr algn="ctr">
              <a:defRPr sz="1275" b="0">
                <a:solidFill>
                  <a:srgbClr val="102638"/>
                </a:solidFill>
              </a:defRPr>
            </a:pPr>
            <a:r>
              <a:rPr sz="1275" b="0">
                <a:solidFill>
                  <a:srgbClr val="102638"/>
                </a:solidFill>
              </a:rPr>
              <a:t>Branch median 52.8%</a:t>
            </a:r>
          </a:p>
        </p:txBody>
      </p:sp>
      <p:sp>
        <p:nvSpPr>
          <p:cNvPr id="17" name="box">
            <a:extLst>
              <a:ext uri="{FF2B5EF4-FFF2-40B4-BE49-F238E27FC236}">
                <a16:creationId xmlns:a16="http://schemas.microsoft.com/office/drawing/2014/main" id="{6F3525E9-22AA-41A2-9B5B-6AD87DC1AB57}"/>
              </a:ext>
            </a:extLst>
          </p:cNvPr>
          <p:cNvSpPr>
            <a:spLocks noGrp="1"/>
          </p:cNvSpPr>
          <p:nvPr/>
        </p:nvSpPr>
        <p:spPr>
          <a:xfrm>
            <a:off x="4324350" y="2171700"/>
            <a:ext cx="1809750" cy="685800"/>
          </a:xfrm>
          <a:prstGeom prst="rect">
            <a:avLst/>
          </a:prstGeom>
          <a:solidFill>
            <a:srgbClr val="EAF3F7"/>
          </a:solidFill>
          <a:ln w="9525">
            <a:solidFill>
              <a:srgbClr val="29475E"/>
            </a:solidFill>
            <a:prstDash val="solid"/>
          </a:ln>
        </p:spPr>
      </p:sp>
      <p:sp>
        <p:nvSpPr>
          <p:cNvPr id="18" name="text">
            <a:extLst>
              <a:ext uri="{FF2B5EF4-FFF2-40B4-BE49-F238E27FC236}">
                <a16:creationId xmlns:a16="http://schemas.microsoft.com/office/drawing/2014/main" id="{AAE87C42-8AD0-40D4-BF3A-D26C1BC53FA5}"/>
              </a:ext>
            </a:extLst>
          </p:cNvPr>
          <p:cNvSpPr>
            <a:spLocks noGrp="1"/>
          </p:cNvSpPr>
          <p:nvPr/>
        </p:nvSpPr>
        <p:spPr>
          <a:xfrm>
            <a:off x="4438650" y="2247900"/>
            <a:ext cx="1581150" cy="533400"/>
          </a:xfrm>
          <a:prstGeom prst="rect">
            <a:avLst/>
          </a:prstGeom>
          <a:noFill/>
          <a:ln w="0">
            <a:noFill/>
            <a:prstDash val="solid"/>
          </a:ln>
        </p:spPr>
        <p:txBody>
          <a:bodyPr anchor="ctr"/>
          <a:lstStyle/>
          <a:p>
            <a:pPr algn="ctr">
              <a:defRPr sz="1275" b="0">
                <a:solidFill>
                  <a:srgbClr val="102638"/>
                </a:solidFill>
              </a:defRPr>
            </a:pPr>
            <a:r>
              <a:rPr sz="1275" b="0">
                <a:solidFill>
                  <a:srgbClr val="102638"/>
                </a:solidFill>
              </a:rPr>
              <a:t>NR</a:t>
            </a:r>
          </a:p>
        </p:txBody>
      </p:sp>
      <p:sp>
        <p:nvSpPr>
          <p:cNvPr id="19" name="box">
            <a:extLst>
              <a:ext uri="{FF2B5EF4-FFF2-40B4-BE49-F238E27FC236}">
                <a16:creationId xmlns:a16="http://schemas.microsoft.com/office/drawing/2014/main" id="{D6D95480-49DA-49EF-99E5-976CEB6749BE}"/>
              </a:ext>
            </a:extLst>
          </p:cNvPr>
          <p:cNvSpPr>
            <a:spLocks noGrp="1"/>
          </p:cNvSpPr>
          <p:nvPr/>
        </p:nvSpPr>
        <p:spPr>
          <a:xfrm>
            <a:off x="6134100" y="2171700"/>
            <a:ext cx="5543550" cy="685800"/>
          </a:xfrm>
          <a:prstGeom prst="rect">
            <a:avLst/>
          </a:prstGeom>
          <a:solidFill>
            <a:srgbClr val="EAF3F7"/>
          </a:solidFill>
          <a:ln w="9525">
            <a:solidFill>
              <a:srgbClr val="29475E"/>
            </a:solidFill>
            <a:prstDash val="solid"/>
          </a:ln>
        </p:spPr>
      </p:sp>
      <p:sp>
        <p:nvSpPr>
          <p:cNvPr id="20" name="text">
            <a:extLst>
              <a:ext uri="{FF2B5EF4-FFF2-40B4-BE49-F238E27FC236}">
                <a16:creationId xmlns:a16="http://schemas.microsoft.com/office/drawing/2014/main" id="{7FC01446-4290-46B6-98A5-9AE955F02213}"/>
              </a:ext>
            </a:extLst>
          </p:cNvPr>
          <p:cNvSpPr>
            <a:spLocks noGrp="1"/>
          </p:cNvSpPr>
          <p:nvPr/>
        </p:nvSpPr>
        <p:spPr>
          <a:xfrm>
            <a:off x="6248400" y="2247900"/>
            <a:ext cx="5314950" cy="533400"/>
          </a:xfrm>
          <a:prstGeom prst="rect">
            <a:avLst/>
          </a:prstGeom>
          <a:noFill/>
          <a:ln w="0">
            <a:noFill/>
            <a:prstDash val="solid"/>
          </a:ln>
        </p:spPr>
        <p:txBody>
          <a:bodyPr anchor="ctr"/>
          <a:lstStyle/>
          <a:p>
            <a:pPr algn="l">
              <a:defRPr sz="1200" b="0">
                <a:solidFill>
                  <a:srgbClr val="102638"/>
                </a:solidFill>
              </a:defRPr>
            </a:pPr>
            <a:r>
              <a:rPr sz="1200" b="0">
                <a:solidFill>
                  <a:srgbClr val="102638"/>
                </a:solidFill>
              </a:rPr>
              <a:t>First-attempt syntax issues; iterative repair</a:t>
            </a:r>
          </a:p>
        </p:txBody>
      </p:sp>
      <p:sp>
        <p:nvSpPr>
          <p:cNvPr id="21" name="box">
            <a:extLst>
              <a:ext uri="{FF2B5EF4-FFF2-40B4-BE49-F238E27FC236}">
                <a16:creationId xmlns:a16="http://schemas.microsoft.com/office/drawing/2014/main" id="{AAA72A06-A3C6-40FD-B05D-03E16FCDC732}"/>
              </a:ext>
            </a:extLst>
          </p:cNvPr>
          <p:cNvSpPr>
            <a:spLocks noGrp="1"/>
          </p:cNvSpPr>
          <p:nvPr/>
        </p:nvSpPr>
        <p:spPr>
          <a:xfrm>
            <a:off x="514350" y="2857500"/>
            <a:ext cx="1809750" cy="685800"/>
          </a:xfrm>
          <a:prstGeom prst="rect">
            <a:avLst/>
          </a:prstGeom>
          <a:solidFill>
            <a:srgbClr val="D9E8EF"/>
          </a:solidFill>
          <a:ln w="9525">
            <a:solidFill>
              <a:srgbClr val="29475E"/>
            </a:solidFill>
            <a:prstDash val="solid"/>
          </a:ln>
        </p:spPr>
      </p:sp>
      <p:sp>
        <p:nvSpPr>
          <p:cNvPr id="22" name="text">
            <a:extLst>
              <a:ext uri="{FF2B5EF4-FFF2-40B4-BE49-F238E27FC236}">
                <a16:creationId xmlns:a16="http://schemas.microsoft.com/office/drawing/2014/main" id="{60212DD8-EF13-4731-8EC6-34FA9A54E27D}"/>
              </a:ext>
            </a:extLst>
          </p:cNvPr>
          <p:cNvSpPr>
            <a:spLocks noGrp="1"/>
          </p:cNvSpPr>
          <p:nvPr/>
        </p:nvSpPr>
        <p:spPr>
          <a:xfrm>
            <a:off x="628650" y="2933700"/>
            <a:ext cx="1581150" cy="533400"/>
          </a:xfrm>
          <a:prstGeom prst="rect">
            <a:avLst/>
          </a:prstGeom>
          <a:noFill/>
          <a:ln w="0">
            <a:noFill/>
            <a:prstDash val="solid"/>
          </a:ln>
        </p:spPr>
        <p:txBody>
          <a:bodyPr anchor="ctr"/>
          <a:lstStyle/>
          <a:p>
            <a:pPr algn="ctr">
              <a:defRPr sz="1275" b="1">
                <a:solidFill>
                  <a:srgbClr val="102638"/>
                </a:solidFill>
              </a:defRPr>
            </a:pPr>
            <a:r>
              <a:rPr sz="1275" b="1">
                <a:solidFill>
                  <a:srgbClr val="102638"/>
                </a:solidFill>
              </a:rPr>
              <a:t>AgoneTest</a:t>
            </a:r>
          </a:p>
        </p:txBody>
      </p:sp>
      <p:sp>
        <p:nvSpPr>
          <p:cNvPr id="23" name="box">
            <a:extLst>
              <a:ext uri="{FF2B5EF4-FFF2-40B4-BE49-F238E27FC236}">
                <a16:creationId xmlns:a16="http://schemas.microsoft.com/office/drawing/2014/main" id="{4DE2F820-FD91-4CCD-B922-72433576DCB0}"/>
              </a:ext>
            </a:extLst>
          </p:cNvPr>
          <p:cNvSpPr>
            <a:spLocks noGrp="1"/>
          </p:cNvSpPr>
          <p:nvPr/>
        </p:nvSpPr>
        <p:spPr>
          <a:xfrm>
            <a:off x="2324100" y="2857500"/>
            <a:ext cx="2000250" cy="685800"/>
          </a:xfrm>
          <a:prstGeom prst="rect">
            <a:avLst/>
          </a:prstGeom>
          <a:solidFill>
            <a:srgbClr val="D9E8EF"/>
          </a:solidFill>
          <a:ln w="9525">
            <a:solidFill>
              <a:srgbClr val="29475E"/>
            </a:solidFill>
            <a:prstDash val="solid"/>
          </a:ln>
        </p:spPr>
      </p:sp>
      <p:sp>
        <p:nvSpPr>
          <p:cNvPr id="24" name="text">
            <a:extLst>
              <a:ext uri="{FF2B5EF4-FFF2-40B4-BE49-F238E27FC236}">
                <a16:creationId xmlns:a16="http://schemas.microsoft.com/office/drawing/2014/main" id="{6280F3C5-9171-4044-B07E-0721571D97B0}"/>
              </a:ext>
            </a:extLst>
          </p:cNvPr>
          <p:cNvSpPr>
            <a:spLocks noGrp="1"/>
          </p:cNvSpPr>
          <p:nvPr/>
        </p:nvSpPr>
        <p:spPr>
          <a:xfrm>
            <a:off x="2438400" y="2933700"/>
            <a:ext cx="1771650" cy="533400"/>
          </a:xfrm>
          <a:prstGeom prst="rect">
            <a:avLst/>
          </a:prstGeom>
          <a:noFill/>
          <a:ln w="0">
            <a:noFill/>
            <a:prstDash val="solid"/>
          </a:ln>
        </p:spPr>
        <p:txBody>
          <a:bodyPr anchor="ctr"/>
          <a:lstStyle/>
          <a:p>
            <a:pPr algn="ctr">
              <a:defRPr sz="1275" b="0">
                <a:solidFill>
                  <a:srgbClr val="102638"/>
                </a:solidFill>
              </a:defRPr>
            </a:pPr>
            <a:r>
              <a:rPr sz="1275" b="0">
                <a:solidFill>
                  <a:srgbClr val="102638"/>
                </a:solidFill>
              </a:rPr>
              <a:t>Branch max 79.8%</a:t>
            </a:r>
          </a:p>
        </p:txBody>
      </p:sp>
      <p:sp>
        <p:nvSpPr>
          <p:cNvPr id="25" name="box">
            <a:extLst>
              <a:ext uri="{FF2B5EF4-FFF2-40B4-BE49-F238E27FC236}">
                <a16:creationId xmlns:a16="http://schemas.microsoft.com/office/drawing/2014/main" id="{EC08969F-AA69-4B19-AF00-6B661E1CB239}"/>
              </a:ext>
            </a:extLst>
          </p:cNvPr>
          <p:cNvSpPr>
            <a:spLocks noGrp="1"/>
          </p:cNvSpPr>
          <p:nvPr/>
        </p:nvSpPr>
        <p:spPr>
          <a:xfrm>
            <a:off x="4324350" y="2857500"/>
            <a:ext cx="1809750" cy="685800"/>
          </a:xfrm>
          <a:prstGeom prst="rect">
            <a:avLst/>
          </a:prstGeom>
          <a:solidFill>
            <a:srgbClr val="D9E8EF"/>
          </a:solidFill>
          <a:ln w="9525">
            <a:solidFill>
              <a:srgbClr val="29475E"/>
            </a:solidFill>
            <a:prstDash val="solid"/>
          </a:ln>
        </p:spPr>
      </p:sp>
      <p:sp>
        <p:nvSpPr>
          <p:cNvPr id="26" name="text">
            <a:extLst>
              <a:ext uri="{FF2B5EF4-FFF2-40B4-BE49-F238E27FC236}">
                <a16:creationId xmlns:a16="http://schemas.microsoft.com/office/drawing/2014/main" id="{A675E519-50EE-48A4-AF20-437EFCF0300A}"/>
              </a:ext>
            </a:extLst>
          </p:cNvPr>
          <p:cNvSpPr>
            <a:spLocks noGrp="1"/>
          </p:cNvSpPr>
          <p:nvPr/>
        </p:nvSpPr>
        <p:spPr>
          <a:xfrm>
            <a:off x="4438650" y="2933700"/>
            <a:ext cx="1581150" cy="533400"/>
          </a:xfrm>
          <a:prstGeom prst="rect">
            <a:avLst/>
          </a:prstGeom>
          <a:noFill/>
          <a:ln w="0">
            <a:noFill/>
            <a:prstDash val="solid"/>
          </a:ln>
        </p:spPr>
        <p:txBody>
          <a:bodyPr anchor="ctr"/>
          <a:lstStyle/>
          <a:p>
            <a:pPr algn="ctr">
              <a:defRPr sz="1275" b="0">
                <a:solidFill>
                  <a:srgbClr val="102638"/>
                </a:solidFill>
              </a:defRPr>
            </a:pPr>
            <a:r>
              <a:rPr sz="1275" b="0">
                <a:solidFill>
                  <a:srgbClr val="102638"/>
                </a:solidFill>
              </a:rPr>
              <a:t>Max 89.2%</a:t>
            </a:r>
          </a:p>
        </p:txBody>
      </p:sp>
      <p:sp>
        <p:nvSpPr>
          <p:cNvPr id="27" name="box">
            <a:extLst>
              <a:ext uri="{FF2B5EF4-FFF2-40B4-BE49-F238E27FC236}">
                <a16:creationId xmlns:a16="http://schemas.microsoft.com/office/drawing/2014/main" id="{E8858BD1-6AE4-4747-868E-426953F7B2FC}"/>
              </a:ext>
            </a:extLst>
          </p:cNvPr>
          <p:cNvSpPr>
            <a:spLocks noGrp="1"/>
          </p:cNvSpPr>
          <p:nvPr/>
        </p:nvSpPr>
        <p:spPr>
          <a:xfrm>
            <a:off x="6134100" y="2857500"/>
            <a:ext cx="5543550" cy="685800"/>
          </a:xfrm>
          <a:prstGeom prst="rect">
            <a:avLst/>
          </a:prstGeom>
          <a:solidFill>
            <a:srgbClr val="D9E8EF"/>
          </a:solidFill>
          <a:ln w="9525">
            <a:solidFill>
              <a:srgbClr val="29475E"/>
            </a:solidFill>
            <a:prstDash val="solid"/>
          </a:ln>
        </p:spPr>
      </p:sp>
      <p:sp>
        <p:nvSpPr>
          <p:cNvPr id="28" name="text">
            <a:extLst>
              <a:ext uri="{FF2B5EF4-FFF2-40B4-BE49-F238E27FC236}">
                <a16:creationId xmlns:a16="http://schemas.microsoft.com/office/drawing/2014/main" id="{DD750801-7CD4-42C4-B54B-391FD65F388D}"/>
              </a:ext>
            </a:extLst>
          </p:cNvPr>
          <p:cNvSpPr>
            <a:spLocks noGrp="1"/>
          </p:cNvSpPr>
          <p:nvPr/>
        </p:nvSpPr>
        <p:spPr>
          <a:xfrm>
            <a:off x="6248400" y="2933700"/>
            <a:ext cx="5314950" cy="533400"/>
          </a:xfrm>
          <a:prstGeom prst="rect">
            <a:avLst/>
          </a:prstGeom>
          <a:noFill/>
          <a:ln w="0">
            <a:noFill/>
            <a:prstDash val="solid"/>
          </a:ln>
        </p:spPr>
        <p:txBody>
          <a:bodyPr anchor="ctr"/>
          <a:lstStyle/>
          <a:p>
            <a:pPr algn="l">
              <a:defRPr sz="1200" b="0">
                <a:solidFill>
                  <a:srgbClr val="102638"/>
                </a:solidFill>
              </a:defRPr>
            </a:pPr>
            <a:r>
              <a:rPr sz="1200" b="0">
                <a:solidFill>
                  <a:srgbClr val="102638"/>
                </a:solidFill>
              </a:rPr>
              <a:t>Maximum across model/prompt; compile max 36.0%</a:t>
            </a:r>
          </a:p>
        </p:txBody>
      </p:sp>
      <p:sp>
        <p:nvSpPr>
          <p:cNvPr id="29" name="box">
            <a:extLst>
              <a:ext uri="{FF2B5EF4-FFF2-40B4-BE49-F238E27FC236}">
                <a16:creationId xmlns:a16="http://schemas.microsoft.com/office/drawing/2014/main" id="{1D696AB2-17C2-45DE-ABD5-D3AA944362CD}"/>
              </a:ext>
            </a:extLst>
          </p:cNvPr>
          <p:cNvSpPr>
            <a:spLocks noGrp="1"/>
          </p:cNvSpPr>
          <p:nvPr/>
        </p:nvSpPr>
        <p:spPr>
          <a:xfrm>
            <a:off x="514350" y="3543300"/>
            <a:ext cx="1809750" cy="685800"/>
          </a:xfrm>
          <a:prstGeom prst="rect">
            <a:avLst/>
          </a:prstGeom>
          <a:solidFill>
            <a:srgbClr val="EAF3F7"/>
          </a:solidFill>
          <a:ln w="9525">
            <a:solidFill>
              <a:srgbClr val="29475E"/>
            </a:solidFill>
            <a:prstDash val="solid"/>
          </a:ln>
        </p:spPr>
      </p:sp>
      <p:sp>
        <p:nvSpPr>
          <p:cNvPr id="30" name="text">
            <a:extLst>
              <a:ext uri="{FF2B5EF4-FFF2-40B4-BE49-F238E27FC236}">
                <a16:creationId xmlns:a16="http://schemas.microsoft.com/office/drawing/2014/main" id="{1B71E9DE-F9FF-49AE-AAA7-DF235D7C9B3C}"/>
              </a:ext>
            </a:extLst>
          </p:cNvPr>
          <p:cNvSpPr>
            <a:spLocks noGrp="1"/>
          </p:cNvSpPr>
          <p:nvPr/>
        </p:nvSpPr>
        <p:spPr>
          <a:xfrm>
            <a:off x="628650" y="3619500"/>
            <a:ext cx="1581150" cy="533400"/>
          </a:xfrm>
          <a:prstGeom prst="rect">
            <a:avLst/>
          </a:prstGeom>
          <a:noFill/>
          <a:ln w="0">
            <a:noFill/>
            <a:prstDash val="solid"/>
          </a:ln>
        </p:spPr>
        <p:txBody>
          <a:bodyPr anchor="ctr"/>
          <a:lstStyle/>
          <a:p>
            <a:pPr algn="ctr">
              <a:defRPr sz="1275" b="1">
                <a:solidFill>
                  <a:srgbClr val="102638"/>
                </a:solidFill>
              </a:defRPr>
            </a:pPr>
            <a:r>
              <a:rPr sz="1275" b="1">
                <a:solidFill>
                  <a:srgbClr val="102638"/>
                </a:solidFill>
              </a:rPr>
              <a:t>GEM</a:t>
            </a:r>
          </a:p>
        </p:txBody>
      </p:sp>
      <p:sp>
        <p:nvSpPr>
          <p:cNvPr id="31" name="box">
            <a:extLst>
              <a:ext uri="{FF2B5EF4-FFF2-40B4-BE49-F238E27FC236}">
                <a16:creationId xmlns:a16="http://schemas.microsoft.com/office/drawing/2014/main" id="{8D793554-A94A-46FA-A54D-F7ECD6198E79}"/>
              </a:ext>
            </a:extLst>
          </p:cNvPr>
          <p:cNvSpPr>
            <a:spLocks noGrp="1"/>
          </p:cNvSpPr>
          <p:nvPr/>
        </p:nvSpPr>
        <p:spPr>
          <a:xfrm>
            <a:off x="2324100" y="3543300"/>
            <a:ext cx="2000250" cy="685800"/>
          </a:xfrm>
          <a:prstGeom prst="rect">
            <a:avLst/>
          </a:prstGeom>
          <a:solidFill>
            <a:srgbClr val="EAF3F7"/>
          </a:solidFill>
          <a:ln w="9525">
            <a:solidFill>
              <a:srgbClr val="29475E"/>
            </a:solidFill>
            <a:prstDash val="solid"/>
          </a:ln>
        </p:spPr>
      </p:sp>
      <p:sp>
        <p:nvSpPr>
          <p:cNvPr id="32" name="text">
            <a:extLst>
              <a:ext uri="{FF2B5EF4-FFF2-40B4-BE49-F238E27FC236}">
                <a16:creationId xmlns:a16="http://schemas.microsoft.com/office/drawing/2014/main" id="{49A54FF2-D88B-4727-B17E-9F7990687DC2}"/>
              </a:ext>
            </a:extLst>
          </p:cNvPr>
          <p:cNvSpPr>
            <a:spLocks noGrp="1"/>
          </p:cNvSpPr>
          <p:nvPr/>
        </p:nvSpPr>
        <p:spPr>
          <a:xfrm>
            <a:off x="2438400" y="3619500"/>
            <a:ext cx="1771650" cy="533400"/>
          </a:xfrm>
          <a:prstGeom prst="rect">
            <a:avLst/>
          </a:prstGeom>
          <a:noFill/>
          <a:ln w="0">
            <a:noFill/>
            <a:prstDash val="solid"/>
          </a:ln>
        </p:spPr>
        <p:txBody>
          <a:bodyPr anchor="ctr"/>
          <a:lstStyle/>
          <a:p>
            <a:pPr algn="ctr">
              <a:defRPr sz="1275" b="0">
                <a:solidFill>
                  <a:srgbClr val="102638"/>
                </a:solidFill>
              </a:defRPr>
            </a:pPr>
            <a:r>
              <a:rPr sz="1275" b="0">
                <a:solidFill>
                  <a:srgbClr val="102638"/>
                </a:solidFill>
              </a:rPr>
              <a:t>Branch 84.30→88.81%</a:t>
            </a:r>
          </a:p>
        </p:txBody>
      </p:sp>
      <p:sp>
        <p:nvSpPr>
          <p:cNvPr id="33" name="box">
            <a:extLst>
              <a:ext uri="{FF2B5EF4-FFF2-40B4-BE49-F238E27FC236}">
                <a16:creationId xmlns:a16="http://schemas.microsoft.com/office/drawing/2014/main" id="{46C9418A-E7C0-42CB-A7C5-C4900D7C3BEA}"/>
              </a:ext>
            </a:extLst>
          </p:cNvPr>
          <p:cNvSpPr>
            <a:spLocks noGrp="1"/>
          </p:cNvSpPr>
          <p:nvPr/>
        </p:nvSpPr>
        <p:spPr>
          <a:xfrm>
            <a:off x="4324350" y="3543300"/>
            <a:ext cx="1809750" cy="685800"/>
          </a:xfrm>
          <a:prstGeom prst="rect">
            <a:avLst/>
          </a:prstGeom>
          <a:solidFill>
            <a:srgbClr val="EAF3F7"/>
          </a:solidFill>
          <a:ln w="9525">
            <a:solidFill>
              <a:srgbClr val="29475E"/>
            </a:solidFill>
            <a:prstDash val="solid"/>
          </a:ln>
        </p:spPr>
      </p:sp>
      <p:sp>
        <p:nvSpPr>
          <p:cNvPr id="34" name="text">
            <a:extLst>
              <a:ext uri="{FF2B5EF4-FFF2-40B4-BE49-F238E27FC236}">
                <a16:creationId xmlns:a16="http://schemas.microsoft.com/office/drawing/2014/main" id="{F4BAD2AF-8C1C-4894-B75B-F4692E81F14A}"/>
              </a:ext>
            </a:extLst>
          </p:cNvPr>
          <p:cNvSpPr>
            <a:spLocks noGrp="1"/>
          </p:cNvSpPr>
          <p:nvPr/>
        </p:nvSpPr>
        <p:spPr>
          <a:xfrm>
            <a:off x="4438650" y="3619500"/>
            <a:ext cx="1581150" cy="533400"/>
          </a:xfrm>
          <a:prstGeom prst="rect">
            <a:avLst/>
          </a:prstGeom>
          <a:noFill/>
          <a:ln w="0">
            <a:noFill/>
            <a:prstDash val="solid"/>
          </a:ln>
        </p:spPr>
        <p:txBody>
          <a:bodyPr anchor="ctr"/>
          <a:lstStyle/>
          <a:p>
            <a:pPr algn="ctr">
              <a:defRPr sz="1275" b="0">
                <a:solidFill>
                  <a:srgbClr val="102638"/>
                </a:solidFill>
              </a:defRPr>
            </a:pPr>
            <a:r>
              <a:rPr sz="1275" b="0">
                <a:solidFill>
                  <a:srgbClr val="102638"/>
                </a:solidFill>
              </a:rPr>
              <a:t>72.71→81.85%</a:t>
            </a:r>
          </a:p>
        </p:txBody>
      </p:sp>
      <p:sp>
        <p:nvSpPr>
          <p:cNvPr id="35" name="box">
            <a:extLst>
              <a:ext uri="{FF2B5EF4-FFF2-40B4-BE49-F238E27FC236}">
                <a16:creationId xmlns:a16="http://schemas.microsoft.com/office/drawing/2014/main" id="{98AFA869-103B-453A-BE57-66B62649244E}"/>
              </a:ext>
            </a:extLst>
          </p:cNvPr>
          <p:cNvSpPr>
            <a:spLocks noGrp="1"/>
          </p:cNvSpPr>
          <p:nvPr/>
        </p:nvSpPr>
        <p:spPr>
          <a:xfrm>
            <a:off x="6134100" y="3543300"/>
            <a:ext cx="5543550" cy="685800"/>
          </a:xfrm>
          <a:prstGeom prst="rect">
            <a:avLst/>
          </a:prstGeom>
          <a:solidFill>
            <a:srgbClr val="EAF3F7"/>
          </a:solidFill>
          <a:ln w="9525">
            <a:solidFill>
              <a:srgbClr val="29475E"/>
            </a:solidFill>
            <a:prstDash val="solid"/>
          </a:ln>
        </p:spPr>
      </p:sp>
      <p:sp>
        <p:nvSpPr>
          <p:cNvPr id="36" name="text">
            <a:extLst>
              <a:ext uri="{FF2B5EF4-FFF2-40B4-BE49-F238E27FC236}">
                <a16:creationId xmlns:a16="http://schemas.microsoft.com/office/drawing/2014/main" id="{499BD095-3EB3-4408-BAD8-82F32722D6B8}"/>
              </a:ext>
            </a:extLst>
          </p:cNvPr>
          <p:cNvSpPr>
            <a:spLocks noGrp="1"/>
          </p:cNvSpPr>
          <p:nvPr/>
        </p:nvSpPr>
        <p:spPr>
          <a:xfrm>
            <a:off x="6248400" y="3619500"/>
            <a:ext cx="5314950" cy="533400"/>
          </a:xfrm>
          <a:prstGeom prst="rect">
            <a:avLst/>
          </a:prstGeom>
          <a:noFill/>
          <a:ln w="0">
            <a:noFill/>
            <a:prstDash val="solid"/>
          </a:ln>
        </p:spPr>
        <p:txBody>
          <a:bodyPr anchor="ctr"/>
          <a:lstStyle/>
          <a:p>
            <a:pPr algn="l">
              <a:defRPr sz="1200" b="0">
                <a:solidFill>
                  <a:srgbClr val="102638"/>
                </a:solidFill>
              </a:defRPr>
            </a:pPr>
            <a:r>
              <a:rPr sz="1200" b="0">
                <a:solidFill>
                  <a:srgbClr val="102638"/>
                </a:solidFill>
              </a:rPr>
              <a:t>Repair/strengthening treatment</a:t>
            </a:r>
          </a:p>
        </p:txBody>
      </p:sp>
      <p:sp>
        <p:nvSpPr>
          <p:cNvPr id="37" name="box">
            <a:extLst>
              <a:ext uri="{FF2B5EF4-FFF2-40B4-BE49-F238E27FC236}">
                <a16:creationId xmlns:a16="http://schemas.microsoft.com/office/drawing/2014/main" id="{BAD2DC2C-3107-48EA-9E3D-37FD1C02AD5C}"/>
              </a:ext>
            </a:extLst>
          </p:cNvPr>
          <p:cNvSpPr>
            <a:spLocks noGrp="1"/>
          </p:cNvSpPr>
          <p:nvPr/>
        </p:nvSpPr>
        <p:spPr>
          <a:xfrm>
            <a:off x="514350" y="4229100"/>
            <a:ext cx="1809750" cy="685800"/>
          </a:xfrm>
          <a:prstGeom prst="rect">
            <a:avLst/>
          </a:prstGeom>
          <a:solidFill>
            <a:srgbClr val="D9E8EF"/>
          </a:solidFill>
          <a:ln w="9525">
            <a:solidFill>
              <a:srgbClr val="29475E"/>
            </a:solidFill>
            <a:prstDash val="solid"/>
          </a:ln>
        </p:spPr>
      </p:sp>
      <p:sp>
        <p:nvSpPr>
          <p:cNvPr id="38" name="text">
            <a:extLst>
              <a:ext uri="{FF2B5EF4-FFF2-40B4-BE49-F238E27FC236}">
                <a16:creationId xmlns:a16="http://schemas.microsoft.com/office/drawing/2014/main" id="{3F4EB942-ED53-4375-8EE8-8F4943273B5F}"/>
              </a:ext>
            </a:extLst>
          </p:cNvPr>
          <p:cNvSpPr>
            <a:spLocks noGrp="1"/>
          </p:cNvSpPr>
          <p:nvPr/>
        </p:nvSpPr>
        <p:spPr>
          <a:xfrm>
            <a:off x="628650" y="4305300"/>
            <a:ext cx="1581150" cy="533400"/>
          </a:xfrm>
          <a:prstGeom prst="rect">
            <a:avLst/>
          </a:prstGeom>
          <a:noFill/>
          <a:ln w="0">
            <a:noFill/>
            <a:prstDash val="solid"/>
          </a:ln>
        </p:spPr>
        <p:txBody>
          <a:bodyPr anchor="ctr"/>
          <a:lstStyle/>
          <a:p>
            <a:pPr algn="ctr">
              <a:defRPr sz="1275" b="1">
                <a:solidFill>
                  <a:srgbClr val="102638"/>
                </a:solidFill>
              </a:defRPr>
            </a:pPr>
            <a:r>
              <a:rPr sz="1275" b="1">
                <a:solidFill>
                  <a:srgbClr val="102638"/>
                </a:solidFill>
              </a:rPr>
              <a:t>ASTER</a:t>
            </a:r>
          </a:p>
        </p:txBody>
      </p:sp>
      <p:sp>
        <p:nvSpPr>
          <p:cNvPr id="39" name="box">
            <a:extLst>
              <a:ext uri="{FF2B5EF4-FFF2-40B4-BE49-F238E27FC236}">
                <a16:creationId xmlns:a16="http://schemas.microsoft.com/office/drawing/2014/main" id="{70FE5432-94D9-484E-9742-C388D0B91E18}"/>
              </a:ext>
            </a:extLst>
          </p:cNvPr>
          <p:cNvSpPr>
            <a:spLocks noGrp="1"/>
          </p:cNvSpPr>
          <p:nvPr/>
        </p:nvSpPr>
        <p:spPr>
          <a:xfrm>
            <a:off x="2324100" y="4229100"/>
            <a:ext cx="2000250" cy="685800"/>
          </a:xfrm>
          <a:prstGeom prst="rect">
            <a:avLst/>
          </a:prstGeom>
          <a:solidFill>
            <a:srgbClr val="D9E8EF"/>
          </a:solidFill>
          <a:ln w="9525">
            <a:solidFill>
              <a:srgbClr val="29475E"/>
            </a:solidFill>
            <a:prstDash val="solid"/>
          </a:ln>
        </p:spPr>
      </p:sp>
      <p:sp>
        <p:nvSpPr>
          <p:cNvPr id="40" name="text">
            <a:extLst>
              <a:ext uri="{FF2B5EF4-FFF2-40B4-BE49-F238E27FC236}">
                <a16:creationId xmlns:a16="http://schemas.microsoft.com/office/drawing/2014/main" id="{E0E96D63-5CF8-475A-9D6E-39F5C4064F4A}"/>
              </a:ext>
            </a:extLst>
          </p:cNvPr>
          <p:cNvSpPr>
            <a:spLocks noGrp="1"/>
          </p:cNvSpPr>
          <p:nvPr/>
        </p:nvSpPr>
        <p:spPr>
          <a:xfrm>
            <a:off x="2438400" y="4305300"/>
            <a:ext cx="1771650" cy="533400"/>
          </a:xfrm>
          <a:prstGeom prst="rect">
            <a:avLst/>
          </a:prstGeom>
          <a:noFill/>
          <a:ln w="0">
            <a:noFill/>
            <a:prstDash val="solid"/>
          </a:ln>
        </p:spPr>
        <p:txBody>
          <a:bodyPr anchor="ctr"/>
          <a:lstStyle/>
          <a:p>
            <a:pPr algn="ctr">
              <a:defRPr sz="1275" b="0">
                <a:solidFill>
                  <a:srgbClr val="102638"/>
                </a:solidFill>
              </a:defRPr>
            </a:pPr>
            <a:r>
              <a:rPr sz="1275" b="0">
                <a:solidFill>
                  <a:srgbClr val="102638"/>
                </a:solidFill>
              </a:rPr>
              <a:t>Branch 77.2%</a:t>
            </a:r>
          </a:p>
        </p:txBody>
      </p:sp>
      <p:sp>
        <p:nvSpPr>
          <p:cNvPr id="41" name="box">
            <a:extLst>
              <a:ext uri="{FF2B5EF4-FFF2-40B4-BE49-F238E27FC236}">
                <a16:creationId xmlns:a16="http://schemas.microsoft.com/office/drawing/2014/main" id="{6FCDFA3D-B4C9-4000-B35A-149AEFDEC3DF}"/>
              </a:ext>
            </a:extLst>
          </p:cNvPr>
          <p:cNvSpPr>
            <a:spLocks noGrp="1"/>
          </p:cNvSpPr>
          <p:nvPr/>
        </p:nvSpPr>
        <p:spPr>
          <a:xfrm>
            <a:off x="4324350" y="4229100"/>
            <a:ext cx="1809750" cy="685800"/>
          </a:xfrm>
          <a:prstGeom prst="rect">
            <a:avLst/>
          </a:prstGeom>
          <a:solidFill>
            <a:srgbClr val="D9E8EF"/>
          </a:solidFill>
          <a:ln w="9525">
            <a:solidFill>
              <a:srgbClr val="29475E"/>
            </a:solidFill>
            <a:prstDash val="solid"/>
          </a:ln>
        </p:spPr>
      </p:sp>
      <p:sp>
        <p:nvSpPr>
          <p:cNvPr id="42" name="text">
            <a:extLst>
              <a:ext uri="{FF2B5EF4-FFF2-40B4-BE49-F238E27FC236}">
                <a16:creationId xmlns:a16="http://schemas.microsoft.com/office/drawing/2014/main" id="{EAF26BD4-AD68-4954-9A36-E23F36D0D069}"/>
              </a:ext>
            </a:extLst>
          </p:cNvPr>
          <p:cNvSpPr>
            <a:spLocks noGrp="1"/>
          </p:cNvSpPr>
          <p:nvPr/>
        </p:nvSpPr>
        <p:spPr>
          <a:xfrm>
            <a:off x="4438650" y="4305300"/>
            <a:ext cx="1581150" cy="533400"/>
          </a:xfrm>
          <a:prstGeom prst="rect">
            <a:avLst/>
          </a:prstGeom>
          <a:noFill/>
          <a:ln w="0">
            <a:noFill/>
            <a:prstDash val="solid"/>
          </a:ln>
        </p:spPr>
        <p:txBody>
          <a:bodyPr anchor="ctr"/>
          <a:lstStyle/>
          <a:p>
            <a:pPr algn="ctr">
              <a:defRPr sz="1275" b="0">
                <a:solidFill>
                  <a:srgbClr val="102638"/>
                </a:solidFill>
              </a:defRPr>
            </a:pPr>
            <a:r>
              <a:rPr sz="1275" b="0">
                <a:solidFill>
                  <a:srgbClr val="102638"/>
                </a:solidFill>
              </a:rPr>
              <a:t>NR</a:t>
            </a:r>
          </a:p>
        </p:txBody>
      </p:sp>
      <p:sp>
        <p:nvSpPr>
          <p:cNvPr id="43" name="box">
            <a:extLst>
              <a:ext uri="{FF2B5EF4-FFF2-40B4-BE49-F238E27FC236}">
                <a16:creationId xmlns:a16="http://schemas.microsoft.com/office/drawing/2014/main" id="{EA19455E-1D01-4F86-B9ED-A00FB9DEFB35}"/>
              </a:ext>
            </a:extLst>
          </p:cNvPr>
          <p:cNvSpPr>
            <a:spLocks noGrp="1"/>
          </p:cNvSpPr>
          <p:nvPr/>
        </p:nvSpPr>
        <p:spPr>
          <a:xfrm>
            <a:off x="6134100" y="4229100"/>
            <a:ext cx="5543550" cy="685800"/>
          </a:xfrm>
          <a:prstGeom prst="rect">
            <a:avLst/>
          </a:prstGeom>
          <a:solidFill>
            <a:srgbClr val="D9E8EF"/>
          </a:solidFill>
          <a:ln w="9525">
            <a:solidFill>
              <a:srgbClr val="29475E"/>
            </a:solidFill>
            <a:prstDash val="solid"/>
          </a:ln>
        </p:spPr>
      </p:sp>
      <p:sp>
        <p:nvSpPr>
          <p:cNvPr id="44" name="text">
            <a:extLst>
              <a:ext uri="{FF2B5EF4-FFF2-40B4-BE49-F238E27FC236}">
                <a16:creationId xmlns:a16="http://schemas.microsoft.com/office/drawing/2014/main" id="{7D6C9F42-EA09-4CF5-A4CA-9E6592F28465}"/>
              </a:ext>
            </a:extLst>
          </p:cNvPr>
          <p:cNvSpPr>
            <a:spLocks noGrp="1"/>
          </p:cNvSpPr>
          <p:nvPr/>
        </p:nvSpPr>
        <p:spPr>
          <a:xfrm>
            <a:off x="6248400" y="4305300"/>
            <a:ext cx="5314950" cy="533400"/>
          </a:xfrm>
          <a:prstGeom prst="rect">
            <a:avLst/>
          </a:prstGeom>
          <a:noFill/>
          <a:ln w="0">
            <a:noFill/>
            <a:prstDash val="solid"/>
          </a:ln>
        </p:spPr>
        <p:txBody>
          <a:bodyPr anchor="ctr"/>
          <a:lstStyle/>
          <a:p>
            <a:pPr algn="l">
              <a:defRPr sz="1200" b="0">
                <a:solidFill>
                  <a:srgbClr val="102638"/>
                </a:solidFill>
              </a:defRPr>
            </a:pPr>
            <a:r>
              <a:rPr sz="1200" b="0">
                <a:solidFill>
                  <a:srgbClr val="102638"/>
                </a:solidFill>
              </a:rPr>
              <a:t>Static analysis + remediation</a:t>
            </a:r>
          </a:p>
        </p:txBody>
      </p:sp>
      <p:sp>
        <p:nvSpPr>
          <p:cNvPr id="45" name="box">
            <a:extLst>
              <a:ext uri="{FF2B5EF4-FFF2-40B4-BE49-F238E27FC236}">
                <a16:creationId xmlns:a16="http://schemas.microsoft.com/office/drawing/2014/main" id="{72A7A1FA-D702-4E09-BDC0-5DDADB9BD508}"/>
              </a:ext>
            </a:extLst>
          </p:cNvPr>
          <p:cNvSpPr>
            <a:spLocks noGrp="1"/>
          </p:cNvSpPr>
          <p:nvPr/>
        </p:nvSpPr>
        <p:spPr>
          <a:xfrm>
            <a:off x="514350" y="4914900"/>
            <a:ext cx="1809750" cy="685800"/>
          </a:xfrm>
          <a:prstGeom prst="rect">
            <a:avLst/>
          </a:prstGeom>
          <a:solidFill>
            <a:srgbClr val="EAF3F7"/>
          </a:solidFill>
          <a:ln w="9525">
            <a:solidFill>
              <a:srgbClr val="29475E"/>
            </a:solidFill>
            <a:prstDash val="solid"/>
          </a:ln>
        </p:spPr>
      </p:sp>
      <p:sp>
        <p:nvSpPr>
          <p:cNvPr id="46" name="text">
            <a:extLst>
              <a:ext uri="{FF2B5EF4-FFF2-40B4-BE49-F238E27FC236}">
                <a16:creationId xmlns:a16="http://schemas.microsoft.com/office/drawing/2014/main" id="{CB675EF4-F888-4192-B046-74A1961B66DC}"/>
              </a:ext>
            </a:extLst>
          </p:cNvPr>
          <p:cNvSpPr>
            <a:spLocks noGrp="1"/>
          </p:cNvSpPr>
          <p:nvPr/>
        </p:nvSpPr>
        <p:spPr>
          <a:xfrm>
            <a:off x="628650" y="4991100"/>
            <a:ext cx="1581150" cy="533400"/>
          </a:xfrm>
          <a:prstGeom prst="rect">
            <a:avLst/>
          </a:prstGeom>
          <a:noFill/>
          <a:ln w="0">
            <a:noFill/>
            <a:prstDash val="solid"/>
          </a:ln>
        </p:spPr>
        <p:txBody>
          <a:bodyPr anchor="ctr"/>
          <a:lstStyle/>
          <a:p>
            <a:pPr algn="ctr">
              <a:defRPr sz="1275" b="1">
                <a:solidFill>
                  <a:srgbClr val="102638"/>
                </a:solidFill>
              </a:defRPr>
            </a:pPr>
            <a:r>
              <a:rPr sz="1275" b="1">
                <a:solidFill>
                  <a:srgbClr val="102638"/>
                </a:solidFill>
              </a:rPr>
              <a:t>ChatTester</a:t>
            </a:r>
          </a:p>
        </p:txBody>
      </p:sp>
      <p:sp>
        <p:nvSpPr>
          <p:cNvPr id="47" name="box">
            <a:extLst>
              <a:ext uri="{FF2B5EF4-FFF2-40B4-BE49-F238E27FC236}">
                <a16:creationId xmlns:a16="http://schemas.microsoft.com/office/drawing/2014/main" id="{F5F3E40D-A4AF-4E93-82B4-90041FDF60E0}"/>
              </a:ext>
            </a:extLst>
          </p:cNvPr>
          <p:cNvSpPr>
            <a:spLocks noGrp="1"/>
          </p:cNvSpPr>
          <p:nvPr/>
        </p:nvSpPr>
        <p:spPr>
          <a:xfrm>
            <a:off x="2324100" y="4914900"/>
            <a:ext cx="2000250" cy="685800"/>
          </a:xfrm>
          <a:prstGeom prst="rect">
            <a:avLst/>
          </a:prstGeom>
          <a:solidFill>
            <a:srgbClr val="EAF3F7"/>
          </a:solidFill>
          <a:ln w="9525">
            <a:solidFill>
              <a:srgbClr val="29475E"/>
            </a:solidFill>
            <a:prstDash val="solid"/>
          </a:ln>
        </p:spPr>
      </p:sp>
      <p:sp>
        <p:nvSpPr>
          <p:cNvPr id="48" name="text">
            <a:extLst>
              <a:ext uri="{FF2B5EF4-FFF2-40B4-BE49-F238E27FC236}">
                <a16:creationId xmlns:a16="http://schemas.microsoft.com/office/drawing/2014/main" id="{9813B755-E865-4C71-A38A-6F7627BFA00F}"/>
              </a:ext>
            </a:extLst>
          </p:cNvPr>
          <p:cNvSpPr>
            <a:spLocks noGrp="1"/>
          </p:cNvSpPr>
          <p:nvPr/>
        </p:nvSpPr>
        <p:spPr>
          <a:xfrm>
            <a:off x="2438400" y="4991100"/>
            <a:ext cx="1771650" cy="533400"/>
          </a:xfrm>
          <a:prstGeom prst="rect">
            <a:avLst/>
          </a:prstGeom>
          <a:noFill/>
          <a:ln w="0">
            <a:noFill/>
            <a:prstDash val="solid"/>
          </a:ln>
        </p:spPr>
        <p:txBody>
          <a:bodyPr anchor="ctr"/>
          <a:lstStyle/>
          <a:p>
            <a:pPr algn="ctr">
              <a:defRPr sz="1275" b="0">
                <a:solidFill>
                  <a:srgbClr val="102638"/>
                </a:solidFill>
              </a:defRPr>
            </a:pPr>
            <a:r>
              <a:rPr sz="1275" b="0">
                <a:solidFill>
                  <a:srgbClr val="102638"/>
                </a:solidFill>
              </a:rPr>
              <a:t>Branch &gt;82%</a:t>
            </a:r>
          </a:p>
        </p:txBody>
      </p:sp>
      <p:sp>
        <p:nvSpPr>
          <p:cNvPr id="49" name="box">
            <a:extLst>
              <a:ext uri="{FF2B5EF4-FFF2-40B4-BE49-F238E27FC236}">
                <a16:creationId xmlns:a16="http://schemas.microsoft.com/office/drawing/2014/main" id="{70A69CC6-4552-48B1-84A6-C702743A22D3}"/>
              </a:ext>
            </a:extLst>
          </p:cNvPr>
          <p:cNvSpPr>
            <a:spLocks noGrp="1"/>
          </p:cNvSpPr>
          <p:nvPr/>
        </p:nvSpPr>
        <p:spPr>
          <a:xfrm>
            <a:off x="4324350" y="4914900"/>
            <a:ext cx="1809750" cy="685800"/>
          </a:xfrm>
          <a:prstGeom prst="rect">
            <a:avLst/>
          </a:prstGeom>
          <a:solidFill>
            <a:srgbClr val="EAF3F7"/>
          </a:solidFill>
          <a:ln w="9525">
            <a:solidFill>
              <a:srgbClr val="29475E"/>
            </a:solidFill>
            <a:prstDash val="solid"/>
          </a:ln>
        </p:spPr>
      </p:sp>
      <p:sp>
        <p:nvSpPr>
          <p:cNvPr id="50" name="text">
            <a:extLst>
              <a:ext uri="{FF2B5EF4-FFF2-40B4-BE49-F238E27FC236}">
                <a16:creationId xmlns:a16="http://schemas.microsoft.com/office/drawing/2014/main" id="{722BE96B-EC95-4439-BC81-3F4BAAEC03B4}"/>
              </a:ext>
            </a:extLst>
          </p:cNvPr>
          <p:cNvSpPr>
            <a:spLocks noGrp="1"/>
          </p:cNvSpPr>
          <p:nvPr/>
        </p:nvSpPr>
        <p:spPr>
          <a:xfrm>
            <a:off x="4438650" y="4991100"/>
            <a:ext cx="1581150" cy="533400"/>
          </a:xfrm>
          <a:prstGeom prst="rect">
            <a:avLst/>
          </a:prstGeom>
          <a:noFill/>
          <a:ln w="0">
            <a:noFill/>
            <a:prstDash val="solid"/>
          </a:ln>
        </p:spPr>
        <p:txBody>
          <a:bodyPr anchor="ctr"/>
          <a:lstStyle/>
          <a:p>
            <a:pPr algn="ctr">
              <a:defRPr sz="1275" b="0">
                <a:solidFill>
                  <a:srgbClr val="102638"/>
                </a:solidFill>
              </a:defRPr>
            </a:pPr>
            <a:r>
              <a:rPr sz="1275" b="0">
                <a:solidFill>
                  <a:srgbClr val="102638"/>
                </a:solidFill>
              </a:rPr>
              <a:t>&gt;65%</a:t>
            </a:r>
          </a:p>
        </p:txBody>
      </p:sp>
      <p:sp>
        <p:nvSpPr>
          <p:cNvPr id="51" name="box">
            <a:extLst>
              <a:ext uri="{FF2B5EF4-FFF2-40B4-BE49-F238E27FC236}">
                <a16:creationId xmlns:a16="http://schemas.microsoft.com/office/drawing/2014/main" id="{ECEA4B46-7CCA-4C82-AC2F-5BD0E067BDA2}"/>
              </a:ext>
            </a:extLst>
          </p:cNvPr>
          <p:cNvSpPr>
            <a:spLocks noGrp="1"/>
          </p:cNvSpPr>
          <p:nvPr/>
        </p:nvSpPr>
        <p:spPr>
          <a:xfrm>
            <a:off x="6134100" y="4914900"/>
            <a:ext cx="5543550" cy="685800"/>
          </a:xfrm>
          <a:prstGeom prst="rect">
            <a:avLst/>
          </a:prstGeom>
          <a:solidFill>
            <a:srgbClr val="EAF3F7"/>
          </a:solidFill>
          <a:ln w="9525">
            <a:solidFill>
              <a:srgbClr val="29475E"/>
            </a:solidFill>
            <a:prstDash val="solid"/>
          </a:ln>
        </p:spPr>
      </p:sp>
      <p:sp>
        <p:nvSpPr>
          <p:cNvPr id="52" name="text">
            <a:extLst>
              <a:ext uri="{FF2B5EF4-FFF2-40B4-BE49-F238E27FC236}">
                <a16:creationId xmlns:a16="http://schemas.microsoft.com/office/drawing/2014/main" id="{282C81CF-F0E4-447C-8140-3AF672FA79AC}"/>
              </a:ext>
            </a:extLst>
          </p:cNvPr>
          <p:cNvSpPr>
            <a:spLocks noGrp="1"/>
          </p:cNvSpPr>
          <p:nvPr/>
        </p:nvSpPr>
        <p:spPr>
          <a:xfrm>
            <a:off x="6248400" y="4991100"/>
            <a:ext cx="5314950" cy="533400"/>
          </a:xfrm>
          <a:prstGeom prst="rect">
            <a:avLst/>
          </a:prstGeom>
          <a:noFill/>
          <a:ln w="0">
            <a:noFill/>
            <a:prstDash val="solid"/>
          </a:ln>
        </p:spPr>
        <p:txBody>
          <a:bodyPr anchor="ctr"/>
          <a:lstStyle/>
          <a:p>
            <a:pPr algn="l">
              <a:defRPr sz="1200" b="0">
                <a:solidFill>
                  <a:srgbClr val="102638"/>
                </a:solidFill>
              </a:defRPr>
            </a:pPr>
            <a:r>
              <a:rPr sz="1200" b="0">
                <a:solidFill>
                  <a:srgbClr val="102638"/>
                </a:solidFill>
              </a:rPr>
              <a:t>Multi-turn repair; Java class-level</a:t>
            </a:r>
          </a:p>
        </p:txBody>
      </p:sp>
      <p:sp>
        <p:nvSpPr>
          <p:cNvPr id="53" name="text">
            <a:extLst>
              <a:ext uri="{FF2B5EF4-FFF2-40B4-BE49-F238E27FC236}">
                <a16:creationId xmlns:a16="http://schemas.microsoft.com/office/drawing/2014/main" id="{42BE90D4-0153-4933-ABDE-21D16809D2E1}"/>
              </a:ext>
            </a:extLst>
          </p:cNvPr>
          <p:cNvSpPr>
            <a:spLocks noGrp="1"/>
          </p:cNvSpPr>
          <p:nvPr/>
        </p:nvSpPr>
        <p:spPr>
          <a:xfrm>
            <a:off x="514350" y="5695950"/>
            <a:ext cx="11163300" cy="285750"/>
          </a:xfrm>
          <a:prstGeom prst="rect">
            <a:avLst/>
          </a:prstGeom>
          <a:noFill/>
          <a:ln w="0">
            <a:noFill/>
            <a:prstDash val="solid"/>
          </a:ln>
        </p:spPr>
        <p:txBody>
          <a:bodyPr anchor="ctr"/>
          <a:lstStyle/>
          <a:p>
            <a:pPr algn="r">
              <a:defRPr sz="1125" b="0">
                <a:solidFill>
                  <a:srgbClr val="9FB2C2"/>
                </a:solidFill>
              </a:defRPr>
            </a:pPr>
            <a:r>
              <a:rPr sz="1125" b="0">
                <a:solidFill>
                  <a:srgbClr val="9FB2C2"/>
                </a:solidFill>
              </a:rPr>
              <a:t>NR = not reported • Coverage types/aggregation are not pooled</a:t>
            </a:r>
          </a:p>
        </p:txBody>
      </p:sp>
      <p:sp>
        <p:nvSpPr>
          <p:cNvPr id="54" name="text">
            <a:extLst>
              <a:ext uri="{FF2B5EF4-FFF2-40B4-BE49-F238E27FC236}">
                <a16:creationId xmlns:a16="http://schemas.microsoft.com/office/drawing/2014/main" id="{AC4F762D-422E-4B02-9395-35883916A512}"/>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55" name="text">
            <a:extLst>
              <a:ext uri="{FF2B5EF4-FFF2-40B4-BE49-F238E27FC236}">
                <a16:creationId xmlns:a16="http://schemas.microsoft.com/office/drawing/2014/main" id="{24BBB683-7586-4957-9178-09B333052B03}"/>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03</a:t>
            </a:r>
          </a:p>
        </p:txBody>
      </p:sp>
    </p:spTree>
    <p:extLst>
      <p:ext uri="{BB962C8B-B14F-4D97-AF65-F5344CB8AC3E}">
        <p14:creationId xmlns:p14="http://schemas.microsoft.com/office/powerpoint/2010/main" val="1867679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43" name="text">
            <a:extLst>
              <a:ext uri="{FF2B5EF4-FFF2-40B4-BE49-F238E27FC236}">
                <a16:creationId xmlns:a16="http://schemas.microsoft.com/office/drawing/2014/main" id="{E599774B-DF4F-41A0-891B-928329556E83}"/>
              </a:ext>
            </a:extLst>
          </p:cNvPr>
          <p:cNvSpPr>
            <a:spLocks noGrp="1"/>
          </p:cNvSpPr>
          <p:nvPr/>
        </p:nvSpPr>
        <p:spPr>
          <a:xfrm>
            <a:off x="514350" y="323850"/>
            <a:ext cx="457200" cy="266700"/>
          </a:xfrm>
          <a:prstGeom prst="rect">
            <a:avLst/>
          </a:prstGeom>
          <a:noFill/>
          <a:ln w="0">
            <a:noFill/>
            <a:prstDash val="solid"/>
          </a:ln>
        </p:spPr>
        <p:txBody>
          <a:bodyPr anchor="ctr"/>
          <a:lstStyle/>
          <a:p>
            <a:pPr algn="l">
              <a:defRPr sz="1050" b="1">
                <a:solidFill>
                  <a:srgbClr val="26D0CE"/>
                </a:solidFill>
              </a:defRPr>
            </a:pPr>
            <a:r>
              <a:rPr sz="1050" b="1">
                <a:solidFill>
                  <a:srgbClr val="26D0CE"/>
                </a:solidFill>
              </a:rPr>
              <a:t>04</a:t>
            </a:r>
          </a:p>
        </p:txBody>
      </p:sp>
      <p:sp>
        <p:nvSpPr>
          <p:cNvPr id="2" name="text">
            <a:extLst>
              <a:ext uri="{FF2B5EF4-FFF2-40B4-BE49-F238E27FC236}">
                <a16:creationId xmlns:a16="http://schemas.microsoft.com/office/drawing/2014/main" id="{A763CA00-8C43-4908-8F49-395E46DDA3D5}"/>
              </a:ext>
            </a:extLst>
          </p:cNvPr>
          <p:cNvSpPr>
            <a:spLocks noGrp="1"/>
          </p:cNvSpPr>
          <p:nvPr/>
        </p:nvSpPr>
        <p:spPr>
          <a:xfrm>
            <a:off x="1066800" y="323850"/>
            <a:ext cx="5619750" cy="266700"/>
          </a:xfrm>
          <a:prstGeom prst="rect">
            <a:avLst/>
          </a:prstGeom>
          <a:noFill/>
          <a:ln w="0">
            <a:noFill/>
            <a:prstDash val="solid"/>
          </a:ln>
        </p:spPr>
        <p:txBody>
          <a:bodyPr anchor="ctr"/>
          <a:lstStyle/>
          <a:p>
            <a:pPr algn="l">
              <a:defRPr sz="1050" b="1">
                <a:solidFill>
                  <a:srgbClr val="9FB2C2"/>
                </a:solidFill>
              </a:defRPr>
            </a:pPr>
            <a:r>
              <a:rPr sz="1050" b="1">
                <a:solidFill>
                  <a:srgbClr val="9FB2C2"/>
                </a:solidFill>
              </a:rPr>
              <a:t>RQ + HYPOTHESES</a:t>
            </a:r>
          </a:p>
        </p:txBody>
      </p:sp>
      <p:sp>
        <p:nvSpPr>
          <p:cNvPr id="3" name="text">
            <a:extLst>
              <a:ext uri="{FF2B5EF4-FFF2-40B4-BE49-F238E27FC236}">
                <a16:creationId xmlns:a16="http://schemas.microsoft.com/office/drawing/2014/main" id="{45008179-B5D3-44F7-A80F-F0B32819A843}"/>
              </a:ext>
            </a:extLst>
          </p:cNvPr>
          <p:cNvSpPr>
            <a:spLocks noGrp="1"/>
          </p:cNvSpPr>
          <p:nvPr/>
        </p:nvSpPr>
        <p:spPr>
          <a:xfrm>
            <a:off x="514350" y="685800"/>
            <a:ext cx="11144250" cy="590550"/>
          </a:xfrm>
          <a:prstGeom prst="rect">
            <a:avLst/>
          </a:prstGeom>
          <a:noFill/>
          <a:ln w="0">
            <a:noFill/>
            <a:prstDash val="solid"/>
          </a:ln>
        </p:spPr>
        <p:txBody>
          <a:bodyPr anchor="ctr"/>
          <a:lstStyle/>
          <a:p>
            <a:pPr algn="l">
              <a:defRPr sz="2850" b="1">
                <a:solidFill>
                  <a:srgbClr val="F8FBFD"/>
                </a:solidFill>
              </a:defRPr>
            </a:pPr>
            <a:r>
              <a:rPr sz="2850" b="1">
                <a:solidFill>
                  <a:srgbClr val="F8FBFD"/>
                </a:solidFill>
              </a:rPr>
              <a:t>RQ và statistical decision rules</a:t>
            </a:r>
          </a:p>
        </p:txBody>
      </p:sp>
      <p:sp>
        <p:nvSpPr>
          <p:cNvPr id="4" name="rule">
            <a:extLst>
              <a:ext uri="{FF2B5EF4-FFF2-40B4-BE49-F238E27FC236}">
                <a16:creationId xmlns:a16="http://schemas.microsoft.com/office/drawing/2014/main" id="{6F714FE9-E369-480E-9545-392AE6C2A779}"/>
              </a:ext>
            </a:extLst>
          </p:cNvPr>
          <p:cNvSpPr>
            <a:spLocks noGrp="1"/>
          </p:cNvSpPr>
          <p:nvPr/>
        </p:nvSpPr>
        <p:spPr>
          <a:xfrm>
            <a:off x="514350" y="1371600"/>
            <a:ext cx="857250" cy="38100"/>
          </a:xfrm>
          <a:prstGeom prst="rect">
            <a:avLst/>
          </a:prstGeom>
          <a:solidFill>
            <a:srgbClr val="26D0CE"/>
          </a:solidFill>
          <a:ln w="0">
            <a:noFill/>
            <a:prstDash val="solid"/>
          </a:ln>
        </p:spPr>
      </p:sp>
      <p:sp>
        <p:nvSpPr>
          <p:cNvPr id="5" name="box">
            <a:extLst>
              <a:ext uri="{FF2B5EF4-FFF2-40B4-BE49-F238E27FC236}">
                <a16:creationId xmlns:a16="http://schemas.microsoft.com/office/drawing/2014/main" id="{7A76DC5D-7FBE-4A18-BC1D-6D327E093485}"/>
              </a:ext>
            </a:extLst>
          </p:cNvPr>
          <p:cNvSpPr>
            <a:spLocks noGrp="1"/>
          </p:cNvSpPr>
          <p:nvPr/>
        </p:nvSpPr>
        <p:spPr>
          <a:xfrm>
            <a:off x="514350" y="1790700"/>
            <a:ext cx="1047750" cy="495300"/>
          </a:xfrm>
          <a:prstGeom prst="rect">
            <a:avLst/>
          </a:prstGeom>
          <a:solidFill>
            <a:srgbClr val="26D0CE"/>
          </a:solidFill>
          <a:ln w="9525">
            <a:solidFill>
              <a:srgbClr val="29475E"/>
            </a:solidFill>
            <a:prstDash val="solid"/>
          </a:ln>
        </p:spPr>
      </p:sp>
      <p:sp>
        <p:nvSpPr>
          <p:cNvPr id="6" name="text">
            <a:extLst>
              <a:ext uri="{FF2B5EF4-FFF2-40B4-BE49-F238E27FC236}">
                <a16:creationId xmlns:a16="http://schemas.microsoft.com/office/drawing/2014/main" id="{23CAC51E-BF60-46A9-AFA9-41F25A8AFAF7}"/>
              </a:ext>
            </a:extLst>
          </p:cNvPr>
          <p:cNvSpPr>
            <a:spLocks noGrp="1"/>
          </p:cNvSpPr>
          <p:nvPr/>
        </p:nvSpPr>
        <p:spPr>
          <a:xfrm>
            <a:off x="590550" y="1866900"/>
            <a:ext cx="895350" cy="342900"/>
          </a:xfrm>
          <a:prstGeom prst="rect">
            <a:avLst/>
          </a:prstGeom>
          <a:noFill/>
          <a:ln w="0">
            <a:noFill/>
            <a:prstDash val="solid"/>
          </a:ln>
        </p:spPr>
        <p:txBody>
          <a:bodyPr anchor="ctr"/>
          <a:lstStyle/>
          <a:p>
            <a:pPr algn="ctr">
              <a:defRPr sz="1200" b="1">
                <a:solidFill>
                  <a:srgbClr val="071A2B"/>
                </a:solidFill>
              </a:defRPr>
            </a:pPr>
            <a:r>
              <a:rPr sz="1200" b="1">
                <a:solidFill>
                  <a:srgbClr val="071A2B"/>
                </a:solidFill>
              </a:rPr>
              <a:t>RQ</a:t>
            </a:r>
          </a:p>
        </p:txBody>
      </p:sp>
      <p:sp>
        <p:nvSpPr>
          <p:cNvPr id="7" name="box">
            <a:extLst>
              <a:ext uri="{FF2B5EF4-FFF2-40B4-BE49-F238E27FC236}">
                <a16:creationId xmlns:a16="http://schemas.microsoft.com/office/drawing/2014/main" id="{F84107B4-ABEA-4F7A-82DB-C102CE3AC8AA}"/>
              </a:ext>
            </a:extLst>
          </p:cNvPr>
          <p:cNvSpPr>
            <a:spLocks noGrp="1"/>
          </p:cNvSpPr>
          <p:nvPr/>
        </p:nvSpPr>
        <p:spPr>
          <a:xfrm>
            <a:off x="1562100" y="1790700"/>
            <a:ext cx="3238500" cy="495300"/>
          </a:xfrm>
          <a:prstGeom prst="rect">
            <a:avLst/>
          </a:prstGeom>
          <a:solidFill>
            <a:srgbClr val="0D2940"/>
          </a:solidFill>
          <a:ln w="9525">
            <a:solidFill>
              <a:srgbClr val="29475E"/>
            </a:solidFill>
            <a:prstDash val="solid"/>
          </a:ln>
        </p:spPr>
      </p:sp>
      <p:sp>
        <p:nvSpPr>
          <p:cNvPr id="8" name="text">
            <a:extLst>
              <a:ext uri="{FF2B5EF4-FFF2-40B4-BE49-F238E27FC236}">
                <a16:creationId xmlns:a16="http://schemas.microsoft.com/office/drawing/2014/main" id="{A8322CA0-457D-4570-8319-1A143C4500B0}"/>
              </a:ext>
            </a:extLst>
          </p:cNvPr>
          <p:cNvSpPr>
            <a:spLocks noGrp="1"/>
          </p:cNvSpPr>
          <p:nvPr/>
        </p:nvSpPr>
        <p:spPr>
          <a:xfrm>
            <a:off x="1638300" y="1866900"/>
            <a:ext cx="3086100" cy="342900"/>
          </a:xfrm>
          <a:prstGeom prst="rect">
            <a:avLst/>
          </a:prstGeom>
          <a:noFill/>
          <a:ln w="0">
            <a:noFill/>
            <a:prstDash val="solid"/>
          </a:ln>
        </p:spPr>
        <p:txBody>
          <a:bodyPr anchor="ctr"/>
          <a:lstStyle/>
          <a:p>
            <a:pPr algn="ctr">
              <a:defRPr sz="1200" b="1">
                <a:solidFill>
                  <a:srgbClr val="F8FBFD"/>
                </a:solidFill>
              </a:defRPr>
            </a:pPr>
            <a:r>
              <a:rPr sz="1200" b="1">
                <a:solidFill>
                  <a:srgbClr val="F8FBFD"/>
                </a:solidFill>
              </a:rPr>
              <a:t>METRIC</a:t>
            </a:r>
          </a:p>
        </p:txBody>
      </p:sp>
      <p:sp>
        <p:nvSpPr>
          <p:cNvPr id="9" name="box">
            <a:extLst>
              <a:ext uri="{FF2B5EF4-FFF2-40B4-BE49-F238E27FC236}">
                <a16:creationId xmlns:a16="http://schemas.microsoft.com/office/drawing/2014/main" id="{6A96A581-04FC-4032-8CE5-B6FC3A1C424A}"/>
              </a:ext>
            </a:extLst>
          </p:cNvPr>
          <p:cNvSpPr>
            <a:spLocks noGrp="1"/>
          </p:cNvSpPr>
          <p:nvPr/>
        </p:nvSpPr>
        <p:spPr>
          <a:xfrm>
            <a:off x="4800600" y="1790700"/>
            <a:ext cx="2381250" cy="495300"/>
          </a:xfrm>
          <a:prstGeom prst="rect">
            <a:avLst/>
          </a:prstGeom>
          <a:solidFill>
            <a:srgbClr val="0D2940"/>
          </a:solidFill>
          <a:ln w="9525">
            <a:solidFill>
              <a:srgbClr val="29475E"/>
            </a:solidFill>
            <a:prstDash val="solid"/>
          </a:ln>
        </p:spPr>
      </p:sp>
      <p:sp>
        <p:nvSpPr>
          <p:cNvPr id="10" name="text">
            <a:extLst>
              <a:ext uri="{FF2B5EF4-FFF2-40B4-BE49-F238E27FC236}">
                <a16:creationId xmlns:a16="http://schemas.microsoft.com/office/drawing/2014/main" id="{C2216645-AA58-4231-84ED-7B9170397C0E}"/>
              </a:ext>
            </a:extLst>
          </p:cNvPr>
          <p:cNvSpPr>
            <a:spLocks noGrp="1"/>
          </p:cNvSpPr>
          <p:nvPr/>
        </p:nvSpPr>
        <p:spPr>
          <a:xfrm>
            <a:off x="4876800" y="1866900"/>
            <a:ext cx="2228850" cy="342900"/>
          </a:xfrm>
          <a:prstGeom prst="rect">
            <a:avLst/>
          </a:prstGeom>
          <a:noFill/>
          <a:ln w="0">
            <a:noFill/>
            <a:prstDash val="solid"/>
          </a:ln>
        </p:spPr>
        <p:txBody>
          <a:bodyPr anchor="ctr"/>
          <a:lstStyle/>
          <a:p>
            <a:pPr algn="ctr">
              <a:defRPr sz="1200" b="1">
                <a:solidFill>
                  <a:srgbClr val="F8FBFD"/>
                </a:solidFill>
              </a:defRPr>
            </a:pPr>
            <a:r>
              <a:rPr sz="1200" b="1">
                <a:solidFill>
                  <a:srgbClr val="F8FBFD"/>
                </a:solidFill>
              </a:rPr>
              <a:t>THRESHOLD</a:t>
            </a:r>
          </a:p>
        </p:txBody>
      </p:sp>
      <p:sp>
        <p:nvSpPr>
          <p:cNvPr id="11" name="box">
            <a:extLst>
              <a:ext uri="{FF2B5EF4-FFF2-40B4-BE49-F238E27FC236}">
                <a16:creationId xmlns:a16="http://schemas.microsoft.com/office/drawing/2014/main" id="{708B8265-2301-4A00-85ED-40D845F0808C}"/>
              </a:ext>
            </a:extLst>
          </p:cNvPr>
          <p:cNvSpPr>
            <a:spLocks noGrp="1"/>
          </p:cNvSpPr>
          <p:nvPr/>
        </p:nvSpPr>
        <p:spPr>
          <a:xfrm>
            <a:off x="7181850" y="1790700"/>
            <a:ext cx="4495800" cy="495300"/>
          </a:xfrm>
          <a:prstGeom prst="rect">
            <a:avLst/>
          </a:prstGeom>
          <a:solidFill>
            <a:srgbClr val="0D2940"/>
          </a:solidFill>
          <a:ln w="9525">
            <a:solidFill>
              <a:srgbClr val="29475E"/>
            </a:solidFill>
            <a:prstDash val="solid"/>
          </a:ln>
        </p:spPr>
      </p:sp>
      <p:sp>
        <p:nvSpPr>
          <p:cNvPr id="12" name="text">
            <a:extLst>
              <a:ext uri="{FF2B5EF4-FFF2-40B4-BE49-F238E27FC236}">
                <a16:creationId xmlns:a16="http://schemas.microsoft.com/office/drawing/2014/main" id="{473D0BD2-285D-4FB8-9BF5-A56B695CB9CD}"/>
              </a:ext>
            </a:extLst>
          </p:cNvPr>
          <p:cNvSpPr>
            <a:spLocks noGrp="1"/>
          </p:cNvSpPr>
          <p:nvPr/>
        </p:nvSpPr>
        <p:spPr>
          <a:xfrm>
            <a:off x="7258050" y="1866900"/>
            <a:ext cx="4343400" cy="342900"/>
          </a:xfrm>
          <a:prstGeom prst="rect">
            <a:avLst/>
          </a:prstGeom>
          <a:noFill/>
          <a:ln w="0">
            <a:noFill/>
            <a:prstDash val="solid"/>
          </a:ln>
        </p:spPr>
        <p:txBody>
          <a:bodyPr anchor="ctr"/>
          <a:lstStyle/>
          <a:p>
            <a:pPr algn="ctr">
              <a:defRPr sz="1200" b="1">
                <a:solidFill>
                  <a:srgbClr val="F8FBFD"/>
                </a:solidFill>
              </a:defRPr>
            </a:pPr>
            <a:r>
              <a:rPr sz="1200" b="1">
                <a:solidFill>
                  <a:srgbClr val="F8FBFD"/>
                </a:solidFill>
              </a:rPr>
              <a:t>STATISTICAL TEST</a:t>
            </a:r>
          </a:p>
        </p:txBody>
      </p:sp>
      <p:sp>
        <p:nvSpPr>
          <p:cNvPr id="13" name="box">
            <a:extLst>
              <a:ext uri="{FF2B5EF4-FFF2-40B4-BE49-F238E27FC236}">
                <a16:creationId xmlns:a16="http://schemas.microsoft.com/office/drawing/2014/main" id="{008E3A28-18CB-445D-A11B-3DC28069472A}"/>
              </a:ext>
            </a:extLst>
          </p:cNvPr>
          <p:cNvSpPr>
            <a:spLocks noGrp="1"/>
          </p:cNvSpPr>
          <p:nvPr/>
        </p:nvSpPr>
        <p:spPr>
          <a:xfrm>
            <a:off x="514350" y="2286000"/>
            <a:ext cx="1047750" cy="838200"/>
          </a:xfrm>
          <a:prstGeom prst="rect">
            <a:avLst/>
          </a:prstGeom>
          <a:solidFill>
            <a:srgbClr val="0D2940"/>
          </a:solidFill>
          <a:ln w="9525">
            <a:solidFill>
              <a:srgbClr val="29475E"/>
            </a:solidFill>
            <a:prstDash val="solid"/>
          </a:ln>
        </p:spPr>
      </p:sp>
      <p:sp>
        <p:nvSpPr>
          <p:cNvPr id="14" name="text">
            <a:extLst>
              <a:ext uri="{FF2B5EF4-FFF2-40B4-BE49-F238E27FC236}">
                <a16:creationId xmlns:a16="http://schemas.microsoft.com/office/drawing/2014/main" id="{01A4BC14-2E38-44A0-975B-BAA932BE0025}"/>
              </a:ext>
            </a:extLst>
          </p:cNvPr>
          <p:cNvSpPr>
            <a:spLocks noGrp="1"/>
          </p:cNvSpPr>
          <p:nvPr/>
        </p:nvSpPr>
        <p:spPr>
          <a:xfrm>
            <a:off x="628650" y="2419350"/>
            <a:ext cx="819150" cy="571500"/>
          </a:xfrm>
          <a:prstGeom prst="rect">
            <a:avLst/>
          </a:prstGeom>
          <a:noFill/>
          <a:ln w="0">
            <a:noFill/>
            <a:prstDash val="solid"/>
          </a:ln>
        </p:spPr>
        <p:txBody>
          <a:bodyPr anchor="ctr"/>
          <a:lstStyle/>
          <a:p>
            <a:pPr algn="ctr">
              <a:defRPr sz="1650" b="1">
                <a:solidFill>
                  <a:srgbClr val="26D0CE"/>
                </a:solidFill>
              </a:defRPr>
            </a:pPr>
            <a:r>
              <a:rPr sz="1650" b="1" dirty="0">
                <a:solidFill>
                  <a:srgbClr val="26D0CE"/>
                </a:solidFill>
              </a:rPr>
              <a:t>RQ1</a:t>
            </a:r>
          </a:p>
        </p:txBody>
      </p:sp>
      <p:sp>
        <p:nvSpPr>
          <p:cNvPr id="15" name="box">
            <a:extLst>
              <a:ext uri="{FF2B5EF4-FFF2-40B4-BE49-F238E27FC236}">
                <a16:creationId xmlns:a16="http://schemas.microsoft.com/office/drawing/2014/main" id="{4BAD7283-CADD-49B1-9B34-37D00336DB1D}"/>
              </a:ext>
            </a:extLst>
          </p:cNvPr>
          <p:cNvSpPr>
            <a:spLocks noGrp="1"/>
          </p:cNvSpPr>
          <p:nvPr/>
        </p:nvSpPr>
        <p:spPr>
          <a:xfrm>
            <a:off x="1562100" y="2286000"/>
            <a:ext cx="3238500" cy="838200"/>
          </a:xfrm>
          <a:prstGeom prst="rect">
            <a:avLst/>
          </a:prstGeom>
          <a:solidFill>
            <a:srgbClr val="0D2940"/>
          </a:solidFill>
          <a:ln w="9525">
            <a:solidFill>
              <a:srgbClr val="29475E"/>
            </a:solidFill>
            <a:prstDash val="solid"/>
          </a:ln>
        </p:spPr>
      </p:sp>
      <p:sp>
        <p:nvSpPr>
          <p:cNvPr id="16" name="text">
            <a:extLst>
              <a:ext uri="{FF2B5EF4-FFF2-40B4-BE49-F238E27FC236}">
                <a16:creationId xmlns:a16="http://schemas.microsoft.com/office/drawing/2014/main" id="{0EBB14A9-0F5D-4F26-95B0-435837D7040B}"/>
              </a:ext>
            </a:extLst>
          </p:cNvPr>
          <p:cNvSpPr>
            <a:spLocks noGrp="1"/>
          </p:cNvSpPr>
          <p:nvPr/>
        </p:nvSpPr>
        <p:spPr>
          <a:xfrm>
            <a:off x="1676400" y="2419350"/>
            <a:ext cx="3009900" cy="571500"/>
          </a:xfrm>
          <a:prstGeom prst="rect">
            <a:avLst/>
          </a:prstGeom>
          <a:noFill/>
          <a:ln w="0">
            <a:noFill/>
            <a:prstDash val="solid"/>
          </a:ln>
        </p:spPr>
        <p:txBody>
          <a:bodyPr anchor="ctr"/>
          <a:lstStyle/>
          <a:p>
            <a:pPr algn="ctr">
              <a:defRPr sz="1425" b="0">
                <a:solidFill>
                  <a:srgbClr val="F8FBFD"/>
                </a:solidFill>
              </a:defRPr>
            </a:pPr>
            <a:r>
              <a:rPr sz="1425" b="0">
                <a:solidFill>
                  <a:srgbClr val="F8FBFD"/>
                </a:solidFill>
              </a:rPr>
              <a:t>Branch Coverage</a:t>
            </a:r>
          </a:p>
        </p:txBody>
      </p:sp>
      <p:sp>
        <p:nvSpPr>
          <p:cNvPr id="17" name="box">
            <a:extLst>
              <a:ext uri="{FF2B5EF4-FFF2-40B4-BE49-F238E27FC236}">
                <a16:creationId xmlns:a16="http://schemas.microsoft.com/office/drawing/2014/main" id="{BD9FB8D2-5821-4F46-93F1-E872E52112F7}"/>
              </a:ext>
            </a:extLst>
          </p:cNvPr>
          <p:cNvSpPr>
            <a:spLocks noGrp="1"/>
          </p:cNvSpPr>
          <p:nvPr/>
        </p:nvSpPr>
        <p:spPr>
          <a:xfrm>
            <a:off x="4800600" y="2286000"/>
            <a:ext cx="2381250" cy="838200"/>
          </a:xfrm>
          <a:prstGeom prst="rect">
            <a:avLst/>
          </a:prstGeom>
          <a:solidFill>
            <a:srgbClr val="0D2940"/>
          </a:solidFill>
          <a:ln w="9525">
            <a:solidFill>
              <a:srgbClr val="29475E"/>
            </a:solidFill>
            <a:prstDash val="solid"/>
          </a:ln>
        </p:spPr>
      </p:sp>
      <p:sp>
        <p:nvSpPr>
          <p:cNvPr id="18" name="text">
            <a:extLst>
              <a:ext uri="{FF2B5EF4-FFF2-40B4-BE49-F238E27FC236}">
                <a16:creationId xmlns:a16="http://schemas.microsoft.com/office/drawing/2014/main" id="{4FD20724-1966-43F0-B752-083DCB089238}"/>
              </a:ext>
            </a:extLst>
          </p:cNvPr>
          <p:cNvSpPr>
            <a:spLocks noGrp="1"/>
          </p:cNvSpPr>
          <p:nvPr/>
        </p:nvSpPr>
        <p:spPr>
          <a:xfrm>
            <a:off x="4914900" y="2419350"/>
            <a:ext cx="2152650" cy="571500"/>
          </a:xfrm>
          <a:prstGeom prst="rect">
            <a:avLst/>
          </a:prstGeom>
          <a:noFill/>
          <a:ln w="0">
            <a:noFill/>
            <a:prstDash val="solid"/>
          </a:ln>
        </p:spPr>
        <p:txBody>
          <a:bodyPr anchor="ctr"/>
          <a:lstStyle/>
          <a:p>
            <a:pPr algn="ctr">
              <a:defRPr sz="1425" b="0">
                <a:solidFill>
                  <a:srgbClr val="F8FBFD"/>
                </a:solidFill>
              </a:defRPr>
            </a:pPr>
            <a:r>
              <a:rPr sz="1425" b="0">
                <a:solidFill>
                  <a:srgbClr val="F8FBFD"/>
                </a:solidFill>
              </a:rPr>
              <a:t>75%</a:t>
            </a:r>
          </a:p>
        </p:txBody>
      </p:sp>
      <p:sp>
        <p:nvSpPr>
          <p:cNvPr id="19" name="box">
            <a:extLst>
              <a:ext uri="{FF2B5EF4-FFF2-40B4-BE49-F238E27FC236}">
                <a16:creationId xmlns:a16="http://schemas.microsoft.com/office/drawing/2014/main" id="{27A065B6-58E0-4564-9FA2-6DC2A253BEA4}"/>
              </a:ext>
            </a:extLst>
          </p:cNvPr>
          <p:cNvSpPr>
            <a:spLocks noGrp="1"/>
          </p:cNvSpPr>
          <p:nvPr/>
        </p:nvSpPr>
        <p:spPr>
          <a:xfrm>
            <a:off x="7181850" y="2286000"/>
            <a:ext cx="4495800" cy="838200"/>
          </a:xfrm>
          <a:prstGeom prst="rect">
            <a:avLst/>
          </a:prstGeom>
          <a:solidFill>
            <a:srgbClr val="0D2940"/>
          </a:solidFill>
          <a:ln w="9525">
            <a:solidFill>
              <a:srgbClr val="29475E"/>
            </a:solidFill>
            <a:prstDash val="solid"/>
          </a:ln>
        </p:spPr>
      </p:sp>
      <p:sp>
        <p:nvSpPr>
          <p:cNvPr id="20" name="text">
            <a:extLst>
              <a:ext uri="{FF2B5EF4-FFF2-40B4-BE49-F238E27FC236}">
                <a16:creationId xmlns:a16="http://schemas.microsoft.com/office/drawing/2014/main" id="{204A086E-FE01-4D78-87C4-BD3D8D528837}"/>
              </a:ext>
            </a:extLst>
          </p:cNvPr>
          <p:cNvSpPr>
            <a:spLocks noGrp="1"/>
          </p:cNvSpPr>
          <p:nvPr/>
        </p:nvSpPr>
        <p:spPr>
          <a:xfrm>
            <a:off x="7296150" y="2419350"/>
            <a:ext cx="4267200" cy="571500"/>
          </a:xfrm>
          <a:prstGeom prst="rect">
            <a:avLst/>
          </a:prstGeom>
          <a:noFill/>
          <a:ln w="0">
            <a:noFill/>
            <a:prstDash val="solid"/>
          </a:ln>
        </p:spPr>
        <p:txBody>
          <a:bodyPr anchor="ctr"/>
          <a:lstStyle/>
          <a:p>
            <a:pPr algn="ctr">
              <a:defRPr sz="1425" b="0">
                <a:solidFill>
                  <a:srgbClr val="F8FBFD"/>
                </a:solidFill>
              </a:defRPr>
            </a:pPr>
            <a:r>
              <a:rPr sz="1425" b="0">
                <a:solidFill>
                  <a:srgbClr val="F8FBFD"/>
                </a:solidFill>
              </a:rPr>
              <a:t>Exact Sign Test • right-tailed</a:t>
            </a:r>
          </a:p>
        </p:txBody>
      </p:sp>
      <p:sp>
        <p:nvSpPr>
          <p:cNvPr id="21" name="box">
            <a:extLst>
              <a:ext uri="{FF2B5EF4-FFF2-40B4-BE49-F238E27FC236}">
                <a16:creationId xmlns:a16="http://schemas.microsoft.com/office/drawing/2014/main" id="{62527959-C390-4556-9DC0-111E86439C4E}"/>
              </a:ext>
            </a:extLst>
          </p:cNvPr>
          <p:cNvSpPr>
            <a:spLocks noGrp="1"/>
          </p:cNvSpPr>
          <p:nvPr/>
        </p:nvSpPr>
        <p:spPr>
          <a:xfrm>
            <a:off x="514350" y="3143250"/>
            <a:ext cx="1047750" cy="838200"/>
          </a:xfrm>
          <a:prstGeom prst="rect">
            <a:avLst/>
          </a:prstGeom>
          <a:solidFill>
            <a:srgbClr val="EAF3F7"/>
          </a:solidFill>
          <a:ln w="9525">
            <a:solidFill>
              <a:srgbClr val="29475E"/>
            </a:solidFill>
            <a:prstDash val="solid"/>
          </a:ln>
        </p:spPr>
      </p:sp>
      <p:sp>
        <p:nvSpPr>
          <p:cNvPr id="22" name="text">
            <a:extLst>
              <a:ext uri="{FF2B5EF4-FFF2-40B4-BE49-F238E27FC236}">
                <a16:creationId xmlns:a16="http://schemas.microsoft.com/office/drawing/2014/main" id="{55D9AD2E-ED87-44A9-B3F6-3A74A6651733}"/>
              </a:ext>
            </a:extLst>
          </p:cNvPr>
          <p:cNvSpPr>
            <a:spLocks noGrp="1"/>
          </p:cNvSpPr>
          <p:nvPr/>
        </p:nvSpPr>
        <p:spPr>
          <a:xfrm>
            <a:off x="628650" y="3257550"/>
            <a:ext cx="819150" cy="571500"/>
          </a:xfrm>
          <a:prstGeom prst="rect">
            <a:avLst/>
          </a:prstGeom>
          <a:noFill/>
          <a:ln w="0">
            <a:noFill/>
            <a:prstDash val="solid"/>
          </a:ln>
        </p:spPr>
        <p:txBody>
          <a:bodyPr anchor="ctr"/>
          <a:lstStyle/>
          <a:p>
            <a:pPr algn="ctr">
              <a:defRPr sz="1650" b="1">
                <a:solidFill>
                  <a:srgbClr val="102638"/>
                </a:solidFill>
              </a:defRPr>
            </a:pPr>
            <a:r>
              <a:rPr sz="1650" b="1" dirty="0">
                <a:solidFill>
                  <a:srgbClr val="102638"/>
                </a:solidFill>
              </a:rPr>
              <a:t>RQ2</a:t>
            </a:r>
          </a:p>
        </p:txBody>
      </p:sp>
      <p:sp>
        <p:nvSpPr>
          <p:cNvPr id="23" name="box">
            <a:extLst>
              <a:ext uri="{FF2B5EF4-FFF2-40B4-BE49-F238E27FC236}">
                <a16:creationId xmlns:a16="http://schemas.microsoft.com/office/drawing/2014/main" id="{107CB34A-E3B3-4F51-BBD7-F3BDD6111463}"/>
              </a:ext>
            </a:extLst>
          </p:cNvPr>
          <p:cNvSpPr>
            <a:spLocks noGrp="1"/>
          </p:cNvSpPr>
          <p:nvPr/>
        </p:nvSpPr>
        <p:spPr>
          <a:xfrm>
            <a:off x="1562100" y="3124200"/>
            <a:ext cx="3238500" cy="838200"/>
          </a:xfrm>
          <a:prstGeom prst="rect">
            <a:avLst/>
          </a:prstGeom>
          <a:solidFill>
            <a:srgbClr val="EAF3F7"/>
          </a:solidFill>
          <a:ln w="9525">
            <a:solidFill>
              <a:srgbClr val="29475E"/>
            </a:solidFill>
            <a:prstDash val="solid"/>
          </a:ln>
        </p:spPr>
      </p:sp>
      <p:sp>
        <p:nvSpPr>
          <p:cNvPr id="24" name="text">
            <a:extLst>
              <a:ext uri="{FF2B5EF4-FFF2-40B4-BE49-F238E27FC236}">
                <a16:creationId xmlns:a16="http://schemas.microsoft.com/office/drawing/2014/main" id="{7B2D45A9-A5EF-496B-96F5-0E2C92C8C968}"/>
              </a:ext>
            </a:extLst>
          </p:cNvPr>
          <p:cNvSpPr>
            <a:spLocks noGrp="1"/>
          </p:cNvSpPr>
          <p:nvPr/>
        </p:nvSpPr>
        <p:spPr>
          <a:xfrm>
            <a:off x="1676400" y="3257550"/>
            <a:ext cx="3009900" cy="571500"/>
          </a:xfrm>
          <a:prstGeom prst="rect">
            <a:avLst/>
          </a:prstGeom>
          <a:noFill/>
          <a:ln w="0">
            <a:noFill/>
            <a:prstDash val="solid"/>
          </a:ln>
        </p:spPr>
        <p:txBody>
          <a:bodyPr anchor="ctr"/>
          <a:lstStyle/>
          <a:p>
            <a:pPr algn="ctr">
              <a:defRPr sz="1425" b="0">
                <a:solidFill>
                  <a:srgbClr val="102638"/>
                </a:solidFill>
              </a:defRPr>
            </a:pPr>
            <a:r>
              <a:rPr sz="1425" b="0" dirty="0">
                <a:solidFill>
                  <a:srgbClr val="102638"/>
                </a:solidFill>
              </a:rPr>
              <a:t>Mutation Score</a:t>
            </a:r>
          </a:p>
        </p:txBody>
      </p:sp>
      <p:sp>
        <p:nvSpPr>
          <p:cNvPr id="25" name="box">
            <a:extLst>
              <a:ext uri="{FF2B5EF4-FFF2-40B4-BE49-F238E27FC236}">
                <a16:creationId xmlns:a16="http://schemas.microsoft.com/office/drawing/2014/main" id="{2DF412F0-8573-4D55-B373-86A6299C7A26}"/>
              </a:ext>
            </a:extLst>
          </p:cNvPr>
          <p:cNvSpPr>
            <a:spLocks noGrp="1"/>
          </p:cNvSpPr>
          <p:nvPr/>
        </p:nvSpPr>
        <p:spPr>
          <a:xfrm>
            <a:off x="4800600" y="3124200"/>
            <a:ext cx="2381250" cy="838200"/>
          </a:xfrm>
          <a:prstGeom prst="rect">
            <a:avLst/>
          </a:prstGeom>
          <a:solidFill>
            <a:srgbClr val="EAF3F7"/>
          </a:solidFill>
          <a:ln w="9525">
            <a:solidFill>
              <a:srgbClr val="29475E"/>
            </a:solidFill>
            <a:prstDash val="solid"/>
          </a:ln>
        </p:spPr>
      </p:sp>
      <p:sp>
        <p:nvSpPr>
          <p:cNvPr id="26" name="text">
            <a:extLst>
              <a:ext uri="{FF2B5EF4-FFF2-40B4-BE49-F238E27FC236}">
                <a16:creationId xmlns:a16="http://schemas.microsoft.com/office/drawing/2014/main" id="{FDB78AD8-AFA6-42CA-BBDD-F4B16E262FEA}"/>
              </a:ext>
            </a:extLst>
          </p:cNvPr>
          <p:cNvSpPr>
            <a:spLocks noGrp="1"/>
          </p:cNvSpPr>
          <p:nvPr/>
        </p:nvSpPr>
        <p:spPr>
          <a:xfrm>
            <a:off x="4914900" y="3257550"/>
            <a:ext cx="2152650" cy="571500"/>
          </a:xfrm>
          <a:prstGeom prst="rect">
            <a:avLst/>
          </a:prstGeom>
          <a:noFill/>
          <a:ln w="0">
            <a:noFill/>
            <a:prstDash val="solid"/>
          </a:ln>
        </p:spPr>
        <p:txBody>
          <a:bodyPr anchor="ctr"/>
          <a:lstStyle/>
          <a:p>
            <a:pPr algn="ctr">
              <a:defRPr sz="1425" b="0">
                <a:solidFill>
                  <a:srgbClr val="102638"/>
                </a:solidFill>
              </a:defRPr>
            </a:pPr>
            <a:r>
              <a:rPr sz="1425" b="0" dirty="0" err="1">
                <a:solidFill>
                  <a:srgbClr val="102638"/>
                </a:solidFill>
              </a:rPr>
              <a:t>Randoop</a:t>
            </a:r>
            <a:endParaRPr sz="1425" b="0" dirty="0">
              <a:solidFill>
                <a:srgbClr val="102638"/>
              </a:solidFill>
            </a:endParaRPr>
          </a:p>
        </p:txBody>
      </p:sp>
      <p:sp>
        <p:nvSpPr>
          <p:cNvPr id="27" name="box">
            <a:extLst>
              <a:ext uri="{FF2B5EF4-FFF2-40B4-BE49-F238E27FC236}">
                <a16:creationId xmlns:a16="http://schemas.microsoft.com/office/drawing/2014/main" id="{F1FE7908-0AC4-4E89-B0F9-3B5A4F6B3799}"/>
              </a:ext>
            </a:extLst>
          </p:cNvPr>
          <p:cNvSpPr>
            <a:spLocks noGrp="1"/>
          </p:cNvSpPr>
          <p:nvPr/>
        </p:nvSpPr>
        <p:spPr>
          <a:xfrm>
            <a:off x="7181850" y="3124200"/>
            <a:ext cx="4495800" cy="838200"/>
          </a:xfrm>
          <a:prstGeom prst="rect">
            <a:avLst/>
          </a:prstGeom>
          <a:solidFill>
            <a:srgbClr val="EAF3F7"/>
          </a:solidFill>
          <a:ln w="9525">
            <a:solidFill>
              <a:srgbClr val="29475E"/>
            </a:solidFill>
            <a:prstDash val="solid"/>
          </a:ln>
        </p:spPr>
      </p:sp>
      <p:sp>
        <p:nvSpPr>
          <p:cNvPr id="28" name="text">
            <a:extLst>
              <a:ext uri="{FF2B5EF4-FFF2-40B4-BE49-F238E27FC236}">
                <a16:creationId xmlns:a16="http://schemas.microsoft.com/office/drawing/2014/main" id="{6A2523E1-54C6-49DE-8C5B-151FAF5B5F3A}"/>
              </a:ext>
            </a:extLst>
          </p:cNvPr>
          <p:cNvSpPr>
            <a:spLocks noGrp="1"/>
          </p:cNvSpPr>
          <p:nvPr/>
        </p:nvSpPr>
        <p:spPr>
          <a:xfrm>
            <a:off x="7296150" y="3257550"/>
            <a:ext cx="4267200" cy="571500"/>
          </a:xfrm>
          <a:prstGeom prst="rect">
            <a:avLst/>
          </a:prstGeom>
          <a:noFill/>
          <a:ln w="0">
            <a:noFill/>
            <a:prstDash val="solid"/>
          </a:ln>
        </p:spPr>
        <p:txBody>
          <a:bodyPr anchor="ctr"/>
          <a:lstStyle/>
          <a:p>
            <a:pPr algn="ctr">
              <a:defRPr sz="1425" b="0">
                <a:solidFill>
                  <a:srgbClr val="102638"/>
                </a:solidFill>
              </a:defRPr>
            </a:pPr>
            <a:r>
              <a:rPr sz="1425" b="0" dirty="0">
                <a:solidFill>
                  <a:srgbClr val="102638"/>
                </a:solidFill>
              </a:rPr>
              <a:t>Paired Wilcoxon • right-tailed</a:t>
            </a:r>
          </a:p>
        </p:txBody>
      </p:sp>
      <p:sp>
        <p:nvSpPr>
          <p:cNvPr id="29" name="box">
            <a:extLst>
              <a:ext uri="{FF2B5EF4-FFF2-40B4-BE49-F238E27FC236}">
                <a16:creationId xmlns:a16="http://schemas.microsoft.com/office/drawing/2014/main" id="{95263322-D38A-4395-91A9-6B7CA5B2ED10}"/>
              </a:ext>
            </a:extLst>
          </p:cNvPr>
          <p:cNvSpPr>
            <a:spLocks noGrp="1"/>
          </p:cNvSpPr>
          <p:nvPr/>
        </p:nvSpPr>
        <p:spPr>
          <a:xfrm>
            <a:off x="514350" y="3962400"/>
            <a:ext cx="1047750" cy="838200"/>
          </a:xfrm>
          <a:prstGeom prst="rect">
            <a:avLst/>
          </a:prstGeom>
          <a:solidFill>
            <a:srgbClr val="0D2940"/>
          </a:solidFill>
          <a:ln w="9525">
            <a:solidFill>
              <a:srgbClr val="29475E"/>
            </a:solidFill>
            <a:prstDash val="solid"/>
          </a:ln>
        </p:spPr>
      </p:sp>
      <p:sp>
        <p:nvSpPr>
          <p:cNvPr id="30" name="text">
            <a:extLst>
              <a:ext uri="{FF2B5EF4-FFF2-40B4-BE49-F238E27FC236}">
                <a16:creationId xmlns:a16="http://schemas.microsoft.com/office/drawing/2014/main" id="{215B6B50-4EAE-4162-AED0-2A38C8FEC4D0}"/>
              </a:ext>
            </a:extLst>
          </p:cNvPr>
          <p:cNvSpPr>
            <a:spLocks noGrp="1"/>
          </p:cNvSpPr>
          <p:nvPr/>
        </p:nvSpPr>
        <p:spPr>
          <a:xfrm>
            <a:off x="628650" y="4095750"/>
            <a:ext cx="819150" cy="571500"/>
          </a:xfrm>
          <a:prstGeom prst="rect">
            <a:avLst/>
          </a:prstGeom>
          <a:noFill/>
          <a:ln w="0">
            <a:noFill/>
            <a:prstDash val="solid"/>
          </a:ln>
        </p:spPr>
        <p:txBody>
          <a:bodyPr anchor="ctr"/>
          <a:lstStyle/>
          <a:p>
            <a:pPr algn="ctr">
              <a:defRPr sz="1650" b="1">
                <a:solidFill>
                  <a:srgbClr val="26D0CE"/>
                </a:solidFill>
              </a:defRPr>
            </a:pPr>
            <a:r>
              <a:rPr sz="1650" b="1" dirty="0">
                <a:solidFill>
                  <a:srgbClr val="26D0CE"/>
                </a:solidFill>
              </a:rPr>
              <a:t>RQ3</a:t>
            </a:r>
          </a:p>
        </p:txBody>
      </p:sp>
      <p:sp>
        <p:nvSpPr>
          <p:cNvPr id="31" name="box">
            <a:extLst>
              <a:ext uri="{FF2B5EF4-FFF2-40B4-BE49-F238E27FC236}">
                <a16:creationId xmlns:a16="http://schemas.microsoft.com/office/drawing/2014/main" id="{8B3B3D8F-22F8-4180-823A-ED18AF85A5EE}"/>
              </a:ext>
            </a:extLst>
          </p:cNvPr>
          <p:cNvSpPr>
            <a:spLocks noGrp="1"/>
          </p:cNvSpPr>
          <p:nvPr/>
        </p:nvSpPr>
        <p:spPr>
          <a:xfrm>
            <a:off x="1562100" y="3962400"/>
            <a:ext cx="3238500" cy="838200"/>
          </a:xfrm>
          <a:prstGeom prst="rect">
            <a:avLst/>
          </a:prstGeom>
          <a:solidFill>
            <a:srgbClr val="0D2940"/>
          </a:solidFill>
          <a:ln w="9525">
            <a:solidFill>
              <a:srgbClr val="29475E"/>
            </a:solidFill>
            <a:prstDash val="solid"/>
          </a:ln>
        </p:spPr>
      </p:sp>
      <p:sp>
        <p:nvSpPr>
          <p:cNvPr id="32" name="text">
            <a:extLst>
              <a:ext uri="{FF2B5EF4-FFF2-40B4-BE49-F238E27FC236}">
                <a16:creationId xmlns:a16="http://schemas.microsoft.com/office/drawing/2014/main" id="{E6AAC5A8-67DC-4EB5-9BB0-1EE48807AFAD}"/>
              </a:ext>
            </a:extLst>
          </p:cNvPr>
          <p:cNvSpPr>
            <a:spLocks noGrp="1"/>
          </p:cNvSpPr>
          <p:nvPr/>
        </p:nvSpPr>
        <p:spPr>
          <a:xfrm>
            <a:off x="1676400" y="4095750"/>
            <a:ext cx="3009900" cy="571500"/>
          </a:xfrm>
          <a:prstGeom prst="rect">
            <a:avLst/>
          </a:prstGeom>
          <a:noFill/>
          <a:ln w="0">
            <a:noFill/>
            <a:prstDash val="solid"/>
          </a:ln>
        </p:spPr>
        <p:txBody>
          <a:bodyPr anchor="ctr"/>
          <a:lstStyle/>
          <a:p>
            <a:pPr algn="ctr">
              <a:defRPr sz="1425" b="0">
                <a:solidFill>
                  <a:srgbClr val="F8FBFD"/>
                </a:solidFill>
              </a:defRPr>
            </a:pPr>
            <a:r>
              <a:rPr sz="1425" b="0">
                <a:solidFill>
                  <a:srgbClr val="F8FBFD"/>
                </a:solidFill>
              </a:rPr>
              <a:t>CC vs Quality</a:t>
            </a:r>
          </a:p>
        </p:txBody>
      </p:sp>
      <p:sp>
        <p:nvSpPr>
          <p:cNvPr id="33" name="box">
            <a:extLst>
              <a:ext uri="{FF2B5EF4-FFF2-40B4-BE49-F238E27FC236}">
                <a16:creationId xmlns:a16="http://schemas.microsoft.com/office/drawing/2014/main" id="{6A68432A-2B61-4949-B7C2-5ADE6A84980D}"/>
              </a:ext>
            </a:extLst>
          </p:cNvPr>
          <p:cNvSpPr>
            <a:spLocks noGrp="1"/>
          </p:cNvSpPr>
          <p:nvPr/>
        </p:nvSpPr>
        <p:spPr>
          <a:xfrm>
            <a:off x="4800600" y="3962400"/>
            <a:ext cx="2381250" cy="838200"/>
          </a:xfrm>
          <a:prstGeom prst="rect">
            <a:avLst/>
          </a:prstGeom>
          <a:solidFill>
            <a:srgbClr val="0D2940"/>
          </a:solidFill>
          <a:ln w="9525">
            <a:solidFill>
              <a:srgbClr val="29475E"/>
            </a:solidFill>
            <a:prstDash val="solid"/>
          </a:ln>
        </p:spPr>
      </p:sp>
      <p:sp>
        <p:nvSpPr>
          <p:cNvPr id="34" name="text">
            <a:extLst>
              <a:ext uri="{FF2B5EF4-FFF2-40B4-BE49-F238E27FC236}">
                <a16:creationId xmlns:a16="http://schemas.microsoft.com/office/drawing/2014/main" id="{9A8A24BC-FEDE-46AB-AFF3-B3C294093CA2}"/>
              </a:ext>
            </a:extLst>
          </p:cNvPr>
          <p:cNvSpPr>
            <a:spLocks noGrp="1"/>
          </p:cNvSpPr>
          <p:nvPr/>
        </p:nvSpPr>
        <p:spPr>
          <a:xfrm>
            <a:off x="4914900" y="4095750"/>
            <a:ext cx="2152650" cy="571500"/>
          </a:xfrm>
          <a:prstGeom prst="rect">
            <a:avLst/>
          </a:prstGeom>
          <a:noFill/>
          <a:ln w="0">
            <a:noFill/>
            <a:prstDash val="solid"/>
          </a:ln>
        </p:spPr>
        <p:txBody>
          <a:bodyPr anchor="ctr"/>
          <a:lstStyle/>
          <a:p>
            <a:pPr algn="ctr">
              <a:defRPr sz="1425" b="0">
                <a:solidFill>
                  <a:srgbClr val="F8FBFD"/>
                </a:solidFill>
              </a:defRPr>
            </a:pPr>
            <a:r>
              <a:rPr sz="1425" b="0">
                <a:solidFill>
                  <a:srgbClr val="F8FBFD"/>
                </a:solidFill>
              </a:rPr>
              <a:t>—</a:t>
            </a:r>
          </a:p>
        </p:txBody>
      </p:sp>
      <p:sp>
        <p:nvSpPr>
          <p:cNvPr id="35" name="box">
            <a:extLst>
              <a:ext uri="{FF2B5EF4-FFF2-40B4-BE49-F238E27FC236}">
                <a16:creationId xmlns:a16="http://schemas.microsoft.com/office/drawing/2014/main" id="{F341A811-E35E-4DCB-B36B-46F4A30ED683}"/>
              </a:ext>
            </a:extLst>
          </p:cNvPr>
          <p:cNvSpPr>
            <a:spLocks noGrp="1"/>
          </p:cNvSpPr>
          <p:nvPr/>
        </p:nvSpPr>
        <p:spPr>
          <a:xfrm>
            <a:off x="7181850" y="3962400"/>
            <a:ext cx="4495800" cy="838200"/>
          </a:xfrm>
          <a:prstGeom prst="rect">
            <a:avLst/>
          </a:prstGeom>
          <a:solidFill>
            <a:srgbClr val="0D2940"/>
          </a:solidFill>
          <a:ln w="9525">
            <a:solidFill>
              <a:srgbClr val="29475E"/>
            </a:solidFill>
            <a:prstDash val="solid"/>
          </a:ln>
        </p:spPr>
      </p:sp>
      <p:sp>
        <p:nvSpPr>
          <p:cNvPr id="36" name="text">
            <a:extLst>
              <a:ext uri="{FF2B5EF4-FFF2-40B4-BE49-F238E27FC236}">
                <a16:creationId xmlns:a16="http://schemas.microsoft.com/office/drawing/2014/main" id="{8134F715-8EBA-45FE-9CEF-8F9D4BC29EC8}"/>
              </a:ext>
            </a:extLst>
          </p:cNvPr>
          <p:cNvSpPr>
            <a:spLocks noGrp="1"/>
          </p:cNvSpPr>
          <p:nvPr/>
        </p:nvSpPr>
        <p:spPr>
          <a:xfrm>
            <a:off x="7296150" y="4095750"/>
            <a:ext cx="4267200" cy="571500"/>
          </a:xfrm>
          <a:prstGeom prst="rect">
            <a:avLst/>
          </a:prstGeom>
          <a:noFill/>
          <a:ln w="0">
            <a:noFill/>
            <a:prstDash val="solid"/>
          </a:ln>
        </p:spPr>
        <p:txBody>
          <a:bodyPr anchor="ctr"/>
          <a:lstStyle/>
          <a:p>
            <a:pPr algn="ctr">
              <a:defRPr sz="1425" b="0">
                <a:solidFill>
                  <a:srgbClr val="F8FBFD"/>
                </a:solidFill>
              </a:defRPr>
            </a:pPr>
            <a:r>
              <a:rPr sz="1425" b="0">
                <a:solidFill>
                  <a:srgbClr val="F8FBFD"/>
                </a:solidFill>
              </a:rPr>
              <a:t>Spearman • left-tailed</a:t>
            </a:r>
          </a:p>
        </p:txBody>
      </p:sp>
      <p:sp>
        <p:nvSpPr>
          <p:cNvPr id="37" name="box">
            <a:extLst>
              <a:ext uri="{FF2B5EF4-FFF2-40B4-BE49-F238E27FC236}">
                <a16:creationId xmlns:a16="http://schemas.microsoft.com/office/drawing/2014/main" id="{15C8C058-D930-4694-B5FA-E4BBD10E5AFB}"/>
              </a:ext>
            </a:extLst>
          </p:cNvPr>
          <p:cNvSpPr>
            <a:spLocks noGrp="1"/>
          </p:cNvSpPr>
          <p:nvPr/>
        </p:nvSpPr>
        <p:spPr>
          <a:xfrm>
            <a:off x="2476500" y="5067300"/>
            <a:ext cx="2857500" cy="342900"/>
          </a:xfrm>
          <a:prstGeom prst="roundRect">
            <a:avLst>
              <a:gd name="adj" fmla="val 22222"/>
            </a:avLst>
          </a:prstGeom>
          <a:solidFill>
            <a:srgbClr val="FFB45A"/>
          </a:solidFill>
          <a:ln w="0">
            <a:noFill/>
            <a:prstDash val="solid"/>
          </a:ln>
        </p:spPr>
      </p:sp>
      <p:sp>
        <p:nvSpPr>
          <p:cNvPr id="38" name="text">
            <a:extLst>
              <a:ext uri="{FF2B5EF4-FFF2-40B4-BE49-F238E27FC236}">
                <a16:creationId xmlns:a16="http://schemas.microsoft.com/office/drawing/2014/main" id="{A09EF5BF-EDC4-448E-9387-2B33E4951DF4}"/>
              </a:ext>
            </a:extLst>
          </p:cNvPr>
          <p:cNvSpPr>
            <a:spLocks noGrp="1"/>
          </p:cNvSpPr>
          <p:nvPr/>
        </p:nvSpPr>
        <p:spPr>
          <a:xfrm>
            <a:off x="2552700" y="5076825"/>
            <a:ext cx="2705100" cy="323850"/>
          </a:xfrm>
          <a:prstGeom prst="rect">
            <a:avLst/>
          </a:prstGeom>
          <a:noFill/>
          <a:ln w="0">
            <a:noFill/>
            <a:prstDash val="solid"/>
          </a:ln>
        </p:spPr>
        <p:txBody>
          <a:bodyPr anchor="ctr"/>
          <a:lstStyle/>
          <a:p>
            <a:pPr algn="ctr">
              <a:defRPr sz="1425" b="1">
                <a:solidFill>
                  <a:srgbClr val="071A2B"/>
                </a:solidFill>
              </a:defRPr>
            </a:pPr>
            <a:r>
              <a:rPr sz="1425" b="1" dirty="0">
                <a:solidFill>
                  <a:srgbClr val="071A2B"/>
                </a:solidFill>
              </a:rPr>
              <a:t>αfamily = 0.05</a:t>
            </a:r>
          </a:p>
        </p:txBody>
      </p:sp>
      <p:sp>
        <p:nvSpPr>
          <p:cNvPr id="39" name="box">
            <a:extLst>
              <a:ext uri="{FF2B5EF4-FFF2-40B4-BE49-F238E27FC236}">
                <a16:creationId xmlns:a16="http://schemas.microsoft.com/office/drawing/2014/main" id="{653DEF43-BF78-4A54-958D-ED833DA44D36}"/>
              </a:ext>
            </a:extLst>
          </p:cNvPr>
          <p:cNvSpPr>
            <a:spLocks noGrp="1"/>
          </p:cNvSpPr>
          <p:nvPr/>
        </p:nvSpPr>
        <p:spPr>
          <a:xfrm>
            <a:off x="5619750" y="5067300"/>
            <a:ext cx="4095750" cy="342900"/>
          </a:xfrm>
          <a:prstGeom prst="roundRect">
            <a:avLst>
              <a:gd name="adj" fmla="val 22222"/>
            </a:avLst>
          </a:prstGeom>
          <a:solidFill>
            <a:srgbClr val="26D0CE"/>
          </a:solidFill>
          <a:ln w="0">
            <a:noFill/>
            <a:prstDash val="solid"/>
          </a:ln>
        </p:spPr>
      </p:sp>
      <p:sp>
        <p:nvSpPr>
          <p:cNvPr id="40" name="text">
            <a:extLst>
              <a:ext uri="{FF2B5EF4-FFF2-40B4-BE49-F238E27FC236}">
                <a16:creationId xmlns:a16="http://schemas.microsoft.com/office/drawing/2014/main" id="{32315B2F-FEE1-4F8A-9D24-4BE164BF222D}"/>
              </a:ext>
            </a:extLst>
          </p:cNvPr>
          <p:cNvSpPr>
            <a:spLocks noGrp="1"/>
          </p:cNvSpPr>
          <p:nvPr/>
        </p:nvSpPr>
        <p:spPr>
          <a:xfrm>
            <a:off x="5695950" y="5076825"/>
            <a:ext cx="3943350" cy="323850"/>
          </a:xfrm>
          <a:prstGeom prst="rect">
            <a:avLst/>
          </a:prstGeom>
          <a:noFill/>
          <a:ln w="0">
            <a:noFill/>
            <a:prstDash val="solid"/>
          </a:ln>
        </p:spPr>
        <p:txBody>
          <a:bodyPr anchor="ctr"/>
          <a:lstStyle/>
          <a:p>
            <a:pPr algn="ctr">
              <a:defRPr sz="1425" b="1">
                <a:solidFill>
                  <a:srgbClr val="071A2B"/>
                </a:solidFill>
              </a:defRPr>
            </a:pPr>
            <a:r>
              <a:rPr sz="1425" b="1">
                <a:solidFill>
                  <a:srgbClr val="071A2B"/>
                </a:solidFill>
              </a:rPr>
              <a:t>HOLM CORRECTION</a:t>
            </a:r>
          </a:p>
        </p:txBody>
      </p:sp>
      <p:sp>
        <p:nvSpPr>
          <p:cNvPr id="41" name="text">
            <a:extLst>
              <a:ext uri="{FF2B5EF4-FFF2-40B4-BE49-F238E27FC236}">
                <a16:creationId xmlns:a16="http://schemas.microsoft.com/office/drawing/2014/main" id="{35A0AF33-8632-41DA-809F-A9669BFE6B43}"/>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42" name="text">
            <a:extLst>
              <a:ext uri="{FF2B5EF4-FFF2-40B4-BE49-F238E27FC236}">
                <a16:creationId xmlns:a16="http://schemas.microsoft.com/office/drawing/2014/main" id="{E08A4ACA-92BD-43F0-BE18-3F68158794FD}"/>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04</a:t>
            </a:r>
          </a:p>
        </p:txBody>
      </p:sp>
    </p:spTree>
    <p:extLst>
      <p:ext uri="{BB962C8B-B14F-4D97-AF65-F5344CB8AC3E}">
        <p14:creationId xmlns:p14="http://schemas.microsoft.com/office/powerpoint/2010/main" val="1360976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41" name="text">
            <a:extLst>
              <a:ext uri="{FF2B5EF4-FFF2-40B4-BE49-F238E27FC236}">
                <a16:creationId xmlns:a16="http://schemas.microsoft.com/office/drawing/2014/main" id="{37B0CF1C-093A-4606-A862-18C8B1E46C22}"/>
              </a:ext>
            </a:extLst>
          </p:cNvPr>
          <p:cNvSpPr>
            <a:spLocks noGrp="1"/>
          </p:cNvSpPr>
          <p:nvPr/>
        </p:nvSpPr>
        <p:spPr>
          <a:xfrm>
            <a:off x="514350" y="323850"/>
            <a:ext cx="457200" cy="266700"/>
          </a:xfrm>
          <a:prstGeom prst="rect">
            <a:avLst/>
          </a:prstGeom>
          <a:noFill/>
          <a:ln w="0">
            <a:noFill/>
            <a:prstDash val="solid"/>
          </a:ln>
        </p:spPr>
        <p:txBody>
          <a:bodyPr anchor="ctr"/>
          <a:lstStyle/>
          <a:p>
            <a:pPr algn="l">
              <a:defRPr sz="1050" b="1">
                <a:solidFill>
                  <a:srgbClr val="26D0CE"/>
                </a:solidFill>
              </a:defRPr>
            </a:pPr>
            <a:r>
              <a:rPr sz="1050" b="1">
                <a:solidFill>
                  <a:srgbClr val="26D0CE"/>
                </a:solidFill>
              </a:rPr>
              <a:t>05</a:t>
            </a:r>
          </a:p>
        </p:txBody>
      </p:sp>
      <p:sp>
        <p:nvSpPr>
          <p:cNvPr id="2" name="text">
            <a:extLst>
              <a:ext uri="{FF2B5EF4-FFF2-40B4-BE49-F238E27FC236}">
                <a16:creationId xmlns:a16="http://schemas.microsoft.com/office/drawing/2014/main" id="{B45B1A69-F316-4397-B6DC-18271A2A3CA0}"/>
              </a:ext>
            </a:extLst>
          </p:cNvPr>
          <p:cNvSpPr>
            <a:spLocks noGrp="1"/>
          </p:cNvSpPr>
          <p:nvPr/>
        </p:nvSpPr>
        <p:spPr>
          <a:xfrm>
            <a:off x="1066800" y="323850"/>
            <a:ext cx="5619750" cy="266700"/>
          </a:xfrm>
          <a:prstGeom prst="rect">
            <a:avLst/>
          </a:prstGeom>
          <a:noFill/>
          <a:ln w="0">
            <a:noFill/>
            <a:prstDash val="solid"/>
          </a:ln>
        </p:spPr>
        <p:txBody>
          <a:bodyPr anchor="ctr"/>
          <a:lstStyle/>
          <a:p>
            <a:pPr algn="l">
              <a:defRPr sz="1050" b="1">
                <a:solidFill>
                  <a:srgbClr val="9FB2C2"/>
                </a:solidFill>
              </a:defRPr>
            </a:pPr>
            <a:r>
              <a:rPr sz="1050" b="1">
                <a:solidFill>
                  <a:srgbClr val="9FB2C2"/>
                </a:solidFill>
              </a:rPr>
              <a:t>EXPERIMENT PIPELINE</a:t>
            </a:r>
          </a:p>
        </p:txBody>
      </p:sp>
      <p:sp>
        <p:nvSpPr>
          <p:cNvPr id="3" name="text">
            <a:extLst>
              <a:ext uri="{FF2B5EF4-FFF2-40B4-BE49-F238E27FC236}">
                <a16:creationId xmlns:a16="http://schemas.microsoft.com/office/drawing/2014/main" id="{8FAD0E8A-50A4-4452-A29D-7920041FD42C}"/>
              </a:ext>
            </a:extLst>
          </p:cNvPr>
          <p:cNvSpPr>
            <a:spLocks noGrp="1"/>
          </p:cNvSpPr>
          <p:nvPr/>
        </p:nvSpPr>
        <p:spPr>
          <a:xfrm>
            <a:off x="514350" y="685800"/>
            <a:ext cx="11144250" cy="590550"/>
          </a:xfrm>
          <a:prstGeom prst="rect">
            <a:avLst/>
          </a:prstGeom>
          <a:noFill/>
          <a:ln w="0">
            <a:noFill/>
            <a:prstDash val="solid"/>
          </a:ln>
        </p:spPr>
        <p:txBody>
          <a:bodyPr anchor="ctr"/>
          <a:lstStyle/>
          <a:p>
            <a:pPr algn="l">
              <a:defRPr sz="2850" b="1">
                <a:solidFill>
                  <a:srgbClr val="F8FBFD"/>
                </a:solidFill>
              </a:defRPr>
            </a:pPr>
            <a:r>
              <a:rPr sz="2850" b="1">
                <a:solidFill>
                  <a:srgbClr val="F8FBFD"/>
                </a:solidFill>
              </a:rPr>
              <a:t>Research pipeline — one response per unit</a:t>
            </a:r>
          </a:p>
        </p:txBody>
      </p:sp>
      <p:sp>
        <p:nvSpPr>
          <p:cNvPr id="4" name="rule">
            <a:extLst>
              <a:ext uri="{FF2B5EF4-FFF2-40B4-BE49-F238E27FC236}">
                <a16:creationId xmlns:a16="http://schemas.microsoft.com/office/drawing/2014/main" id="{C0459B21-8781-4532-A691-F52B5D61BB0F}"/>
              </a:ext>
            </a:extLst>
          </p:cNvPr>
          <p:cNvSpPr>
            <a:spLocks noGrp="1"/>
          </p:cNvSpPr>
          <p:nvPr/>
        </p:nvSpPr>
        <p:spPr>
          <a:xfrm>
            <a:off x="514350" y="1371600"/>
            <a:ext cx="857250" cy="38100"/>
          </a:xfrm>
          <a:prstGeom prst="rect">
            <a:avLst/>
          </a:prstGeom>
          <a:solidFill>
            <a:srgbClr val="26D0CE"/>
          </a:solidFill>
          <a:ln w="0">
            <a:noFill/>
            <a:prstDash val="solid"/>
          </a:ln>
        </p:spPr>
      </p:sp>
      <p:sp>
        <p:nvSpPr>
          <p:cNvPr id="5" name="pipeline-arrow">
            <a:extLst>
              <a:ext uri="{FF2B5EF4-FFF2-40B4-BE49-F238E27FC236}">
                <a16:creationId xmlns:a16="http://schemas.microsoft.com/office/drawing/2014/main" id="{9C23DC3C-1705-4C2E-8218-003E7834B287}"/>
              </a:ext>
            </a:extLst>
          </p:cNvPr>
          <p:cNvSpPr>
            <a:spLocks noGrp="1"/>
          </p:cNvSpPr>
          <p:nvPr/>
        </p:nvSpPr>
        <p:spPr>
          <a:xfrm>
            <a:off x="2133600" y="2533650"/>
            <a:ext cx="323850" cy="419100"/>
          </a:xfrm>
          <a:prstGeom prst="rect">
            <a:avLst/>
          </a:prstGeom>
          <a:noFill/>
          <a:ln w="0">
            <a:noFill/>
            <a:prstDash val="solid"/>
          </a:ln>
        </p:spPr>
        <p:txBody>
          <a:bodyPr anchor="ctr"/>
          <a:lstStyle/>
          <a:p>
            <a:pPr algn="ctr">
              <a:defRPr sz="1875" b="1">
                <a:solidFill>
                  <a:srgbClr val="9FB2C2"/>
                </a:solidFill>
              </a:defRPr>
            </a:pPr>
            <a:r>
              <a:rPr sz="1875" b="1">
                <a:solidFill>
                  <a:srgbClr val="9FB2C2"/>
                </a:solidFill>
              </a:rPr>
              <a:t>→</a:t>
            </a:r>
          </a:p>
        </p:txBody>
      </p:sp>
      <p:sp>
        <p:nvSpPr>
          <p:cNvPr id="6" name="pipeline-arrow">
            <a:extLst>
              <a:ext uri="{FF2B5EF4-FFF2-40B4-BE49-F238E27FC236}">
                <a16:creationId xmlns:a16="http://schemas.microsoft.com/office/drawing/2014/main" id="{A7444661-2D34-4397-BBE8-B206BD2E2D62}"/>
              </a:ext>
            </a:extLst>
          </p:cNvPr>
          <p:cNvSpPr>
            <a:spLocks noGrp="1"/>
          </p:cNvSpPr>
          <p:nvPr/>
        </p:nvSpPr>
        <p:spPr>
          <a:xfrm>
            <a:off x="4057650" y="2533650"/>
            <a:ext cx="323850" cy="419100"/>
          </a:xfrm>
          <a:prstGeom prst="rect">
            <a:avLst/>
          </a:prstGeom>
          <a:noFill/>
          <a:ln w="0">
            <a:noFill/>
            <a:prstDash val="solid"/>
          </a:ln>
        </p:spPr>
        <p:txBody>
          <a:bodyPr anchor="ctr"/>
          <a:lstStyle/>
          <a:p>
            <a:pPr algn="ctr">
              <a:defRPr sz="1875" b="1">
                <a:solidFill>
                  <a:srgbClr val="9FB2C2"/>
                </a:solidFill>
              </a:defRPr>
            </a:pPr>
            <a:r>
              <a:rPr sz="1875" b="1">
                <a:solidFill>
                  <a:srgbClr val="9FB2C2"/>
                </a:solidFill>
              </a:rPr>
              <a:t>→</a:t>
            </a:r>
          </a:p>
        </p:txBody>
      </p:sp>
      <p:sp>
        <p:nvSpPr>
          <p:cNvPr id="7" name="pipeline-arrow">
            <a:extLst>
              <a:ext uri="{FF2B5EF4-FFF2-40B4-BE49-F238E27FC236}">
                <a16:creationId xmlns:a16="http://schemas.microsoft.com/office/drawing/2014/main" id="{F479E654-883D-4266-B6B3-3560E50CE580}"/>
              </a:ext>
            </a:extLst>
          </p:cNvPr>
          <p:cNvSpPr>
            <a:spLocks noGrp="1"/>
          </p:cNvSpPr>
          <p:nvPr/>
        </p:nvSpPr>
        <p:spPr>
          <a:xfrm>
            <a:off x="5981700" y="2533650"/>
            <a:ext cx="323850" cy="419100"/>
          </a:xfrm>
          <a:prstGeom prst="rect">
            <a:avLst/>
          </a:prstGeom>
          <a:noFill/>
          <a:ln w="0">
            <a:noFill/>
            <a:prstDash val="solid"/>
          </a:ln>
        </p:spPr>
        <p:txBody>
          <a:bodyPr anchor="ctr"/>
          <a:lstStyle/>
          <a:p>
            <a:pPr algn="ctr">
              <a:defRPr sz="1875" b="1">
                <a:solidFill>
                  <a:srgbClr val="9FB2C2"/>
                </a:solidFill>
              </a:defRPr>
            </a:pPr>
            <a:r>
              <a:rPr sz="1875" b="1">
                <a:solidFill>
                  <a:srgbClr val="9FB2C2"/>
                </a:solidFill>
              </a:rPr>
              <a:t>→</a:t>
            </a:r>
          </a:p>
        </p:txBody>
      </p:sp>
      <p:sp>
        <p:nvSpPr>
          <p:cNvPr id="8" name="pipeline-arrow">
            <a:extLst>
              <a:ext uri="{FF2B5EF4-FFF2-40B4-BE49-F238E27FC236}">
                <a16:creationId xmlns:a16="http://schemas.microsoft.com/office/drawing/2014/main" id="{7C1BD5A6-BDB7-49AE-B426-5E665185993A}"/>
              </a:ext>
            </a:extLst>
          </p:cNvPr>
          <p:cNvSpPr>
            <a:spLocks noGrp="1"/>
          </p:cNvSpPr>
          <p:nvPr/>
        </p:nvSpPr>
        <p:spPr>
          <a:xfrm>
            <a:off x="7905750" y="2533650"/>
            <a:ext cx="323850" cy="419100"/>
          </a:xfrm>
          <a:prstGeom prst="rect">
            <a:avLst/>
          </a:prstGeom>
          <a:noFill/>
          <a:ln w="0">
            <a:noFill/>
            <a:prstDash val="solid"/>
          </a:ln>
        </p:spPr>
        <p:txBody>
          <a:bodyPr anchor="ctr"/>
          <a:lstStyle/>
          <a:p>
            <a:pPr algn="ctr">
              <a:defRPr sz="1875" b="1">
                <a:solidFill>
                  <a:srgbClr val="9FB2C2"/>
                </a:solidFill>
              </a:defRPr>
            </a:pPr>
            <a:r>
              <a:rPr sz="1875" b="1">
                <a:solidFill>
                  <a:srgbClr val="9FB2C2"/>
                </a:solidFill>
              </a:rPr>
              <a:t>→</a:t>
            </a:r>
          </a:p>
        </p:txBody>
      </p:sp>
      <p:sp>
        <p:nvSpPr>
          <p:cNvPr id="9" name="pipeline-arrow">
            <a:extLst>
              <a:ext uri="{FF2B5EF4-FFF2-40B4-BE49-F238E27FC236}">
                <a16:creationId xmlns:a16="http://schemas.microsoft.com/office/drawing/2014/main" id="{39E18095-251D-4365-B7FB-B7A5E6FFB299}"/>
              </a:ext>
            </a:extLst>
          </p:cNvPr>
          <p:cNvSpPr>
            <a:spLocks noGrp="1"/>
          </p:cNvSpPr>
          <p:nvPr/>
        </p:nvSpPr>
        <p:spPr>
          <a:xfrm>
            <a:off x="9829800" y="2533650"/>
            <a:ext cx="323850" cy="419100"/>
          </a:xfrm>
          <a:prstGeom prst="rect">
            <a:avLst/>
          </a:prstGeom>
          <a:noFill/>
          <a:ln w="0">
            <a:noFill/>
            <a:prstDash val="solid"/>
          </a:ln>
        </p:spPr>
        <p:txBody>
          <a:bodyPr anchor="ctr"/>
          <a:lstStyle/>
          <a:p>
            <a:pPr algn="ctr">
              <a:defRPr sz="1875" b="1">
                <a:solidFill>
                  <a:srgbClr val="9FB2C2"/>
                </a:solidFill>
              </a:defRPr>
            </a:pPr>
            <a:r>
              <a:rPr sz="1875" b="1">
                <a:solidFill>
                  <a:srgbClr val="9FB2C2"/>
                </a:solidFill>
              </a:rPr>
              <a:t>→</a:t>
            </a:r>
          </a:p>
        </p:txBody>
      </p:sp>
      <p:sp>
        <p:nvSpPr>
          <p:cNvPr id="10" name="box">
            <a:extLst>
              <a:ext uri="{FF2B5EF4-FFF2-40B4-BE49-F238E27FC236}">
                <a16:creationId xmlns:a16="http://schemas.microsoft.com/office/drawing/2014/main" id="{C7F2D457-FC80-4388-B1E6-883B65EB55CF}"/>
              </a:ext>
            </a:extLst>
          </p:cNvPr>
          <p:cNvSpPr>
            <a:spLocks noGrp="1"/>
          </p:cNvSpPr>
          <p:nvPr/>
        </p:nvSpPr>
        <p:spPr>
          <a:xfrm>
            <a:off x="514350" y="2000250"/>
            <a:ext cx="1619250" cy="1428750"/>
          </a:xfrm>
          <a:prstGeom prst="roundRect">
            <a:avLst>
              <a:gd name="adj" fmla="val 5333"/>
            </a:avLst>
          </a:prstGeom>
          <a:solidFill>
            <a:srgbClr val="EAF3F7"/>
          </a:solidFill>
          <a:ln w="0">
            <a:noFill/>
            <a:prstDash val="solid"/>
          </a:ln>
        </p:spPr>
      </p:sp>
      <p:sp>
        <p:nvSpPr>
          <p:cNvPr id="11" name="text">
            <a:extLst>
              <a:ext uri="{FF2B5EF4-FFF2-40B4-BE49-F238E27FC236}">
                <a16:creationId xmlns:a16="http://schemas.microsoft.com/office/drawing/2014/main" id="{5E0DA094-FAC4-4C5B-9FBD-F91BAAFBB6C2}"/>
              </a:ext>
            </a:extLst>
          </p:cNvPr>
          <p:cNvSpPr>
            <a:spLocks noGrp="1"/>
          </p:cNvSpPr>
          <p:nvPr/>
        </p:nvSpPr>
        <p:spPr>
          <a:xfrm>
            <a:off x="609600" y="2228850"/>
            <a:ext cx="1428750" cy="3238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DATASET</a:t>
            </a:r>
          </a:p>
        </p:txBody>
      </p:sp>
      <p:sp>
        <p:nvSpPr>
          <p:cNvPr id="12" name="text">
            <a:extLst>
              <a:ext uri="{FF2B5EF4-FFF2-40B4-BE49-F238E27FC236}">
                <a16:creationId xmlns:a16="http://schemas.microsoft.com/office/drawing/2014/main" id="{E30AE94F-D385-4FCE-9C3A-8A963EFFC2DA}"/>
              </a:ext>
            </a:extLst>
          </p:cNvPr>
          <p:cNvSpPr>
            <a:spLocks noGrp="1"/>
          </p:cNvSpPr>
          <p:nvPr/>
        </p:nvSpPr>
        <p:spPr>
          <a:xfrm>
            <a:off x="609600" y="2781300"/>
            <a:ext cx="1428750" cy="361950"/>
          </a:xfrm>
          <a:prstGeom prst="rect">
            <a:avLst/>
          </a:prstGeom>
          <a:noFill/>
          <a:ln w="0">
            <a:noFill/>
            <a:prstDash val="solid"/>
          </a:ln>
        </p:spPr>
        <p:txBody>
          <a:bodyPr anchor="ctr"/>
          <a:lstStyle/>
          <a:p>
            <a:pPr algn="ctr">
              <a:defRPr sz="1650" b="1">
                <a:solidFill>
                  <a:srgbClr val="102638"/>
                </a:solidFill>
              </a:defRPr>
            </a:pPr>
            <a:r>
              <a:rPr sz="1650" b="1">
                <a:solidFill>
                  <a:srgbClr val="102638"/>
                </a:solidFill>
              </a:rPr>
              <a:t>N = 50</a:t>
            </a:r>
          </a:p>
        </p:txBody>
      </p:sp>
      <p:sp>
        <p:nvSpPr>
          <p:cNvPr id="13" name="box">
            <a:extLst>
              <a:ext uri="{FF2B5EF4-FFF2-40B4-BE49-F238E27FC236}">
                <a16:creationId xmlns:a16="http://schemas.microsoft.com/office/drawing/2014/main" id="{CDA8FF36-4ABF-4B7D-9E94-FDBB63F5FF52}"/>
              </a:ext>
            </a:extLst>
          </p:cNvPr>
          <p:cNvSpPr>
            <a:spLocks noGrp="1"/>
          </p:cNvSpPr>
          <p:nvPr/>
        </p:nvSpPr>
        <p:spPr>
          <a:xfrm>
            <a:off x="2438400" y="2000250"/>
            <a:ext cx="1619250" cy="1428750"/>
          </a:xfrm>
          <a:prstGeom prst="roundRect">
            <a:avLst>
              <a:gd name="adj" fmla="val 5333"/>
            </a:avLst>
          </a:prstGeom>
          <a:solidFill>
            <a:srgbClr val="EAF3F7"/>
          </a:solidFill>
          <a:ln w="0">
            <a:noFill/>
            <a:prstDash val="solid"/>
          </a:ln>
        </p:spPr>
      </p:sp>
      <p:sp>
        <p:nvSpPr>
          <p:cNvPr id="14" name="text">
            <a:extLst>
              <a:ext uri="{FF2B5EF4-FFF2-40B4-BE49-F238E27FC236}">
                <a16:creationId xmlns:a16="http://schemas.microsoft.com/office/drawing/2014/main" id="{6ECB1CDC-991E-4E9B-B787-85170208A809}"/>
              </a:ext>
            </a:extLst>
          </p:cNvPr>
          <p:cNvSpPr>
            <a:spLocks noGrp="1"/>
          </p:cNvSpPr>
          <p:nvPr/>
        </p:nvSpPr>
        <p:spPr>
          <a:xfrm>
            <a:off x="2533650" y="2228850"/>
            <a:ext cx="1428750" cy="3238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LIZARD 1.23.0</a:t>
            </a:r>
          </a:p>
        </p:txBody>
      </p:sp>
      <p:sp>
        <p:nvSpPr>
          <p:cNvPr id="15" name="text">
            <a:extLst>
              <a:ext uri="{FF2B5EF4-FFF2-40B4-BE49-F238E27FC236}">
                <a16:creationId xmlns:a16="http://schemas.microsoft.com/office/drawing/2014/main" id="{73A65D92-49B4-4DDA-9EE4-8E0AF47235FF}"/>
              </a:ext>
            </a:extLst>
          </p:cNvPr>
          <p:cNvSpPr>
            <a:spLocks noGrp="1"/>
          </p:cNvSpPr>
          <p:nvPr/>
        </p:nvSpPr>
        <p:spPr>
          <a:xfrm>
            <a:off x="2533650" y="2781300"/>
            <a:ext cx="1428750" cy="361950"/>
          </a:xfrm>
          <a:prstGeom prst="rect">
            <a:avLst/>
          </a:prstGeom>
          <a:noFill/>
          <a:ln w="0">
            <a:noFill/>
            <a:prstDash val="solid"/>
          </a:ln>
        </p:spPr>
        <p:txBody>
          <a:bodyPr anchor="ctr"/>
          <a:lstStyle/>
          <a:p>
            <a:pPr algn="ctr">
              <a:defRPr sz="1650" b="1">
                <a:solidFill>
                  <a:srgbClr val="102638"/>
                </a:solidFill>
              </a:defRPr>
            </a:pPr>
            <a:r>
              <a:rPr sz="1650" b="1">
                <a:solidFill>
                  <a:srgbClr val="102638"/>
                </a:solidFill>
              </a:rPr>
              <a:t>CC FILTER</a:t>
            </a:r>
          </a:p>
        </p:txBody>
      </p:sp>
      <p:sp>
        <p:nvSpPr>
          <p:cNvPr id="16" name="box">
            <a:extLst>
              <a:ext uri="{FF2B5EF4-FFF2-40B4-BE49-F238E27FC236}">
                <a16:creationId xmlns:a16="http://schemas.microsoft.com/office/drawing/2014/main" id="{0BB68563-7FFD-4AB7-AEA2-15F2B47BF5D4}"/>
              </a:ext>
            </a:extLst>
          </p:cNvPr>
          <p:cNvSpPr>
            <a:spLocks noGrp="1"/>
          </p:cNvSpPr>
          <p:nvPr/>
        </p:nvSpPr>
        <p:spPr>
          <a:xfrm>
            <a:off x="4362450" y="2000250"/>
            <a:ext cx="1619250" cy="1428750"/>
          </a:xfrm>
          <a:prstGeom prst="roundRect">
            <a:avLst>
              <a:gd name="adj" fmla="val 5333"/>
            </a:avLst>
          </a:prstGeom>
          <a:solidFill>
            <a:srgbClr val="26D0CE"/>
          </a:solidFill>
          <a:ln w="0">
            <a:noFill/>
            <a:prstDash val="solid"/>
          </a:ln>
        </p:spPr>
      </p:sp>
      <p:sp>
        <p:nvSpPr>
          <p:cNvPr id="17" name="text">
            <a:extLst>
              <a:ext uri="{FF2B5EF4-FFF2-40B4-BE49-F238E27FC236}">
                <a16:creationId xmlns:a16="http://schemas.microsoft.com/office/drawing/2014/main" id="{C8EB69C9-1880-4A14-8EA3-BCE733A5BB44}"/>
              </a:ext>
            </a:extLst>
          </p:cNvPr>
          <p:cNvSpPr>
            <a:spLocks noGrp="1"/>
          </p:cNvSpPr>
          <p:nvPr/>
        </p:nvSpPr>
        <p:spPr>
          <a:xfrm>
            <a:off x="4457700" y="2228850"/>
            <a:ext cx="1428750" cy="3238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GPT-4o</a:t>
            </a:r>
          </a:p>
        </p:txBody>
      </p:sp>
      <p:sp>
        <p:nvSpPr>
          <p:cNvPr id="18" name="text">
            <a:extLst>
              <a:ext uri="{FF2B5EF4-FFF2-40B4-BE49-F238E27FC236}">
                <a16:creationId xmlns:a16="http://schemas.microsoft.com/office/drawing/2014/main" id="{ECDF4410-D815-4C57-B00D-8D46216EB4DC}"/>
              </a:ext>
            </a:extLst>
          </p:cNvPr>
          <p:cNvSpPr>
            <a:spLocks noGrp="1"/>
          </p:cNvSpPr>
          <p:nvPr/>
        </p:nvSpPr>
        <p:spPr>
          <a:xfrm>
            <a:off x="4457700" y="2781300"/>
            <a:ext cx="1428750" cy="361950"/>
          </a:xfrm>
          <a:prstGeom prst="rect">
            <a:avLst/>
          </a:prstGeom>
          <a:noFill/>
          <a:ln w="0">
            <a:noFill/>
            <a:prstDash val="solid"/>
          </a:ln>
        </p:spPr>
        <p:txBody>
          <a:bodyPr anchor="ctr"/>
          <a:lstStyle/>
          <a:p>
            <a:pPr algn="ctr">
              <a:defRPr sz="1650" b="1">
                <a:solidFill>
                  <a:srgbClr val="102638"/>
                </a:solidFill>
              </a:defRPr>
            </a:pPr>
            <a:r>
              <a:rPr sz="1650" b="1">
                <a:solidFill>
                  <a:srgbClr val="102638"/>
                </a:solidFill>
              </a:rPr>
              <a:t>SNAPSHOT</a:t>
            </a:r>
          </a:p>
        </p:txBody>
      </p:sp>
      <p:sp>
        <p:nvSpPr>
          <p:cNvPr id="19" name="box">
            <a:extLst>
              <a:ext uri="{FF2B5EF4-FFF2-40B4-BE49-F238E27FC236}">
                <a16:creationId xmlns:a16="http://schemas.microsoft.com/office/drawing/2014/main" id="{B00B73CB-38E2-4A25-A30B-369E028A0885}"/>
              </a:ext>
            </a:extLst>
          </p:cNvPr>
          <p:cNvSpPr>
            <a:spLocks noGrp="1"/>
          </p:cNvSpPr>
          <p:nvPr/>
        </p:nvSpPr>
        <p:spPr>
          <a:xfrm>
            <a:off x="6286500" y="2000250"/>
            <a:ext cx="1619250" cy="1428750"/>
          </a:xfrm>
          <a:prstGeom prst="roundRect">
            <a:avLst>
              <a:gd name="adj" fmla="val 5333"/>
            </a:avLst>
          </a:prstGeom>
          <a:solidFill>
            <a:srgbClr val="EAF3F7"/>
          </a:solidFill>
          <a:ln w="0">
            <a:noFill/>
            <a:prstDash val="solid"/>
          </a:ln>
        </p:spPr>
      </p:sp>
      <p:sp>
        <p:nvSpPr>
          <p:cNvPr id="20" name="text">
            <a:extLst>
              <a:ext uri="{FF2B5EF4-FFF2-40B4-BE49-F238E27FC236}">
                <a16:creationId xmlns:a16="http://schemas.microsoft.com/office/drawing/2014/main" id="{68BDADCE-D05F-49FB-AF60-17D562E43D84}"/>
              </a:ext>
            </a:extLst>
          </p:cNvPr>
          <p:cNvSpPr>
            <a:spLocks noGrp="1"/>
          </p:cNvSpPr>
          <p:nvPr/>
        </p:nvSpPr>
        <p:spPr>
          <a:xfrm>
            <a:off x="6381750" y="2228850"/>
            <a:ext cx="1428750" cy="3238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GENERATED</a:t>
            </a:r>
          </a:p>
        </p:txBody>
      </p:sp>
      <p:sp>
        <p:nvSpPr>
          <p:cNvPr id="21" name="text">
            <a:extLst>
              <a:ext uri="{FF2B5EF4-FFF2-40B4-BE49-F238E27FC236}">
                <a16:creationId xmlns:a16="http://schemas.microsoft.com/office/drawing/2014/main" id="{24790A28-28DC-4218-B598-D72640EE558A}"/>
              </a:ext>
            </a:extLst>
          </p:cNvPr>
          <p:cNvSpPr>
            <a:spLocks noGrp="1"/>
          </p:cNvSpPr>
          <p:nvPr/>
        </p:nvSpPr>
        <p:spPr>
          <a:xfrm>
            <a:off x="6381750" y="2781300"/>
            <a:ext cx="1428750" cy="361950"/>
          </a:xfrm>
          <a:prstGeom prst="rect">
            <a:avLst/>
          </a:prstGeom>
          <a:noFill/>
          <a:ln w="0">
            <a:noFill/>
            <a:prstDash val="solid"/>
          </a:ln>
        </p:spPr>
        <p:txBody>
          <a:bodyPr anchor="ctr"/>
          <a:lstStyle/>
          <a:p>
            <a:pPr algn="ctr">
              <a:defRPr sz="1650" b="1">
                <a:solidFill>
                  <a:srgbClr val="102638"/>
                </a:solidFill>
              </a:defRPr>
            </a:pPr>
            <a:r>
              <a:rPr sz="1650" b="1">
                <a:solidFill>
                  <a:srgbClr val="102638"/>
                </a:solidFill>
              </a:rPr>
              <a:t>TESTS</a:t>
            </a:r>
          </a:p>
        </p:txBody>
      </p:sp>
      <p:sp>
        <p:nvSpPr>
          <p:cNvPr id="22" name="box">
            <a:extLst>
              <a:ext uri="{FF2B5EF4-FFF2-40B4-BE49-F238E27FC236}">
                <a16:creationId xmlns:a16="http://schemas.microsoft.com/office/drawing/2014/main" id="{2E45AAAF-EA45-4FFF-8243-E2AE8C4C5B68}"/>
              </a:ext>
            </a:extLst>
          </p:cNvPr>
          <p:cNvSpPr>
            <a:spLocks noGrp="1"/>
          </p:cNvSpPr>
          <p:nvPr/>
        </p:nvSpPr>
        <p:spPr>
          <a:xfrm>
            <a:off x="8210550" y="2000250"/>
            <a:ext cx="1619250" cy="1428750"/>
          </a:xfrm>
          <a:prstGeom prst="roundRect">
            <a:avLst>
              <a:gd name="adj" fmla="val 5333"/>
            </a:avLst>
          </a:prstGeom>
          <a:solidFill>
            <a:srgbClr val="EAF3F7"/>
          </a:solidFill>
          <a:ln w="0">
            <a:noFill/>
            <a:prstDash val="solid"/>
          </a:ln>
        </p:spPr>
      </p:sp>
      <p:sp>
        <p:nvSpPr>
          <p:cNvPr id="23" name="text">
            <a:extLst>
              <a:ext uri="{FF2B5EF4-FFF2-40B4-BE49-F238E27FC236}">
                <a16:creationId xmlns:a16="http://schemas.microsoft.com/office/drawing/2014/main" id="{7667B95D-155B-4FDD-A1CA-3ACE0FB965A1}"/>
              </a:ext>
            </a:extLst>
          </p:cNvPr>
          <p:cNvSpPr>
            <a:spLocks noGrp="1"/>
          </p:cNvSpPr>
          <p:nvPr/>
        </p:nvSpPr>
        <p:spPr>
          <a:xfrm>
            <a:off x="8305800" y="2228850"/>
            <a:ext cx="1428750" cy="3238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COVERAGE</a:t>
            </a:r>
          </a:p>
        </p:txBody>
      </p:sp>
      <p:sp>
        <p:nvSpPr>
          <p:cNvPr id="24" name="text">
            <a:extLst>
              <a:ext uri="{FF2B5EF4-FFF2-40B4-BE49-F238E27FC236}">
                <a16:creationId xmlns:a16="http://schemas.microsoft.com/office/drawing/2014/main" id="{EFB9CC22-0B70-4AA7-8A79-4AA0F3D86103}"/>
              </a:ext>
            </a:extLst>
          </p:cNvPr>
          <p:cNvSpPr>
            <a:spLocks noGrp="1"/>
          </p:cNvSpPr>
          <p:nvPr/>
        </p:nvSpPr>
        <p:spPr>
          <a:xfrm>
            <a:off x="8305800" y="2781300"/>
            <a:ext cx="1428750" cy="361950"/>
          </a:xfrm>
          <a:prstGeom prst="rect">
            <a:avLst/>
          </a:prstGeom>
          <a:noFill/>
          <a:ln w="0">
            <a:noFill/>
            <a:prstDash val="solid"/>
          </a:ln>
        </p:spPr>
        <p:txBody>
          <a:bodyPr anchor="ctr"/>
          <a:lstStyle/>
          <a:p>
            <a:pPr algn="ctr">
              <a:defRPr sz="1650" b="1">
                <a:solidFill>
                  <a:srgbClr val="102638"/>
                </a:solidFill>
              </a:defRPr>
            </a:pPr>
            <a:r>
              <a:rPr sz="1650" b="1">
                <a:solidFill>
                  <a:srgbClr val="102638"/>
                </a:solidFill>
              </a:rPr>
              <a:t>+ MUTATION</a:t>
            </a:r>
          </a:p>
        </p:txBody>
      </p:sp>
      <p:sp>
        <p:nvSpPr>
          <p:cNvPr id="25" name="box">
            <a:extLst>
              <a:ext uri="{FF2B5EF4-FFF2-40B4-BE49-F238E27FC236}">
                <a16:creationId xmlns:a16="http://schemas.microsoft.com/office/drawing/2014/main" id="{7A647F30-003D-437C-8D06-D7A507ECFE49}"/>
              </a:ext>
            </a:extLst>
          </p:cNvPr>
          <p:cNvSpPr>
            <a:spLocks noGrp="1"/>
          </p:cNvSpPr>
          <p:nvPr/>
        </p:nvSpPr>
        <p:spPr>
          <a:xfrm>
            <a:off x="10134600" y="2000250"/>
            <a:ext cx="1619250" cy="1428750"/>
          </a:xfrm>
          <a:prstGeom prst="roundRect">
            <a:avLst>
              <a:gd name="adj" fmla="val 5333"/>
            </a:avLst>
          </a:prstGeom>
          <a:solidFill>
            <a:srgbClr val="EAF3F7"/>
          </a:solidFill>
          <a:ln w="0">
            <a:noFill/>
            <a:prstDash val="solid"/>
          </a:ln>
        </p:spPr>
      </p:sp>
      <p:sp>
        <p:nvSpPr>
          <p:cNvPr id="26" name="text">
            <a:extLst>
              <a:ext uri="{FF2B5EF4-FFF2-40B4-BE49-F238E27FC236}">
                <a16:creationId xmlns:a16="http://schemas.microsoft.com/office/drawing/2014/main" id="{7EF6CE3F-03AF-4D63-9B69-BE11A1C6F7AF}"/>
              </a:ext>
            </a:extLst>
          </p:cNvPr>
          <p:cNvSpPr>
            <a:spLocks noGrp="1"/>
          </p:cNvSpPr>
          <p:nvPr/>
        </p:nvSpPr>
        <p:spPr>
          <a:xfrm>
            <a:off x="10229850" y="2228850"/>
            <a:ext cx="1428750" cy="3238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STATISTICAL</a:t>
            </a:r>
          </a:p>
        </p:txBody>
      </p:sp>
      <p:sp>
        <p:nvSpPr>
          <p:cNvPr id="27" name="text">
            <a:extLst>
              <a:ext uri="{FF2B5EF4-FFF2-40B4-BE49-F238E27FC236}">
                <a16:creationId xmlns:a16="http://schemas.microsoft.com/office/drawing/2014/main" id="{07FEC2A6-1D28-42B9-8F88-F29E477E0E8B}"/>
              </a:ext>
            </a:extLst>
          </p:cNvPr>
          <p:cNvSpPr>
            <a:spLocks noGrp="1"/>
          </p:cNvSpPr>
          <p:nvPr/>
        </p:nvSpPr>
        <p:spPr>
          <a:xfrm>
            <a:off x="10229850" y="2781300"/>
            <a:ext cx="1428750" cy="361950"/>
          </a:xfrm>
          <a:prstGeom prst="rect">
            <a:avLst/>
          </a:prstGeom>
          <a:noFill/>
          <a:ln w="0">
            <a:noFill/>
            <a:prstDash val="solid"/>
          </a:ln>
        </p:spPr>
        <p:txBody>
          <a:bodyPr anchor="ctr"/>
          <a:lstStyle/>
          <a:p>
            <a:pPr algn="ctr">
              <a:defRPr sz="1650" b="1">
                <a:solidFill>
                  <a:srgbClr val="102638"/>
                </a:solidFill>
              </a:defRPr>
            </a:pPr>
            <a:r>
              <a:rPr sz="1650" b="1">
                <a:solidFill>
                  <a:srgbClr val="102638"/>
                </a:solidFill>
              </a:rPr>
              <a:t>ANALYSIS</a:t>
            </a:r>
          </a:p>
        </p:txBody>
      </p:sp>
      <p:sp>
        <p:nvSpPr>
          <p:cNvPr id="28" name="box">
            <a:extLst>
              <a:ext uri="{FF2B5EF4-FFF2-40B4-BE49-F238E27FC236}">
                <a16:creationId xmlns:a16="http://schemas.microsoft.com/office/drawing/2014/main" id="{1B159D98-E850-46F6-B428-06948EC63870}"/>
              </a:ext>
            </a:extLst>
          </p:cNvPr>
          <p:cNvSpPr>
            <a:spLocks noGrp="1"/>
          </p:cNvSpPr>
          <p:nvPr/>
        </p:nvSpPr>
        <p:spPr>
          <a:xfrm>
            <a:off x="884674" y="3851868"/>
            <a:ext cx="10020300" cy="1752600"/>
          </a:xfrm>
          <a:prstGeom prst="roundRect">
            <a:avLst>
              <a:gd name="adj" fmla="val 4348"/>
            </a:avLst>
          </a:prstGeom>
          <a:solidFill>
            <a:srgbClr val="0D2940"/>
          </a:solidFill>
          <a:ln w="9525">
            <a:solidFill>
              <a:srgbClr val="29475E"/>
            </a:solidFill>
            <a:prstDash val="solid"/>
          </a:ln>
        </p:spPr>
      </p:sp>
      <p:sp>
        <p:nvSpPr>
          <p:cNvPr id="29" name="text">
            <a:extLst>
              <a:ext uri="{FF2B5EF4-FFF2-40B4-BE49-F238E27FC236}">
                <a16:creationId xmlns:a16="http://schemas.microsoft.com/office/drawing/2014/main" id="{3DDA3708-F892-4811-B148-D1C5F466BB2B}"/>
              </a:ext>
            </a:extLst>
          </p:cNvPr>
          <p:cNvSpPr>
            <a:spLocks noGrp="1"/>
          </p:cNvSpPr>
          <p:nvPr/>
        </p:nvSpPr>
        <p:spPr>
          <a:xfrm>
            <a:off x="1295400" y="4000500"/>
            <a:ext cx="933450" cy="228600"/>
          </a:xfrm>
          <a:prstGeom prst="rect">
            <a:avLst/>
          </a:prstGeom>
          <a:noFill/>
          <a:ln w="0">
            <a:noFill/>
            <a:prstDash val="solid"/>
          </a:ln>
        </p:spPr>
        <p:txBody>
          <a:bodyPr anchor="ctr"/>
          <a:lstStyle/>
          <a:p>
            <a:pPr algn="l">
              <a:defRPr sz="1050" b="1">
                <a:solidFill>
                  <a:srgbClr val="26D0CE"/>
                </a:solidFill>
              </a:defRPr>
            </a:pPr>
            <a:r>
              <a:rPr sz="1050" b="1" dirty="0">
                <a:solidFill>
                  <a:srgbClr val="26D0CE"/>
                </a:solidFill>
              </a:rPr>
              <a:t>MODEL</a:t>
            </a:r>
          </a:p>
        </p:txBody>
      </p:sp>
      <p:sp>
        <p:nvSpPr>
          <p:cNvPr id="30" name="text">
            <a:extLst>
              <a:ext uri="{FF2B5EF4-FFF2-40B4-BE49-F238E27FC236}">
                <a16:creationId xmlns:a16="http://schemas.microsoft.com/office/drawing/2014/main" id="{A709245F-3AE6-47C1-9786-BFF763145D98}"/>
              </a:ext>
            </a:extLst>
          </p:cNvPr>
          <p:cNvSpPr>
            <a:spLocks noGrp="1"/>
          </p:cNvSpPr>
          <p:nvPr/>
        </p:nvSpPr>
        <p:spPr>
          <a:xfrm>
            <a:off x="1905000" y="3914147"/>
            <a:ext cx="3048000" cy="381000"/>
          </a:xfrm>
          <a:prstGeom prst="rect">
            <a:avLst/>
          </a:prstGeom>
          <a:noFill/>
          <a:ln w="0">
            <a:noFill/>
            <a:prstDash val="solid"/>
          </a:ln>
        </p:spPr>
        <p:txBody>
          <a:bodyPr anchor="ctr"/>
          <a:lstStyle/>
          <a:p>
            <a:pPr algn="l">
              <a:defRPr sz="1500" b="1">
                <a:solidFill>
                  <a:srgbClr val="F8FBFD"/>
                </a:solidFill>
              </a:defRPr>
            </a:pPr>
            <a:r>
              <a:rPr sz="1500" b="1" dirty="0">
                <a:solidFill>
                  <a:srgbClr val="F8FBFD"/>
                </a:solidFill>
              </a:rPr>
              <a:t>gpt-4o-2024-08-06</a:t>
            </a:r>
          </a:p>
        </p:txBody>
      </p:sp>
      <p:sp>
        <p:nvSpPr>
          <p:cNvPr id="31" name="text">
            <a:extLst>
              <a:ext uri="{FF2B5EF4-FFF2-40B4-BE49-F238E27FC236}">
                <a16:creationId xmlns:a16="http://schemas.microsoft.com/office/drawing/2014/main" id="{25775FC0-B3B2-4E30-A8A6-BC51AC28E89A}"/>
              </a:ext>
            </a:extLst>
          </p:cNvPr>
          <p:cNvSpPr>
            <a:spLocks noGrp="1"/>
          </p:cNvSpPr>
          <p:nvPr/>
        </p:nvSpPr>
        <p:spPr>
          <a:xfrm>
            <a:off x="4337538" y="3914147"/>
            <a:ext cx="457201" cy="381000"/>
          </a:xfrm>
          <a:prstGeom prst="rect">
            <a:avLst/>
          </a:prstGeom>
          <a:noFill/>
          <a:ln w="0">
            <a:noFill/>
            <a:prstDash val="solid"/>
          </a:ln>
        </p:spPr>
        <p:txBody>
          <a:bodyPr anchor="ctr"/>
          <a:lstStyle/>
          <a:p>
            <a:pPr algn="l">
              <a:defRPr sz="1050" b="1">
                <a:solidFill>
                  <a:srgbClr val="FFB45A"/>
                </a:solidFill>
              </a:defRPr>
            </a:pPr>
            <a:r>
              <a:rPr b="1" dirty="0">
                <a:solidFill>
                  <a:srgbClr val="FFB45A"/>
                </a:solidFill>
              </a:rPr>
              <a:t>API</a:t>
            </a:r>
          </a:p>
        </p:txBody>
      </p:sp>
      <p:sp>
        <p:nvSpPr>
          <p:cNvPr id="32" name="text">
            <a:extLst>
              <a:ext uri="{FF2B5EF4-FFF2-40B4-BE49-F238E27FC236}">
                <a16:creationId xmlns:a16="http://schemas.microsoft.com/office/drawing/2014/main" id="{3E4D3FD5-9602-4B96-94F5-84DF475B0B28}"/>
              </a:ext>
            </a:extLst>
          </p:cNvPr>
          <p:cNvSpPr>
            <a:spLocks noGrp="1"/>
          </p:cNvSpPr>
          <p:nvPr/>
        </p:nvSpPr>
        <p:spPr>
          <a:xfrm>
            <a:off x="4953000" y="3903994"/>
            <a:ext cx="2857500" cy="381000"/>
          </a:xfrm>
          <a:prstGeom prst="rect">
            <a:avLst/>
          </a:prstGeom>
          <a:noFill/>
          <a:ln w="0">
            <a:noFill/>
            <a:prstDash val="solid"/>
          </a:ln>
        </p:spPr>
        <p:txBody>
          <a:bodyPr anchor="ctr"/>
          <a:lstStyle/>
          <a:p>
            <a:pPr algn="l">
              <a:defRPr sz="1425" b="1">
                <a:solidFill>
                  <a:srgbClr val="F8FBFD"/>
                </a:solidFill>
              </a:defRPr>
            </a:pPr>
            <a:r>
              <a:rPr sz="1425" b="1" dirty="0">
                <a:solidFill>
                  <a:srgbClr val="F8FBFD"/>
                </a:solidFill>
              </a:rPr>
              <a:t>POST /v1/responses</a:t>
            </a:r>
          </a:p>
        </p:txBody>
      </p:sp>
      <p:sp>
        <p:nvSpPr>
          <p:cNvPr id="33" name="text">
            <a:extLst>
              <a:ext uri="{FF2B5EF4-FFF2-40B4-BE49-F238E27FC236}">
                <a16:creationId xmlns:a16="http://schemas.microsoft.com/office/drawing/2014/main" id="{6109FAB9-F93F-4624-8CD6-E5D080E77ECF}"/>
              </a:ext>
            </a:extLst>
          </p:cNvPr>
          <p:cNvSpPr>
            <a:spLocks noGrp="1"/>
          </p:cNvSpPr>
          <p:nvPr/>
        </p:nvSpPr>
        <p:spPr>
          <a:xfrm>
            <a:off x="7873930" y="3942094"/>
            <a:ext cx="704850" cy="325106"/>
          </a:xfrm>
          <a:prstGeom prst="rect">
            <a:avLst/>
          </a:prstGeom>
          <a:noFill/>
          <a:ln w="0">
            <a:noFill/>
            <a:prstDash val="solid"/>
          </a:ln>
        </p:spPr>
        <p:txBody>
          <a:bodyPr anchor="ctr"/>
          <a:lstStyle/>
          <a:p>
            <a:pPr algn="l">
              <a:defRPr sz="1050" b="1">
                <a:solidFill>
                  <a:srgbClr val="26D0CE"/>
                </a:solidFill>
              </a:defRPr>
            </a:pPr>
            <a:r>
              <a:rPr sz="1050" b="1" dirty="0">
                <a:solidFill>
                  <a:srgbClr val="26D0CE"/>
                </a:solidFill>
              </a:rPr>
              <a:t>SDK</a:t>
            </a:r>
          </a:p>
        </p:txBody>
      </p:sp>
      <p:sp>
        <p:nvSpPr>
          <p:cNvPr id="34" name="text">
            <a:extLst>
              <a:ext uri="{FF2B5EF4-FFF2-40B4-BE49-F238E27FC236}">
                <a16:creationId xmlns:a16="http://schemas.microsoft.com/office/drawing/2014/main" id="{D20A28CC-2194-4BBB-B137-7A10D75A8AB4}"/>
              </a:ext>
            </a:extLst>
          </p:cNvPr>
          <p:cNvSpPr>
            <a:spLocks noGrp="1"/>
          </p:cNvSpPr>
          <p:nvPr/>
        </p:nvSpPr>
        <p:spPr>
          <a:xfrm>
            <a:off x="8443337" y="3910798"/>
            <a:ext cx="914400" cy="381000"/>
          </a:xfrm>
          <a:prstGeom prst="rect">
            <a:avLst/>
          </a:prstGeom>
          <a:noFill/>
          <a:ln w="0">
            <a:noFill/>
            <a:prstDash val="solid"/>
          </a:ln>
        </p:spPr>
        <p:txBody>
          <a:bodyPr anchor="ctr"/>
          <a:lstStyle/>
          <a:p>
            <a:pPr algn="l">
              <a:defRPr sz="1425" b="1">
                <a:solidFill>
                  <a:srgbClr val="F8FBFD"/>
                </a:solidFill>
              </a:defRPr>
            </a:pPr>
            <a:r>
              <a:rPr sz="1425" b="1" dirty="0">
                <a:solidFill>
                  <a:srgbClr val="F8FBFD"/>
                </a:solidFill>
              </a:rPr>
              <a:t>2.43.0</a:t>
            </a:r>
          </a:p>
        </p:txBody>
      </p:sp>
      <p:sp>
        <p:nvSpPr>
          <p:cNvPr id="35" name="text">
            <a:extLst>
              <a:ext uri="{FF2B5EF4-FFF2-40B4-BE49-F238E27FC236}">
                <a16:creationId xmlns:a16="http://schemas.microsoft.com/office/drawing/2014/main" id="{06DA1D53-E452-421A-B01D-B216E54C88F2}"/>
              </a:ext>
            </a:extLst>
          </p:cNvPr>
          <p:cNvSpPr>
            <a:spLocks noGrp="1"/>
          </p:cNvSpPr>
          <p:nvPr/>
        </p:nvSpPr>
        <p:spPr>
          <a:xfrm>
            <a:off x="1295400" y="4514850"/>
            <a:ext cx="1508090" cy="381000"/>
          </a:xfrm>
          <a:prstGeom prst="rect">
            <a:avLst/>
          </a:prstGeom>
          <a:noFill/>
          <a:ln w="0">
            <a:noFill/>
            <a:prstDash val="solid"/>
          </a:ln>
        </p:spPr>
        <p:txBody>
          <a:bodyPr anchor="ctr"/>
          <a:lstStyle/>
          <a:p>
            <a:pPr algn="l">
              <a:defRPr sz="1050" b="1">
                <a:solidFill>
                  <a:srgbClr val="FFB45A"/>
                </a:solidFill>
              </a:defRPr>
            </a:pPr>
            <a:r>
              <a:rPr sz="1050" b="1" dirty="0">
                <a:solidFill>
                  <a:srgbClr val="FFB45A"/>
                </a:solidFill>
              </a:rPr>
              <a:t>HYPERPARAMETERS</a:t>
            </a:r>
          </a:p>
        </p:txBody>
      </p:sp>
      <p:sp>
        <p:nvSpPr>
          <p:cNvPr id="36" name="text">
            <a:extLst>
              <a:ext uri="{FF2B5EF4-FFF2-40B4-BE49-F238E27FC236}">
                <a16:creationId xmlns:a16="http://schemas.microsoft.com/office/drawing/2014/main" id="{5B2B7743-6BC8-4D1F-B39D-2CFC3B2359BC}"/>
              </a:ext>
            </a:extLst>
          </p:cNvPr>
          <p:cNvSpPr>
            <a:spLocks noGrp="1"/>
          </p:cNvSpPr>
          <p:nvPr/>
        </p:nvSpPr>
        <p:spPr>
          <a:xfrm>
            <a:off x="2533650" y="4398666"/>
            <a:ext cx="8097297" cy="514350"/>
          </a:xfrm>
          <a:prstGeom prst="rect">
            <a:avLst/>
          </a:prstGeom>
          <a:noFill/>
          <a:ln w="0">
            <a:noFill/>
            <a:prstDash val="solid"/>
          </a:ln>
        </p:spPr>
        <p:txBody>
          <a:bodyPr anchor="ctr"/>
          <a:lstStyle/>
          <a:p>
            <a:pPr algn="l">
              <a:defRPr sz="1425" b="1">
                <a:solidFill>
                  <a:srgbClr val="9FB2C2"/>
                </a:solidFill>
              </a:defRPr>
            </a:pPr>
            <a:r>
              <a:rPr sz="1425" b="1" dirty="0">
                <a:solidFill>
                  <a:srgbClr val="9FB2C2"/>
                </a:solidFill>
              </a:rPr>
              <a:t>temperature=0.2  •  </a:t>
            </a:r>
            <a:r>
              <a:rPr sz="1425" b="1" dirty="0" err="1">
                <a:solidFill>
                  <a:srgbClr val="9FB2C2"/>
                </a:solidFill>
              </a:rPr>
              <a:t>top_p</a:t>
            </a:r>
            <a:r>
              <a:rPr sz="1425" b="1" dirty="0">
                <a:solidFill>
                  <a:srgbClr val="9FB2C2"/>
                </a:solidFill>
              </a:rPr>
              <a:t>=1  •  </a:t>
            </a:r>
            <a:r>
              <a:rPr sz="1425" b="1" dirty="0" err="1">
                <a:solidFill>
                  <a:srgbClr val="9FB2C2"/>
                </a:solidFill>
              </a:rPr>
              <a:t>max_output_tokens</a:t>
            </a:r>
            <a:r>
              <a:rPr sz="1425" b="1" dirty="0">
                <a:solidFill>
                  <a:srgbClr val="9FB2C2"/>
                </a:solidFill>
              </a:rPr>
              <a:t>=2048</a:t>
            </a:r>
          </a:p>
        </p:txBody>
      </p:sp>
      <p:sp>
        <p:nvSpPr>
          <p:cNvPr id="37" name="text">
            <a:extLst>
              <a:ext uri="{FF2B5EF4-FFF2-40B4-BE49-F238E27FC236}">
                <a16:creationId xmlns:a16="http://schemas.microsoft.com/office/drawing/2014/main" id="{1470359C-C5C8-4519-9B13-55A3F6EA5DAE}"/>
              </a:ext>
            </a:extLst>
          </p:cNvPr>
          <p:cNvSpPr>
            <a:spLocks noGrp="1"/>
          </p:cNvSpPr>
          <p:nvPr/>
        </p:nvSpPr>
        <p:spPr>
          <a:xfrm>
            <a:off x="1295400" y="5029200"/>
            <a:ext cx="990600" cy="532144"/>
          </a:xfrm>
          <a:prstGeom prst="rect">
            <a:avLst/>
          </a:prstGeom>
          <a:noFill/>
          <a:ln w="0">
            <a:noFill/>
            <a:prstDash val="solid"/>
          </a:ln>
        </p:spPr>
        <p:txBody>
          <a:bodyPr anchor="ctr"/>
          <a:lstStyle/>
          <a:p>
            <a:pPr algn="l">
              <a:defRPr sz="1050" b="1">
                <a:solidFill>
                  <a:srgbClr val="26D0CE"/>
                </a:solidFill>
              </a:defRPr>
            </a:pPr>
            <a:r>
              <a:rPr sz="1050" b="1" dirty="0">
                <a:solidFill>
                  <a:srgbClr val="26D0CE"/>
                </a:solidFill>
              </a:rPr>
              <a:t>PROMPT</a:t>
            </a:r>
          </a:p>
        </p:txBody>
      </p:sp>
      <p:sp>
        <p:nvSpPr>
          <p:cNvPr id="38" name="text">
            <a:extLst>
              <a:ext uri="{FF2B5EF4-FFF2-40B4-BE49-F238E27FC236}">
                <a16:creationId xmlns:a16="http://schemas.microsoft.com/office/drawing/2014/main" id="{982A0A7F-F3C1-49C2-8258-C3AE6D37FD0F}"/>
              </a:ext>
            </a:extLst>
          </p:cNvPr>
          <p:cNvSpPr>
            <a:spLocks noGrp="1"/>
          </p:cNvSpPr>
          <p:nvPr/>
        </p:nvSpPr>
        <p:spPr>
          <a:xfrm>
            <a:off x="1905000" y="4973306"/>
            <a:ext cx="8572500" cy="608344"/>
          </a:xfrm>
          <a:prstGeom prst="rect">
            <a:avLst/>
          </a:prstGeom>
          <a:noFill/>
          <a:ln w="0">
            <a:noFill/>
            <a:prstDash val="solid"/>
          </a:ln>
        </p:spPr>
        <p:txBody>
          <a:bodyPr anchor="ctr"/>
          <a:lstStyle/>
          <a:p>
            <a:pPr algn="l">
              <a:defRPr sz="1350" b="1">
                <a:solidFill>
                  <a:srgbClr val="F8FBFD"/>
                </a:solidFill>
              </a:defRPr>
            </a:pPr>
            <a:r>
              <a:rPr sz="1350" b="1" dirty="0">
                <a:solidFill>
                  <a:srgbClr val="F8FBFD"/>
                </a:solidFill>
              </a:rPr>
              <a:t>fixed  •  one response/unit  •  no content regeneration</a:t>
            </a:r>
          </a:p>
        </p:txBody>
      </p:sp>
      <p:sp>
        <p:nvSpPr>
          <p:cNvPr id="39" name="text">
            <a:extLst>
              <a:ext uri="{FF2B5EF4-FFF2-40B4-BE49-F238E27FC236}">
                <a16:creationId xmlns:a16="http://schemas.microsoft.com/office/drawing/2014/main" id="{8F6E95F0-C55B-4259-AA91-21D930974ECB}"/>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40" name="text">
            <a:extLst>
              <a:ext uri="{FF2B5EF4-FFF2-40B4-BE49-F238E27FC236}">
                <a16:creationId xmlns:a16="http://schemas.microsoft.com/office/drawing/2014/main" id="{84866B60-023E-4012-A242-E0ABBB186AF7}"/>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05</a:t>
            </a:r>
          </a:p>
        </p:txBody>
      </p:sp>
    </p:spTree>
    <p:extLst>
      <p:ext uri="{BB962C8B-B14F-4D97-AF65-F5344CB8AC3E}">
        <p14:creationId xmlns:p14="http://schemas.microsoft.com/office/powerpoint/2010/main" val="513508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22" name="text">
            <a:extLst>
              <a:ext uri="{FF2B5EF4-FFF2-40B4-BE49-F238E27FC236}">
                <a16:creationId xmlns:a16="http://schemas.microsoft.com/office/drawing/2014/main" id="{52EB5075-7963-4AD8-BEC7-469A97BF4251}"/>
              </a:ext>
            </a:extLst>
          </p:cNvPr>
          <p:cNvSpPr>
            <a:spLocks noGrp="1"/>
          </p:cNvSpPr>
          <p:nvPr/>
        </p:nvSpPr>
        <p:spPr>
          <a:xfrm>
            <a:off x="514350" y="323850"/>
            <a:ext cx="457200" cy="266700"/>
          </a:xfrm>
          <a:prstGeom prst="rect">
            <a:avLst/>
          </a:prstGeom>
          <a:noFill/>
          <a:ln w="0">
            <a:noFill/>
            <a:prstDash val="solid"/>
          </a:ln>
        </p:spPr>
        <p:txBody>
          <a:bodyPr anchor="ctr"/>
          <a:lstStyle/>
          <a:p>
            <a:pPr algn="l">
              <a:defRPr sz="1050" b="1">
                <a:solidFill>
                  <a:srgbClr val="26D0CE"/>
                </a:solidFill>
              </a:defRPr>
            </a:pPr>
            <a:r>
              <a:rPr sz="1050" b="1">
                <a:solidFill>
                  <a:srgbClr val="26D0CE"/>
                </a:solidFill>
              </a:rPr>
              <a:t>06</a:t>
            </a:r>
          </a:p>
        </p:txBody>
      </p:sp>
      <p:sp>
        <p:nvSpPr>
          <p:cNvPr id="2" name="text">
            <a:extLst>
              <a:ext uri="{FF2B5EF4-FFF2-40B4-BE49-F238E27FC236}">
                <a16:creationId xmlns:a16="http://schemas.microsoft.com/office/drawing/2014/main" id="{6F41B5CA-B9E1-41AD-8457-05FC79A641EF}"/>
              </a:ext>
            </a:extLst>
          </p:cNvPr>
          <p:cNvSpPr>
            <a:spLocks noGrp="1"/>
          </p:cNvSpPr>
          <p:nvPr/>
        </p:nvSpPr>
        <p:spPr>
          <a:xfrm>
            <a:off x="1066800" y="323850"/>
            <a:ext cx="5619750" cy="266700"/>
          </a:xfrm>
          <a:prstGeom prst="rect">
            <a:avLst/>
          </a:prstGeom>
          <a:noFill/>
          <a:ln w="0">
            <a:noFill/>
            <a:prstDash val="solid"/>
          </a:ln>
        </p:spPr>
        <p:txBody>
          <a:bodyPr anchor="ctr"/>
          <a:lstStyle/>
          <a:p>
            <a:pPr algn="l">
              <a:defRPr sz="1050" b="1">
                <a:solidFill>
                  <a:srgbClr val="9FB2C2"/>
                </a:solidFill>
              </a:defRPr>
            </a:pPr>
            <a:r>
              <a:rPr sz="1050" b="1">
                <a:solidFill>
                  <a:srgbClr val="9FB2C2"/>
                </a:solidFill>
              </a:rPr>
              <a:t>DATASET + BASELINE</a:t>
            </a:r>
          </a:p>
        </p:txBody>
      </p:sp>
      <p:sp>
        <p:nvSpPr>
          <p:cNvPr id="3" name="text">
            <a:extLst>
              <a:ext uri="{FF2B5EF4-FFF2-40B4-BE49-F238E27FC236}">
                <a16:creationId xmlns:a16="http://schemas.microsoft.com/office/drawing/2014/main" id="{95030B3F-09CD-4ED3-8873-958FAB297BA5}"/>
              </a:ext>
            </a:extLst>
          </p:cNvPr>
          <p:cNvSpPr>
            <a:spLocks noGrp="1"/>
          </p:cNvSpPr>
          <p:nvPr/>
        </p:nvSpPr>
        <p:spPr>
          <a:xfrm>
            <a:off x="514350" y="685800"/>
            <a:ext cx="11144250" cy="590550"/>
          </a:xfrm>
          <a:prstGeom prst="rect">
            <a:avLst/>
          </a:prstGeom>
          <a:noFill/>
          <a:ln w="0">
            <a:noFill/>
            <a:prstDash val="solid"/>
          </a:ln>
        </p:spPr>
        <p:txBody>
          <a:bodyPr anchor="ctr"/>
          <a:lstStyle/>
          <a:p>
            <a:pPr algn="l">
              <a:defRPr sz="2850" b="1">
                <a:solidFill>
                  <a:srgbClr val="F8FBFD"/>
                </a:solidFill>
              </a:defRPr>
            </a:pPr>
            <a:r>
              <a:rPr sz="2850" b="1">
                <a:solidFill>
                  <a:srgbClr val="F8FBFD"/>
                </a:solidFill>
              </a:rPr>
              <a:t>Dataset và Java baseline</a:t>
            </a:r>
          </a:p>
        </p:txBody>
      </p:sp>
      <p:sp>
        <p:nvSpPr>
          <p:cNvPr id="4" name="rule">
            <a:extLst>
              <a:ext uri="{FF2B5EF4-FFF2-40B4-BE49-F238E27FC236}">
                <a16:creationId xmlns:a16="http://schemas.microsoft.com/office/drawing/2014/main" id="{2D07F716-D11C-404C-9F7C-7DFFBD73D9A2}"/>
              </a:ext>
            </a:extLst>
          </p:cNvPr>
          <p:cNvSpPr>
            <a:spLocks noGrp="1"/>
          </p:cNvSpPr>
          <p:nvPr/>
        </p:nvSpPr>
        <p:spPr>
          <a:xfrm>
            <a:off x="514350" y="1371600"/>
            <a:ext cx="857250" cy="38100"/>
          </a:xfrm>
          <a:prstGeom prst="rect">
            <a:avLst/>
          </a:prstGeom>
          <a:solidFill>
            <a:srgbClr val="26D0CE"/>
          </a:solidFill>
          <a:ln w="0">
            <a:noFill/>
            <a:prstDash val="solid"/>
          </a:ln>
        </p:spPr>
      </p:sp>
      <p:sp>
        <p:nvSpPr>
          <p:cNvPr id="5" name="text">
            <a:extLst>
              <a:ext uri="{FF2B5EF4-FFF2-40B4-BE49-F238E27FC236}">
                <a16:creationId xmlns:a16="http://schemas.microsoft.com/office/drawing/2014/main" id="{FB62F7E2-938F-4CF1-B3C7-04A1C48F1547}"/>
              </a:ext>
            </a:extLst>
          </p:cNvPr>
          <p:cNvSpPr>
            <a:spLocks noGrp="1"/>
          </p:cNvSpPr>
          <p:nvPr/>
        </p:nvSpPr>
        <p:spPr>
          <a:xfrm>
            <a:off x="5791200" y="2362200"/>
            <a:ext cx="609600" cy="419100"/>
          </a:xfrm>
          <a:prstGeom prst="rect">
            <a:avLst/>
          </a:prstGeom>
          <a:noFill/>
          <a:ln w="0">
            <a:noFill/>
            <a:prstDash val="solid"/>
          </a:ln>
        </p:spPr>
        <p:txBody>
          <a:bodyPr anchor="ctr"/>
          <a:lstStyle/>
          <a:p>
            <a:pPr algn="ctr">
              <a:defRPr sz="2100" b="1">
                <a:solidFill>
                  <a:srgbClr val="9FB2C2"/>
                </a:solidFill>
              </a:defRPr>
            </a:pPr>
            <a:r>
              <a:rPr sz="2100" b="1">
                <a:solidFill>
                  <a:srgbClr val="9FB2C2"/>
                </a:solidFill>
              </a:rPr>
              <a:t>↓</a:t>
            </a:r>
          </a:p>
        </p:txBody>
      </p:sp>
      <p:sp>
        <p:nvSpPr>
          <p:cNvPr id="6" name="text">
            <a:extLst>
              <a:ext uri="{FF2B5EF4-FFF2-40B4-BE49-F238E27FC236}">
                <a16:creationId xmlns:a16="http://schemas.microsoft.com/office/drawing/2014/main" id="{E40F1AC9-ABE6-443A-B465-0F34E9EEE790}"/>
              </a:ext>
            </a:extLst>
          </p:cNvPr>
          <p:cNvSpPr>
            <a:spLocks noGrp="1"/>
          </p:cNvSpPr>
          <p:nvPr/>
        </p:nvSpPr>
        <p:spPr>
          <a:xfrm>
            <a:off x="4095750" y="2952750"/>
            <a:ext cx="609600" cy="419100"/>
          </a:xfrm>
          <a:prstGeom prst="rect">
            <a:avLst/>
          </a:prstGeom>
          <a:noFill/>
          <a:ln w="0">
            <a:noFill/>
            <a:prstDash val="solid"/>
          </a:ln>
        </p:spPr>
        <p:txBody>
          <a:bodyPr anchor="ctr"/>
          <a:lstStyle/>
          <a:p>
            <a:pPr algn="ctr">
              <a:defRPr sz="2100" b="1">
                <a:solidFill>
                  <a:srgbClr val="9FB2C2"/>
                </a:solidFill>
              </a:defRPr>
            </a:pPr>
            <a:r>
              <a:rPr sz="2100" b="1">
                <a:solidFill>
                  <a:srgbClr val="9FB2C2"/>
                </a:solidFill>
              </a:rPr>
              <a:t>↙</a:t>
            </a:r>
          </a:p>
        </p:txBody>
      </p:sp>
      <p:sp>
        <p:nvSpPr>
          <p:cNvPr id="7" name="text">
            <a:extLst>
              <a:ext uri="{FF2B5EF4-FFF2-40B4-BE49-F238E27FC236}">
                <a16:creationId xmlns:a16="http://schemas.microsoft.com/office/drawing/2014/main" id="{3D4D3880-6CF3-4C1F-95E7-95A19B127A5E}"/>
              </a:ext>
            </a:extLst>
          </p:cNvPr>
          <p:cNvSpPr>
            <a:spLocks noGrp="1"/>
          </p:cNvSpPr>
          <p:nvPr/>
        </p:nvSpPr>
        <p:spPr>
          <a:xfrm>
            <a:off x="7486650" y="2952750"/>
            <a:ext cx="609600" cy="419100"/>
          </a:xfrm>
          <a:prstGeom prst="rect">
            <a:avLst/>
          </a:prstGeom>
          <a:noFill/>
          <a:ln w="0">
            <a:noFill/>
            <a:prstDash val="solid"/>
          </a:ln>
        </p:spPr>
        <p:txBody>
          <a:bodyPr anchor="ctr"/>
          <a:lstStyle/>
          <a:p>
            <a:pPr algn="ctr">
              <a:defRPr sz="2100" b="1">
                <a:solidFill>
                  <a:srgbClr val="9FB2C2"/>
                </a:solidFill>
              </a:defRPr>
            </a:pPr>
            <a:r>
              <a:rPr sz="2100" b="1">
                <a:solidFill>
                  <a:srgbClr val="9FB2C2"/>
                </a:solidFill>
              </a:rPr>
              <a:t>↘</a:t>
            </a:r>
          </a:p>
        </p:txBody>
      </p:sp>
      <p:sp>
        <p:nvSpPr>
          <p:cNvPr id="8" name="box">
            <a:extLst>
              <a:ext uri="{FF2B5EF4-FFF2-40B4-BE49-F238E27FC236}">
                <a16:creationId xmlns:a16="http://schemas.microsoft.com/office/drawing/2014/main" id="{C4A6D6F3-844B-45A2-8146-5D5DC13C5083}"/>
              </a:ext>
            </a:extLst>
          </p:cNvPr>
          <p:cNvSpPr>
            <a:spLocks noGrp="1"/>
          </p:cNvSpPr>
          <p:nvPr/>
        </p:nvSpPr>
        <p:spPr>
          <a:xfrm>
            <a:off x="4667250" y="1752600"/>
            <a:ext cx="2857500" cy="742950"/>
          </a:xfrm>
          <a:prstGeom prst="roundRect">
            <a:avLst>
              <a:gd name="adj" fmla="val 10256"/>
            </a:avLst>
          </a:prstGeom>
          <a:solidFill>
            <a:srgbClr val="26D0CE"/>
          </a:solidFill>
          <a:ln w="0">
            <a:noFill/>
            <a:prstDash val="solid"/>
          </a:ln>
        </p:spPr>
      </p:sp>
      <p:sp>
        <p:nvSpPr>
          <p:cNvPr id="9" name="text">
            <a:extLst>
              <a:ext uri="{FF2B5EF4-FFF2-40B4-BE49-F238E27FC236}">
                <a16:creationId xmlns:a16="http://schemas.microsoft.com/office/drawing/2014/main" id="{72EB119B-AF38-494F-939C-B2C758E73B47}"/>
              </a:ext>
            </a:extLst>
          </p:cNvPr>
          <p:cNvSpPr>
            <a:spLocks noGrp="1"/>
          </p:cNvSpPr>
          <p:nvPr/>
        </p:nvSpPr>
        <p:spPr>
          <a:xfrm>
            <a:off x="4857750" y="1905000"/>
            <a:ext cx="2476500" cy="438150"/>
          </a:xfrm>
          <a:prstGeom prst="rect">
            <a:avLst/>
          </a:prstGeom>
          <a:noFill/>
          <a:ln w="0">
            <a:noFill/>
            <a:prstDash val="solid"/>
          </a:ln>
        </p:spPr>
        <p:txBody>
          <a:bodyPr anchor="ctr"/>
          <a:lstStyle/>
          <a:p>
            <a:pPr algn="ctr">
              <a:defRPr sz="1800" b="1">
                <a:solidFill>
                  <a:srgbClr val="071A2B"/>
                </a:solidFill>
              </a:defRPr>
            </a:pPr>
            <a:r>
              <a:rPr sz="1800" b="1">
                <a:solidFill>
                  <a:srgbClr val="071A2B"/>
                </a:solidFill>
              </a:rPr>
              <a:t>DATASET  •  N = 50</a:t>
            </a:r>
          </a:p>
        </p:txBody>
      </p:sp>
      <p:sp>
        <p:nvSpPr>
          <p:cNvPr id="10" name="box">
            <a:extLst>
              <a:ext uri="{FF2B5EF4-FFF2-40B4-BE49-F238E27FC236}">
                <a16:creationId xmlns:a16="http://schemas.microsoft.com/office/drawing/2014/main" id="{26EDD4B4-B4F2-4369-B15C-DE5DDAE50C82}"/>
              </a:ext>
            </a:extLst>
          </p:cNvPr>
          <p:cNvSpPr>
            <a:spLocks noGrp="1"/>
          </p:cNvSpPr>
          <p:nvPr/>
        </p:nvSpPr>
        <p:spPr>
          <a:xfrm>
            <a:off x="1619250" y="3238500"/>
            <a:ext cx="3714750" cy="1123950"/>
          </a:xfrm>
          <a:prstGeom prst="roundRect">
            <a:avLst>
              <a:gd name="adj" fmla="val 6780"/>
            </a:avLst>
          </a:prstGeom>
          <a:solidFill>
            <a:srgbClr val="0D2940"/>
          </a:solidFill>
          <a:ln w="9525">
            <a:solidFill>
              <a:srgbClr val="29475E"/>
            </a:solidFill>
            <a:prstDash val="solid"/>
          </a:ln>
        </p:spPr>
      </p:sp>
      <p:sp>
        <p:nvSpPr>
          <p:cNvPr id="11" name="text">
            <a:extLst>
              <a:ext uri="{FF2B5EF4-FFF2-40B4-BE49-F238E27FC236}">
                <a16:creationId xmlns:a16="http://schemas.microsoft.com/office/drawing/2014/main" id="{382F344B-074A-490B-92C3-C19E2E2C7822}"/>
              </a:ext>
            </a:extLst>
          </p:cNvPr>
          <p:cNvSpPr>
            <a:spLocks noGrp="1"/>
          </p:cNvSpPr>
          <p:nvPr/>
        </p:nvSpPr>
        <p:spPr>
          <a:xfrm>
            <a:off x="1847850" y="3409950"/>
            <a:ext cx="3257550" cy="381000"/>
          </a:xfrm>
          <a:prstGeom prst="rect">
            <a:avLst/>
          </a:prstGeom>
          <a:noFill/>
          <a:ln w="0">
            <a:noFill/>
            <a:prstDash val="solid"/>
          </a:ln>
        </p:spPr>
        <p:txBody>
          <a:bodyPr anchor="ctr"/>
          <a:lstStyle/>
          <a:p>
            <a:pPr algn="ctr">
              <a:defRPr sz="1950" b="1">
                <a:solidFill>
                  <a:srgbClr val="F8FBFD"/>
                </a:solidFill>
              </a:defRPr>
            </a:pPr>
            <a:r>
              <a:rPr sz="1950" b="1">
                <a:solidFill>
                  <a:srgbClr val="F8FBFD"/>
                </a:solidFill>
              </a:rPr>
              <a:t>JAVA  •  25</a:t>
            </a:r>
          </a:p>
        </p:txBody>
      </p:sp>
      <p:sp>
        <p:nvSpPr>
          <p:cNvPr id="12" name="text">
            <a:extLst>
              <a:ext uri="{FF2B5EF4-FFF2-40B4-BE49-F238E27FC236}">
                <a16:creationId xmlns:a16="http://schemas.microsoft.com/office/drawing/2014/main" id="{FFA93BDA-AD29-4F52-88F9-81EAC791E22E}"/>
              </a:ext>
            </a:extLst>
          </p:cNvPr>
          <p:cNvSpPr>
            <a:spLocks noGrp="1"/>
          </p:cNvSpPr>
          <p:nvPr/>
        </p:nvSpPr>
        <p:spPr>
          <a:xfrm>
            <a:off x="1847850" y="3886200"/>
            <a:ext cx="3257550" cy="266700"/>
          </a:xfrm>
          <a:prstGeom prst="rect">
            <a:avLst/>
          </a:prstGeom>
          <a:noFill/>
          <a:ln w="0">
            <a:noFill/>
            <a:prstDash val="solid"/>
          </a:ln>
        </p:spPr>
        <p:txBody>
          <a:bodyPr anchor="ctr"/>
          <a:lstStyle/>
          <a:p>
            <a:pPr algn="ctr">
              <a:defRPr sz="1275" b="1">
                <a:solidFill>
                  <a:srgbClr val="FFB45A"/>
                </a:solidFill>
              </a:defRPr>
            </a:pPr>
            <a:r>
              <a:rPr sz="1275" b="1">
                <a:solidFill>
                  <a:srgbClr val="FFB45A"/>
                </a:solidFill>
              </a:rPr>
              <a:t>Randoop 4.3.4 baseline</a:t>
            </a:r>
          </a:p>
        </p:txBody>
      </p:sp>
      <p:sp>
        <p:nvSpPr>
          <p:cNvPr id="13" name="box">
            <a:extLst>
              <a:ext uri="{FF2B5EF4-FFF2-40B4-BE49-F238E27FC236}">
                <a16:creationId xmlns:a16="http://schemas.microsoft.com/office/drawing/2014/main" id="{D54AB8DF-1D5B-4A5F-BC9D-3B445BA47855}"/>
              </a:ext>
            </a:extLst>
          </p:cNvPr>
          <p:cNvSpPr>
            <a:spLocks noGrp="1"/>
          </p:cNvSpPr>
          <p:nvPr/>
        </p:nvSpPr>
        <p:spPr>
          <a:xfrm>
            <a:off x="6858000" y="3238500"/>
            <a:ext cx="3714750" cy="1123950"/>
          </a:xfrm>
          <a:prstGeom prst="roundRect">
            <a:avLst>
              <a:gd name="adj" fmla="val 6780"/>
            </a:avLst>
          </a:prstGeom>
          <a:solidFill>
            <a:srgbClr val="EAF3F7"/>
          </a:solidFill>
          <a:ln w="0">
            <a:noFill/>
            <a:prstDash val="solid"/>
          </a:ln>
        </p:spPr>
      </p:sp>
      <p:sp>
        <p:nvSpPr>
          <p:cNvPr id="14" name="text">
            <a:extLst>
              <a:ext uri="{FF2B5EF4-FFF2-40B4-BE49-F238E27FC236}">
                <a16:creationId xmlns:a16="http://schemas.microsoft.com/office/drawing/2014/main" id="{C333D4FD-A264-4C89-A77D-0BE41CC38E13}"/>
              </a:ext>
            </a:extLst>
          </p:cNvPr>
          <p:cNvSpPr>
            <a:spLocks noGrp="1"/>
          </p:cNvSpPr>
          <p:nvPr/>
        </p:nvSpPr>
        <p:spPr>
          <a:xfrm>
            <a:off x="7086600" y="3409950"/>
            <a:ext cx="3257550" cy="381000"/>
          </a:xfrm>
          <a:prstGeom prst="rect">
            <a:avLst/>
          </a:prstGeom>
          <a:noFill/>
          <a:ln w="0">
            <a:noFill/>
            <a:prstDash val="solid"/>
          </a:ln>
        </p:spPr>
        <p:txBody>
          <a:bodyPr anchor="ctr"/>
          <a:lstStyle/>
          <a:p>
            <a:pPr algn="ctr">
              <a:defRPr sz="1950" b="1">
                <a:solidFill>
                  <a:srgbClr val="102638"/>
                </a:solidFill>
              </a:defRPr>
            </a:pPr>
            <a:r>
              <a:rPr sz="1950" b="1">
                <a:solidFill>
                  <a:srgbClr val="102638"/>
                </a:solidFill>
              </a:rPr>
              <a:t>PYTHON  •  25</a:t>
            </a:r>
          </a:p>
        </p:txBody>
      </p:sp>
      <p:sp>
        <p:nvSpPr>
          <p:cNvPr id="15" name="text">
            <a:extLst>
              <a:ext uri="{FF2B5EF4-FFF2-40B4-BE49-F238E27FC236}">
                <a16:creationId xmlns:a16="http://schemas.microsoft.com/office/drawing/2014/main" id="{B30CFFBC-70E5-438B-8550-69539F6ACBAA}"/>
              </a:ext>
            </a:extLst>
          </p:cNvPr>
          <p:cNvSpPr>
            <a:spLocks noGrp="1"/>
          </p:cNvSpPr>
          <p:nvPr/>
        </p:nvSpPr>
        <p:spPr>
          <a:xfrm>
            <a:off x="7086600" y="3886200"/>
            <a:ext cx="3257550" cy="266700"/>
          </a:xfrm>
          <a:prstGeom prst="rect">
            <a:avLst/>
          </a:prstGeom>
          <a:noFill/>
          <a:ln w="0">
            <a:noFill/>
            <a:prstDash val="solid"/>
          </a:ln>
        </p:spPr>
        <p:txBody>
          <a:bodyPr anchor="ctr"/>
          <a:lstStyle/>
          <a:p>
            <a:pPr algn="ctr">
              <a:defRPr sz="1275" b="1">
                <a:solidFill>
                  <a:srgbClr val="0FA3A1"/>
                </a:solidFill>
              </a:defRPr>
            </a:pPr>
            <a:r>
              <a:rPr sz="1275" b="1">
                <a:solidFill>
                  <a:srgbClr val="0FA3A1"/>
                </a:solidFill>
              </a:rPr>
              <a:t>No traditional baseline</a:t>
            </a:r>
          </a:p>
        </p:txBody>
      </p:sp>
      <p:sp>
        <p:nvSpPr>
          <p:cNvPr id="16" name="box">
            <a:extLst>
              <a:ext uri="{FF2B5EF4-FFF2-40B4-BE49-F238E27FC236}">
                <a16:creationId xmlns:a16="http://schemas.microsoft.com/office/drawing/2014/main" id="{3CA0CA91-C00F-40EC-93F5-615A95A71735}"/>
              </a:ext>
            </a:extLst>
          </p:cNvPr>
          <p:cNvSpPr>
            <a:spLocks noGrp="1"/>
          </p:cNvSpPr>
          <p:nvPr/>
        </p:nvSpPr>
        <p:spPr>
          <a:xfrm>
            <a:off x="3581400" y="4629150"/>
            <a:ext cx="5029200" cy="342900"/>
          </a:xfrm>
          <a:prstGeom prst="roundRect">
            <a:avLst>
              <a:gd name="adj" fmla="val 22222"/>
            </a:avLst>
          </a:prstGeom>
          <a:solidFill>
            <a:srgbClr val="26D0CE"/>
          </a:solidFill>
          <a:ln w="0">
            <a:noFill/>
            <a:prstDash val="solid"/>
          </a:ln>
        </p:spPr>
      </p:sp>
      <p:sp>
        <p:nvSpPr>
          <p:cNvPr id="17" name="text">
            <a:extLst>
              <a:ext uri="{FF2B5EF4-FFF2-40B4-BE49-F238E27FC236}">
                <a16:creationId xmlns:a16="http://schemas.microsoft.com/office/drawing/2014/main" id="{27BEB60D-1662-4331-8BFD-15C04BCA8BFF}"/>
              </a:ext>
            </a:extLst>
          </p:cNvPr>
          <p:cNvSpPr>
            <a:spLocks noGrp="1"/>
          </p:cNvSpPr>
          <p:nvPr/>
        </p:nvSpPr>
        <p:spPr>
          <a:xfrm>
            <a:off x="3657600" y="4638675"/>
            <a:ext cx="4876800" cy="323850"/>
          </a:xfrm>
          <a:prstGeom prst="rect">
            <a:avLst/>
          </a:prstGeom>
          <a:noFill/>
          <a:ln w="0">
            <a:noFill/>
            <a:prstDash val="solid"/>
          </a:ln>
        </p:spPr>
        <p:txBody>
          <a:bodyPr anchor="ctr"/>
          <a:lstStyle/>
          <a:p>
            <a:pPr algn="ctr">
              <a:defRPr sz="1350" b="1">
                <a:solidFill>
                  <a:srgbClr val="071A2B"/>
                </a:solidFill>
              </a:defRPr>
            </a:pPr>
            <a:r>
              <a:rPr sz="1350" b="1">
                <a:solidFill>
                  <a:srgbClr val="071A2B"/>
                </a:solidFill>
              </a:rPr>
              <a:t>5 ≤ CC ≤ 15  •  Lizard 1.23.0</a:t>
            </a:r>
          </a:p>
        </p:txBody>
      </p:sp>
      <p:sp>
        <p:nvSpPr>
          <p:cNvPr id="18" name="box">
            <a:extLst>
              <a:ext uri="{FF2B5EF4-FFF2-40B4-BE49-F238E27FC236}">
                <a16:creationId xmlns:a16="http://schemas.microsoft.com/office/drawing/2014/main" id="{30DFE461-D64C-4DF7-B7B4-1E3E5BF9E592}"/>
              </a:ext>
            </a:extLst>
          </p:cNvPr>
          <p:cNvSpPr>
            <a:spLocks noGrp="1"/>
          </p:cNvSpPr>
          <p:nvPr/>
        </p:nvSpPr>
        <p:spPr>
          <a:xfrm>
            <a:off x="1657350" y="5219700"/>
            <a:ext cx="8877300" cy="571500"/>
          </a:xfrm>
          <a:prstGeom prst="roundRect">
            <a:avLst>
              <a:gd name="adj" fmla="val 13333"/>
            </a:avLst>
          </a:prstGeom>
          <a:solidFill>
            <a:srgbClr val="0D2940"/>
          </a:solidFill>
          <a:ln w="9525">
            <a:solidFill>
              <a:srgbClr val="FFB45A"/>
            </a:solidFill>
            <a:prstDash val="solid"/>
          </a:ln>
        </p:spPr>
      </p:sp>
      <p:sp>
        <p:nvSpPr>
          <p:cNvPr id="19" name="text">
            <a:extLst>
              <a:ext uri="{FF2B5EF4-FFF2-40B4-BE49-F238E27FC236}">
                <a16:creationId xmlns:a16="http://schemas.microsoft.com/office/drawing/2014/main" id="{34C0AD8C-17F1-47D2-BD6E-0427B3685867}"/>
              </a:ext>
            </a:extLst>
          </p:cNvPr>
          <p:cNvSpPr>
            <a:spLocks noGrp="1"/>
          </p:cNvSpPr>
          <p:nvPr/>
        </p:nvSpPr>
        <p:spPr>
          <a:xfrm>
            <a:off x="1924050" y="5314950"/>
            <a:ext cx="8343900" cy="381000"/>
          </a:xfrm>
          <a:prstGeom prst="rect">
            <a:avLst/>
          </a:prstGeom>
          <a:noFill/>
          <a:ln w="0">
            <a:noFill/>
            <a:prstDash val="solid"/>
          </a:ln>
        </p:spPr>
        <p:txBody>
          <a:bodyPr anchor="ctr"/>
          <a:lstStyle/>
          <a:p>
            <a:pPr algn="ctr">
              <a:defRPr sz="1275" b="1">
                <a:solidFill>
                  <a:srgbClr val="F8FBFD"/>
                </a:solidFill>
              </a:defRPr>
            </a:pPr>
            <a:r>
              <a:rPr sz="1275" b="1" dirty="0">
                <a:solidFill>
                  <a:srgbClr val="F8FBFD"/>
                </a:solidFill>
              </a:rPr>
              <a:t>PROVENANCE GATE  •  source  •  commit SHA  •  hash</a:t>
            </a:r>
          </a:p>
        </p:txBody>
      </p:sp>
      <p:sp>
        <p:nvSpPr>
          <p:cNvPr id="20" name="text">
            <a:extLst>
              <a:ext uri="{FF2B5EF4-FFF2-40B4-BE49-F238E27FC236}">
                <a16:creationId xmlns:a16="http://schemas.microsoft.com/office/drawing/2014/main" id="{2FC787A7-1BA7-469C-87C8-A424F261C916}"/>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21" name="text">
            <a:extLst>
              <a:ext uri="{FF2B5EF4-FFF2-40B4-BE49-F238E27FC236}">
                <a16:creationId xmlns:a16="http://schemas.microsoft.com/office/drawing/2014/main" id="{60AACB9E-ECF9-4C90-B0F5-872B5CAF9249}"/>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06</a:t>
            </a:r>
          </a:p>
        </p:txBody>
      </p:sp>
    </p:spTree>
    <p:extLst>
      <p:ext uri="{BB962C8B-B14F-4D97-AF65-F5344CB8AC3E}">
        <p14:creationId xmlns:p14="http://schemas.microsoft.com/office/powerpoint/2010/main" val="612091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34" name="text">
            <a:extLst>
              <a:ext uri="{FF2B5EF4-FFF2-40B4-BE49-F238E27FC236}">
                <a16:creationId xmlns:a16="http://schemas.microsoft.com/office/drawing/2014/main" id="{DF429A13-C9C0-493E-9E82-6AE4673CE040}"/>
              </a:ext>
            </a:extLst>
          </p:cNvPr>
          <p:cNvSpPr>
            <a:spLocks noGrp="1"/>
          </p:cNvSpPr>
          <p:nvPr/>
        </p:nvSpPr>
        <p:spPr>
          <a:xfrm>
            <a:off x="514350" y="323850"/>
            <a:ext cx="457200" cy="266700"/>
          </a:xfrm>
          <a:prstGeom prst="rect">
            <a:avLst/>
          </a:prstGeom>
          <a:noFill/>
          <a:ln w="0">
            <a:noFill/>
            <a:prstDash val="solid"/>
          </a:ln>
        </p:spPr>
        <p:txBody>
          <a:bodyPr anchor="ctr"/>
          <a:lstStyle/>
          <a:p>
            <a:pPr algn="l">
              <a:defRPr sz="1050" b="1">
                <a:solidFill>
                  <a:srgbClr val="26D0CE"/>
                </a:solidFill>
              </a:defRPr>
            </a:pPr>
            <a:r>
              <a:rPr sz="1050" b="1">
                <a:solidFill>
                  <a:srgbClr val="26D0CE"/>
                </a:solidFill>
              </a:rPr>
              <a:t>07</a:t>
            </a:r>
          </a:p>
        </p:txBody>
      </p:sp>
      <p:sp>
        <p:nvSpPr>
          <p:cNvPr id="2" name="text">
            <a:extLst>
              <a:ext uri="{FF2B5EF4-FFF2-40B4-BE49-F238E27FC236}">
                <a16:creationId xmlns:a16="http://schemas.microsoft.com/office/drawing/2014/main" id="{B9E5935C-0BB6-4BCE-8C43-C601B1EDD9D9}"/>
              </a:ext>
            </a:extLst>
          </p:cNvPr>
          <p:cNvSpPr>
            <a:spLocks noGrp="1"/>
          </p:cNvSpPr>
          <p:nvPr/>
        </p:nvSpPr>
        <p:spPr>
          <a:xfrm>
            <a:off x="1066800" y="323850"/>
            <a:ext cx="5619750" cy="266700"/>
          </a:xfrm>
          <a:prstGeom prst="rect">
            <a:avLst/>
          </a:prstGeom>
          <a:noFill/>
          <a:ln w="0">
            <a:noFill/>
            <a:prstDash val="solid"/>
          </a:ln>
        </p:spPr>
        <p:txBody>
          <a:bodyPr anchor="ctr"/>
          <a:lstStyle/>
          <a:p>
            <a:pPr algn="l">
              <a:defRPr sz="1050" b="1">
                <a:solidFill>
                  <a:srgbClr val="9FB2C2"/>
                </a:solidFill>
              </a:defRPr>
            </a:pPr>
            <a:r>
              <a:rPr sz="1050" b="1">
                <a:solidFill>
                  <a:srgbClr val="9FB2C2"/>
                </a:solidFill>
              </a:rPr>
              <a:t>WORK PACKAGES</a:t>
            </a:r>
          </a:p>
        </p:txBody>
      </p:sp>
      <p:sp>
        <p:nvSpPr>
          <p:cNvPr id="3" name="text">
            <a:extLst>
              <a:ext uri="{FF2B5EF4-FFF2-40B4-BE49-F238E27FC236}">
                <a16:creationId xmlns:a16="http://schemas.microsoft.com/office/drawing/2014/main" id="{2AD75B73-5CB7-49E7-AE6D-12EE480C70AB}"/>
              </a:ext>
            </a:extLst>
          </p:cNvPr>
          <p:cNvSpPr>
            <a:spLocks noGrp="1"/>
          </p:cNvSpPr>
          <p:nvPr/>
        </p:nvSpPr>
        <p:spPr>
          <a:xfrm>
            <a:off x="514350" y="685800"/>
            <a:ext cx="11144250" cy="590550"/>
          </a:xfrm>
          <a:prstGeom prst="rect">
            <a:avLst/>
          </a:prstGeom>
          <a:noFill/>
          <a:ln w="0">
            <a:noFill/>
            <a:prstDash val="solid"/>
          </a:ln>
        </p:spPr>
        <p:txBody>
          <a:bodyPr anchor="ctr"/>
          <a:lstStyle/>
          <a:p>
            <a:pPr algn="l">
              <a:defRPr sz="2850" b="1">
                <a:solidFill>
                  <a:srgbClr val="F8FBFD"/>
                </a:solidFill>
              </a:defRPr>
            </a:pPr>
            <a:r>
              <a:rPr sz="2850" b="1" dirty="0" err="1">
                <a:solidFill>
                  <a:srgbClr val="F8FBFD"/>
                </a:solidFill>
              </a:rPr>
              <a:t>Một</a:t>
            </a:r>
            <a:r>
              <a:rPr sz="2850" b="1" dirty="0">
                <a:solidFill>
                  <a:srgbClr val="F8FBFD"/>
                </a:solidFill>
              </a:rPr>
              <a:t> </a:t>
            </a:r>
            <a:r>
              <a:rPr sz="2850" b="1" dirty="0" err="1">
                <a:solidFill>
                  <a:srgbClr val="F8FBFD"/>
                </a:solidFill>
              </a:rPr>
              <a:t>người</a:t>
            </a:r>
            <a:r>
              <a:rPr sz="2850" b="1" dirty="0">
                <a:solidFill>
                  <a:srgbClr val="F8FBFD"/>
                </a:solidFill>
              </a:rPr>
              <a:t> — </a:t>
            </a:r>
            <a:r>
              <a:rPr sz="2850" b="1" dirty="0" err="1">
                <a:solidFill>
                  <a:srgbClr val="F8FBFD"/>
                </a:solidFill>
              </a:rPr>
              <a:t>một</a:t>
            </a:r>
            <a:r>
              <a:rPr sz="2850" b="1" dirty="0">
                <a:solidFill>
                  <a:srgbClr val="F8FBFD"/>
                </a:solidFill>
              </a:rPr>
              <a:t> </a:t>
            </a:r>
            <a:r>
              <a:rPr sz="2850" b="1" dirty="0" err="1">
                <a:solidFill>
                  <a:srgbClr val="F8FBFD"/>
                </a:solidFill>
              </a:rPr>
              <a:t>phần</a:t>
            </a:r>
            <a:endParaRPr sz="2850" b="1" dirty="0">
              <a:solidFill>
                <a:srgbClr val="F8FBFD"/>
              </a:solidFill>
            </a:endParaRPr>
          </a:p>
        </p:txBody>
      </p:sp>
      <p:sp>
        <p:nvSpPr>
          <p:cNvPr id="4" name="rule">
            <a:extLst>
              <a:ext uri="{FF2B5EF4-FFF2-40B4-BE49-F238E27FC236}">
                <a16:creationId xmlns:a16="http://schemas.microsoft.com/office/drawing/2014/main" id="{7BCCC294-5B0F-440D-BADB-862B2A78B730}"/>
              </a:ext>
            </a:extLst>
          </p:cNvPr>
          <p:cNvSpPr>
            <a:spLocks noGrp="1"/>
          </p:cNvSpPr>
          <p:nvPr/>
        </p:nvSpPr>
        <p:spPr>
          <a:xfrm>
            <a:off x="514350" y="1371600"/>
            <a:ext cx="857250" cy="38100"/>
          </a:xfrm>
          <a:prstGeom prst="rect">
            <a:avLst/>
          </a:prstGeom>
          <a:solidFill>
            <a:srgbClr val="26D0CE"/>
          </a:solidFill>
          <a:ln w="0">
            <a:noFill/>
            <a:prstDash val="solid"/>
          </a:ln>
        </p:spPr>
      </p:sp>
      <p:sp>
        <p:nvSpPr>
          <p:cNvPr id="5" name="text">
            <a:extLst>
              <a:ext uri="{FF2B5EF4-FFF2-40B4-BE49-F238E27FC236}">
                <a16:creationId xmlns:a16="http://schemas.microsoft.com/office/drawing/2014/main" id="{9FE60F9F-F458-4432-9EE7-AA7E8FCAA21E}"/>
              </a:ext>
            </a:extLst>
          </p:cNvPr>
          <p:cNvSpPr>
            <a:spLocks noGrp="1"/>
          </p:cNvSpPr>
          <p:nvPr/>
        </p:nvSpPr>
        <p:spPr>
          <a:xfrm>
            <a:off x="2324100" y="2838450"/>
            <a:ext cx="419100" cy="438150"/>
          </a:xfrm>
          <a:prstGeom prst="rect">
            <a:avLst/>
          </a:prstGeom>
          <a:noFill/>
          <a:ln w="0">
            <a:noFill/>
            <a:prstDash val="solid"/>
          </a:ln>
        </p:spPr>
        <p:txBody>
          <a:bodyPr anchor="ctr"/>
          <a:lstStyle/>
          <a:p>
            <a:pPr algn="ctr">
              <a:defRPr sz="1950" b="1">
                <a:solidFill>
                  <a:srgbClr val="9FB2C2"/>
                </a:solidFill>
              </a:defRPr>
            </a:pPr>
            <a:r>
              <a:rPr sz="1950" b="1">
                <a:solidFill>
                  <a:srgbClr val="9FB2C2"/>
                </a:solidFill>
              </a:rPr>
              <a:t>→</a:t>
            </a:r>
          </a:p>
        </p:txBody>
      </p:sp>
      <p:sp>
        <p:nvSpPr>
          <p:cNvPr id="6" name="text">
            <a:extLst>
              <a:ext uri="{FF2B5EF4-FFF2-40B4-BE49-F238E27FC236}">
                <a16:creationId xmlns:a16="http://schemas.microsoft.com/office/drawing/2014/main" id="{C3966903-CD92-4917-B3E9-225F0FCCEEBB}"/>
              </a:ext>
            </a:extLst>
          </p:cNvPr>
          <p:cNvSpPr>
            <a:spLocks noGrp="1"/>
          </p:cNvSpPr>
          <p:nvPr/>
        </p:nvSpPr>
        <p:spPr>
          <a:xfrm>
            <a:off x="4552950" y="2838450"/>
            <a:ext cx="419100" cy="438150"/>
          </a:xfrm>
          <a:prstGeom prst="rect">
            <a:avLst/>
          </a:prstGeom>
          <a:noFill/>
          <a:ln w="0">
            <a:noFill/>
            <a:prstDash val="solid"/>
          </a:ln>
        </p:spPr>
        <p:txBody>
          <a:bodyPr anchor="ctr"/>
          <a:lstStyle/>
          <a:p>
            <a:pPr algn="ctr">
              <a:defRPr sz="1950" b="1">
                <a:solidFill>
                  <a:srgbClr val="9FB2C2"/>
                </a:solidFill>
              </a:defRPr>
            </a:pPr>
            <a:r>
              <a:rPr sz="1950" b="1" dirty="0">
                <a:solidFill>
                  <a:srgbClr val="9FB2C2"/>
                </a:solidFill>
              </a:rPr>
              <a:t>→</a:t>
            </a:r>
          </a:p>
        </p:txBody>
      </p:sp>
      <p:sp>
        <p:nvSpPr>
          <p:cNvPr id="7" name="text">
            <a:extLst>
              <a:ext uri="{FF2B5EF4-FFF2-40B4-BE49-F238E27FC236}">
                <a16:creationId xmlns:a16="http://schemas.microsoft.com/office/drawing/2014/main" id="{9C3EAC51-FEDA-4308-A5A8-1263E674A8D6}"/>
              </a:ext>
            </a:extLst>
          </p:cNvPr>
          <p:cNvSpPr>
            <a:spLocks noGrp="1"/>
          </p:cNvSpPr>
          <p:nvPr/>
        </p:nvSpPr>
        <p:spPr>
          <a:xfrm>
            <a:off x="6781800" y="2838450"/>
            <a:ext cx="419100" cy="438150"/>
          </a:xfrm>
          <a:prstGeom prst="rect">
            <a:avLst/>
          </a:prstGeom>
          <a:noFill/>
          <a:ln w="0">
            <a:noFill/>
            <a:prstDash val="solid"/>
          </a:ln>
        </p:spPr>
        <p:txBody>
          <a:bodyPr anchor="ctr"/>
          <a:lstStyle/>
          <a:p>
            <a:pPr algn="ctr">
              <a:defRPr sz="1950" b="1">
                <a:solidFill>
                  <a:srgbClr val="9FB2C2"/>
                </a:solidFill>
              </a:defRPr>
            </a:pPr>
            <a:r>
              <a:rPr sz="1950" b="1">
                <a:solidFill>
                  <a:srgbClr val="9FB2C2"/>
                </a:solidFill>
              </a:rPr>
              <a:t>→</a:t>
            </a:r>
          </a:p>
        </p:txBody>
      </p:sp>
      <p:sp>
        <p:nvSpPr>
          <p:cNvPr id="8" name="text">
            <a:extLst>
              <a:ext uri="{FF2B5EF4-FFF2-40B4-BE49-F238E27FC236}">
                <a16:creationId xmlns:a16="http://schemas.microsoft.com/office/drawing/2014/main" id="{3712F204-2F78-421D-AA7F-8868CD02315C}"/>
              </a:ext>
            </a:extLst>
          </p:cNvPr>
          <p:cNvSpPr>
            <a:spLocks noGrp="1"/>
          </p:cNvSpPr>
          <p:nvPr/>
        </p:nvSpPr>
        <p:spPr>
          <a:xfrm>
            <a:off x="9010650" y="2838450"/>
            <a:ext cx="419100" cy="438150"/>
          </a:xfrm>
          <a:prstGeom prst="rect">
            <a:avLst/>
          </a:prstGeom>
          <a:noFill/>
          <a:ln w="0">
            <a:noFill/>
            <a:prstDash val="solid"/>
          </a:ln>
        </p:spPr>
        <p:txBody>
          <a:bodyPr anchor="ctr"/>
          <a:lstStyle/>
          <a:p>
            <a:pPr algn="ctr">
              <a:defRPr sz="1950" b="1">
                <a:solidFill>
                  <a:srgbClr val="9FB2C2"/>
                </a:solidFill>
              </a:defRPr>
            </a:pPr>
            <a:r>
              <a:rPr sz="1950" b="1">
                <a:solidFill>
                  <a:srgbClr val="9FB2C2"/>
                </a:solidFill>
              </a:rPr>
              <a:t>→</a:t>
            </a:r>
          </a:p>
        </p:txBody>
      </p:sp>
      <p:sp>
        <p:nvSpPr>
          <p:cNvPr id="9" name="box">
            <a:extLst>
              <a:ext uri="{FF2B5EF4-FFF2-40B4-BE49-F238E27FC236}">
                <a16:creationId xmlns:a16="http://schemas.microsoft.com/office/drawing/2014/main" id="{69A1E806-21C6-4B4F-AB62-0518AFCE4585}"/>
              </a:ext>
            </a:extLst>
          </p:cNvPr>
          <p:cNvSpPr>
            <a:spLocks noGrp="1"/>
          </p:cNvSpPr>
          <p:nvPr/>
        </p:nvSpPr>
        <p:spPr>
          <a:xfrm>
            <a:off x="514350" y="2095500"/>
            <a:ext cx="1962150" cy="1809750"/>
          </a:xfrm>
          <a:prstGeom prst="roundRect">
            <a:avLst>
              <a:gd name="adj" fmla="val 4211"/>
            </a:avLst>
          </a:prstGeom>
          <a:solidFill>
            <a:srgbClr val="0D2940"/>
          </a:solidFill>
          <a:ln w="9525">
            <a:solidFill>
              <a:srgbClr val="29475E"/>
            </a:solidFill>
            <a:prstDash val="solid"/>
          </a:ln>
        </p:spPr>
      </p:sp>
      <p:sp>
        <p:nvSpPr>
          <p:cNvPr id="10" name="text">
            <a:extLst>
              <a:ext uri="{FF2B5EF4-FFF2-40B4-BE49-F238E27FC236}">
                <a16:creationId xmlns:a16="http://schemas.microsoft.com/office/drawing/2014/main" id="{0AA3BF38-CD03-4CD6-B786-DF1668000AE8}"/>
              </a:ext>
            </a:extLst>
          </p:cNvPr>
          <p:cNvSpPr>
            <a:spLocks noGrp="1"/>
          </p:cNvSpPr>
          <p:nvPr/>
        </p:nvSpPr>
        <p:spPr>
          <a:xfrm>
            <a:off x="647700" y="2305050"/>
            <a:ext cx="1695450" cy="285750"/>
          </a:xfrm>
          <a:prstGeom prst="rect">
            <a:avLst/>
          </a:prstGeom>
          <a:noFill/>
          <a:ln w="0">
            <a:noFill/>
            <a:prstDash val="solid"/>
          </a:ln>
        </p:spPr>
        <p:txBody>
          <a:bodyPr anchor="ctr"/>
          <a:lstStyle/>
          <a:p>
            <a:pPr algn="ctr">
              <a:defRPr sz="1425" b="1">
                <a:solidFill>
                  <a:srgbClr val="26D0CE"/>
                </a:solidFill>
              </a:defRPr>
            </a:pPr>
            <a:r>
              <a:rPr sz="1425" b="1">
                <a:solidFill>
                  <a:srgbClr val="26D0CE"/>
                </a:solidFill>
              </a:rPr>
              <a:t>VINH</a:t>
            </a:r>
          </a:p>
        </p:txBody>
      </p:sp>
      <p:sp>
        <p:nvSpPr>
          <p:cNvPr id="11" name="text">
            <a:extLst>
              <a:ext uri="{FF2B5EF4-FFF2-40B4-BE49-F238E27FC236}">
                <a16:creationId xmlns:a16="http://schemas.microsoft.com/office/drawing/2014/main" id="{9C6EA1E1-9061-4A2F-B591-B98BC876CC7D}"/>
              </a:ext>
            </a:extLst>
          </p:cNvPr>
          <p:cNvSpPr>
            <a:spLocks noGrp="1"/>
          </p:cNvSpPr>
          <p:nvPr/>
        </p:nvSpPr>
        <p:spPr>
          <a:xfrm>
            <a:off x="647700" y="2800350"/>
            <a:ext cx="1695450" cy="323850"/>
          </a:xfrm>
          <a:prstGeom prst="rect">
            <a:avLst/>
          </a:prstGeom>
          <a:noFill/>
          <a:ln w="0">
            <a:noFill/>
            <a:prstDash val="solid"/>
          </a:ln>
        </p:spPr>
        <p:txBody>
          <a:bodyPr anchor="ctr"/>
          <a:lstStyle/>
          <a:p>
            <a:pPr algn="ctr">
              <a:defRPr sz="1725" b="1">
                <a:solidFill>
                  <a:srgbClr val="F8FBFD"/>
                </a:solidFill>
              </a:defRPr>
            </a:pPr>
            <a:r>
              <a:rPr sz="1725" b="1" dirty="0">
                <a:solidFill>
                  <a:srgbClr val="F8FBFD"/>
                </a:solidFill>
              </a:rPr>
              <a:t>DATA</a:t>
            </a:r>
          </a:p>
        </p:txBody>
      </p:sp>
      <p:sp>
        <p:nvSpPr>
          <p:cNvPr id="12" name="text">
            <a:extLst>
              <a:ext uri="{FF2B5EF4-FFF2-40B4-BE49-F238E27FC236}">
                <a16:creationId xmlns:a16="http://schemas.microsoft.com/office/drawing/2014/main" id="{E0EE22A0-1B09-479E-986D-2785B18EACB5}"/>
              </a:ext>
            </a:extLst>
          </p:cNvPr>
          <p:cNvSpPr>
            <a:spLocks noGrp="1"/>
          </p:cNvSpPr>
          <p:nvPr/>
        </p:nvSpPr>
        <p:spPr>
          <a:xfrm>
            <a:off x="647700" y="3371850"/>
            <a:ext cx="1695450" cy="323850"/>
          </a:xfrm>
          <a:prstGeom prst="rect">
            <a:avLst/>
          </a:prstGeom>
          <a:noFill/>
          <a:ln w="0">
            <a:noFill/>
            <a:prstDash val="solid"/>
          </a:ln>
        </p:spPr>
        <p:txBody>
          <a:bodyPr anchor="ctr"/>
          <a:lstStyle/>
          <a:p>
            <a:pPr algn="ctr">
              <a:defRPr sz="1725" b="1">
                <a:solidFill>
                  <a:srgbClr val="9FB2C2"/>
                </a:solidFill>
              </a:defRPr>
            </a:pPr>
            <a:r>
              <a:rPr sz="1725" b="1">
                <a:solidFill>
                  <a:srgbClr val="9FB2C2"/>
                </a:solidFill>
              </a:rPr>
              <a:t>50</a:t>
            </a:r>
          </a:p>
        </p:txBody>
      </p:sp>
      <p:sp>
        <p:nvSpPr>
          <p:cNvPr id="13" name="box">
            <a:extLst>
              <a:ext uri="{FF2B5EF4-FFF2-40B4-BE49-F238E27FC236}">
                <a16:creationId xmlns:a16="http://schemas.microsoft.com/office/drawing/2014/main" id="{A980A832-CABA-42BB-88B6-DF284A3670E9}"/>
              </a:ext>
            </a:extLst>
          </p:cNvPr>
          <p:cNvSpPr>
            <a:spLocks noGrp="1"/>
          </p:cNvSpPr>
          <p:nvPr/>
        </p:nvSpPr>
        <p:spPr>
          <a:xfrm>
            <a:off x="2743200" y="2095500"/>
            <a:ext cx="1962150" cy="1809750"/>
          </a:xfrm>
          <a:prstGeom prst="roundRect">
            <a:avLst>
              <a:gd name="adj" fmla="val 4211"/>
            </a:avLst>
          </a:prstGeom>
          <a:solidFill>
            <a:srgbClr val="EAF3F7"/>
          </a:solidFill>
          <a:ln w="0">
            <a:noFill/>
            <a:prstDash val="solid"/>
          </a:ln>
        </p:spPr>
      </p:sp>
      <p:sp>
        <p:nvSpPr>
          <p:cNvPr id="14" name="text">
            <a:extLst>
              <a:ext uri="{FF2B5EF4-FFF2-40B4-BE49-F238E27FC236}">
                <a16:creationId xmlns:a16="http://schemas.microsoft.com/office/drawing/2014/main" id="{B28D2AC5-192C-438E-956C-4272F298B9A6}"/>
              </a:ext>
            </a:extLst>
          </p:cNvPr>
          <p:cNvSpPr>
            <a:spLocks noGrp="1"/>
          </p:cNvSpPr>
          <p:nvPr/>
        </p:nvSpPr>
        <p:spPr>
          <a:xfrm>
            <a:off x="2876550" y="2305050"/>
            <a:ext cx="1695450" cy="285750"/>
          </a:xfrm>
          <a:prstGeom prst="rect">
            <a:avLst/>
          </a:prstGeom>
          <a:noFill/>
          <a:ln w="0">
            <a:noFill/>
            <a:prstDash val="solid"/>
          </a:ln>
        </p:spPr>
        <p:txBody>
          <a:bodyPr anchor="ctr"/>
          <a:lstStyle/>
          <a:p>
            <a:pPr algn="ctr">
              <a:defRPr sz="1425" b="1">
                <a:solidFill>
                  <a:srgbClr val="102638"/>
                </a:solidFill>
              </a:defRPr>
            </a:pPr>
            <a:r>
              <a:rPr sz="1425" b="1">
                <a:solidFill>
                  <a:srgbClr val="102638"/>
                </a:solidFill>
              </a:rPr>
              <a:t>THÁI</a:t>
            </a:r>
          </a:p>
        </p:txBody>
      </p:sp>
      <p:sp>
        <p:nvSpPr>
          <p:cNvPr id="15" name="text">
            <a:extLst>
              <a:ext uri="{FF2B5EF4-FFF2-40B4-BE49-F238E27FC236}">
                <a16:creationId xmlns:a16="http://schemas.microsoft.com/office/drawing/2014/main" id="{4856FE1D-758F-4C93-8402-67AD2225A878}"/>
              </a:ext>
            </a:extLst>
          </p:cNvPr>
          <p:cNvSpPr>
            <a:spLocks noGrp="1"/>
          </p:cNvSpPr>
          <p:nvPr/>
        </p:nvSpPr>
        <p:spPr>
          <a:xfrm>
            <a:off x="2876550" y="2800350"/>
            <a:ext cx="1695450" cy="323850"/>
          </a:xfrm>
          <a:prstGeom prst="rect">
            <a:avLst/>
          </a:prstGeom>
          <a:noFill/>
          <a:ln w="0">
            <a:noFill/>
            <a:prstDash val="solid"/>
          </a:ln>
        </p:spPr>
        <p:txBody>
          <a:bodyPr anchor="ctr"/>
          <a:lstStyle/>
          <a:p>
            <a:pPr algn="ctr">
              <a:defRPr sz="1725" b="1">
                <a:solidFill>
                  <a:srgbClr val="102638"/>
                </a:solidFill>
              </a:defRPr>
            </a:pPr>
            <a:r>
              <a:rPr sz="1725" b="1" dirty="0">
                <a:solidFill>
                  <a:srgbClr val="102638"/>
                </a:solidFill>
              </a:rPr>
              <a:t>LLM</a:t>
            </a:r>
          </a:p>
        </p:txBody>
      </p:sp>
      <p:sp>
        <p:nvSpPr>
          <p:cNvPr id="16" name="text">
            <a:extLst>
              <a:ext uri="{FF2B5EF4-FFF2-40B4-BE49-F238E27FC236}">
                <a16:creationId xmlns:a16="http://schemas.microsoft.com/office/drawing/2014/main" id="{66DF9882-32D2-4190-B706-FE539E4C4D09}"/>
              </a:ext>
            </a:extLst>
          </p:cNvPr>
          <p:cNvSpPr>
            <a:spLocks noGrp="1"/>
          </p:cNvSpPr>
          <p:nvPr/>
        </p:nvSpPr>
        <p:spPr>
          <a:xfrm>
            <a:off x="2876550" y="3371850"/>
            <a:ext cx="1695450" cy="323850"/>
          </a:xfrm>
          <a:prstGeom prst="rect">
            <a:avLst/>
          </a:prstGeom>
          <a:noFill/>
          <a:ln w="0">
            <a:noFill/>
            <a:prstDash val="solid"/>
          </a:ln>
        </p:spPr>
        <p:txBody>
          <a:bodyPr anchor="ctr"/>
          <a:lstStyle/>
          <a:p>
            <a:pPr algn="ctr">
              <a:defRPr sz="1725" b="1">
                <a:solidFill>
                  <a:srgbClr val="102638"/>
                </a:solidFill>
              </a:defRPr>
            </a:pPr>
            <a:r>
              <a:rPr sz="1725" b="1">
                <a:solidFill>
                  <a:srgbClr val="102638"/>
                </a:solidFill>
              </a:rPr>
              <a:t>50</a:t>
            </a:r>
          </a:p>
        </p:txBody>
      </p:sp>
      <p:sp>
        <p:nvSpPr>
          <p:cNvPr id="17" name="box">
            <a:extLst>
              <a:ext uri="{FF2B5EF4-FFF2-40B4-BE49-F238E27FC236}">
                <a16:creationId xmlns:a16="http://schemas.microsoft.com/office/drawing/2014/main" id="{2800D65D-834D-4DC3-AD87-0D70EF704FB3}"/>
              </a:ext>
            </a:extLst>
          </p:cNvPr>
          <p:cNvSpPr>
            <a:spLocks noGrp="1"/>
          </p:cNvSpPr>
          <p:nvPr/>
        </p:nvSpPr>
        <p:spPr>
          <a:xfrm>
            <a:off x="4972050" y="2095500"/>
            <a:ext cx="1962150" cy="1809750"/>
          </a:xfrm>
          <a:prstGeom prst="roundRect">
            <a:avLst>
              <a:gd name="adj" fmla="val 4211"/>
            </a:avLst>
          </a:prstGeom>
          <a:solidFill>
            <a:srgbClr val="0D2940"/>
          </a:solidFill>
          <a:ln w="9525">
            <a:solidFill>
              <a:srgbClr val="29475E"/>
            </a:solidFill>
            <a:prstDash val="solid"/>
          </a:ln>
        </p:spPr>
      </p:sp>
      <p:sp>
        <p:nvSpPr>
          <p:cNvPr id="18" name="text">
            <a:extLst>
              <a:ext uri="{FF2B5EF4-FFF2-40B4-BE49-F238E27FC236}">
                <a16:creationId xmlns:a16="http://schemas.microsoft.com/office/drawing/2014/main" id="{E6CFEAF2-DBE1-4596-8C36-2E766D5C2EA6}"/>
              </a:ext>
            </a:extLst>
          </p:cNvPr>
          <p:cNvSpPr>
            <a:spLocks noGrp="1"/>
          </p:cNvSpPr>
          <p:nvPr/>
        </p:nvSpPr>
        <p:spPr>
          <a:xfrm>
            <a:off x="5105400" y="2305050"/>
            <a:ext cx="1695450" cy="285750"/>
          </a:xfrm>
          <a:prstGeom prst="rect">
            <a:avLst/>
          </a:prstGeom>
          <a:noFill/>
          <a:ln w="0">
            <a:noFill/>
            <a:prstDash val="solid"/>
          </a:ln>
        </p:spPr>
        <p:txBody>
          <a:bodyPr anchor="ctr"/>
          <a:lstStyle/>
          <a:p>
            <a:pPr algn="ctr">
              <a:defRPr sz="1425" b="1">
                <a:solidFill>
                  <a:srgbClr val="26D0CE"/>
                </a:solidFill>
              </a:defRPr>
            </a:pPr>
            <a:r>
              <a:rPr sz="1425" b="1">
                <a:solidFill>
                  <a:srgbClr val="26D0CE"/>
                </a:solidFill>
              </a:rPr>
              <a:t>QUÂN</a:t>
            </a:r>
          </a:p>
        </p:txBody>
      </p:sp>
      <p:sp>
        <p:nvSpPr>
          <p:cNvPr id="19" name="text">
            <a:extLst>
              <a:ext uri="{FF2B5EF4-FFF2-40B4-BE49-F238E27FC236}">
                <a16:creationId xmlns:a16="http://schemas.microsoft.com/office/drawing/2014/main" id="{E3508683-E41C-43F1-BBB3-BB2D859C7A65}"/>
              </a:ext>
            </a:extLst>
          </p:cNvPr>
          <p:cNvSpPr>
            <a:spLocks noGrp="1"/>
          </p:cNvSpPr>
          <p:nvPr/>
        </p:nvSpPr>
        <p:spPr>
          <a:xfrm>
            <a:off x="5105400" y="2800350"/>
            <a:ext cx="1695450" cy="323850"/>
          </a:xfrm>
          <a:prstGeom prst="rect">
            <a:avLst/>
          </a:prstGeom>
          <a:noFill/>
          <a:ln w="0">
            <a:noFill/>
            <a:prstDash val="solid"/>
          </a:ln>
        </p:spPr>
        <p:txBody>
          <a:bodyPr anchor="ctr"/>
          <a:lstStyle/>
          <a:p>
            <a:pPr algn="ctr">
              <a:defRPr sz="1725" b="1">
                <a:solidFill>
                  <a:srgbClr val="F8FBFD"/>
                </a:solidFill>
              </a:defRPr>
            </a:pPr>
            <a:r>
              <a:rPr sz="1725" b="1" dirty="0">
                <a:solidFill>
                  <a:srgbClr val="F8FBFD"/>
                </a:solidFill>
              </a:rPr>
              <a:t>JAVA</a:t>
            </a:r>
          </a:p>
        </p:txBody>
      </p:sp>
      <p:sp>
        <p:nvSpPr>
          <p:cNvPr id="20" name="text">
            <a:extLst>
              <a:ext uri="{FF2B5EF4-FFF2-40B4-BE49-F238E27FC236}">
                <a16:creationId xmlns:a16="http://schemas.microsoft.com/office/drawing/2014/main" id="{01A91BB2-8874-48C2-8CE2-83910B27C214}"/>
              </a:ext>
            </a:extLst>
          </p:cNvPr>
          <p:cNvSpPr>
            <a:spLocks noGrp="1"/>
          </p:cNvSpPr>
          <p:nvPr/>
        </p:nvSpPr>
        <p:spPr>
          <a:xfrm>
            <a:off x="5105400" y="3371850"/>
            <a:ext cx="1695450" cy="323850"/>
          </a:xfrm>
          <a:prstGeom prst="rect">
            <a:avLst/>
          </a:prstGeom>
          <a:noFill/>
          <a:ln w="0">
            <a:noFill/>
            <a:prstDash val="solid"/>
          </a:ln>
        </p:spPr>
        <p:txBody>
          <a:bodyPr anchor="ctr"/>
          <a:lstStyle/>
          <a:p>
            <a:pPr algn="ctr">
              <a:defRPr sz="1725" b="1">
                <a:solidFill>
                  <a:srgbClr val="9FB2C2"/>
                </a:solidFill>
              </a:defRPr>
            </a:pPr>
            <a:r>
              <a:rPr sz="1725" b="1">
                <a:solidFill>
                  <a:srgbClr val="9FB2C2"/>
                </a:solidFill>
              </a:rPr>
              <a:t>25</a:t>
            </a:r>
          </a:p>
        </p:txBody>
      </p:sp>
      <p:sp>
        <p:nvSpPr>
          <p:cNvPr id="21" name="box">
            <a:extLst>
              <a:ext uri="{FF2B5EF4-FFF2-40B4-BE49-F238E27FC236}">
                <a16:creationId xmlns:a16="http://schemas.microsoft.com/office/drawing/2014/main" id="{B75ABA19-78AE-4073-BAC8-97EFEE2330BF}"/>
              </a:ext>
            </a:extLst>
          </p:cNvPr>
          <p:cNvSpPr>
            <a:spLocks noGrp="1"/>
          </p:cNvSpPr>
          <p:nvPr/>
        </p:nvSpPr>
        <p:spPr>
          <a:xfrm>
            <a:off x="7200900" y="2095500"/>
            <a:ext cx="1962150" cy="1809750"/>
          </a:xfrm>
          <a:prstGeom prst="roundRect">
            <a:avLst>
              <a:gd name="adj" fmla="val 4211"/>
            </a:avLst>
          </a:prstGeom>
          <a:solidFill>
            <a:srgbClr val="0D2940"/>
          </a:solidFill>
          <a:ln w="9525">
            <a:solidFill>
              <a:srgbClr val="29475E"/>
            </a:solidFill>
            <a:prstDash val="solid"/>
          </a:ln>
        </p:spPr>
      </p:sp>
      <p:sp>
        <p:nvSpPr>
          <p:cNvPr id="22" name="text">
            <a:extLst>
              <a:ext uri="{FF2B5EF4-FFF2-40B4-BE49-F238E27FC236}">
                <a16:creationId xmlns:a16="http://schemas.microsoft.com/office/drawing/2014/main" id="{41D9B267-DC55-4178-8DFC-0E09F1B91156}"/>
              </a:ext>
            </a:extLst>
          </p:cNvPr>
          <p:cNvSpPr>
            <a:spLocks noGrp="1"/>
          </p:cNvSpPr>
          <p:nvPr/>
        </p:nvSpPr>
        <p:spPr>
          <a:xfrm>
            <a:off x="7334250" y="2305050"/>
            <a:ext cx="1695450" cy="285750"/>
          </a:xfrm>
          <a:prstGeom prst="rect">
            <a:avLst/>
          </a:prstGeom>
          <a:noFill/>
          <a:ln w="0">
            <a:noFill/>
            <a:prstDash val="solid"/>
          </a:ln>
        </p:spPr>
        <p:txBody>
          <a:bodyPr anchor="ctr"/>
          <a:lstStyle/>
          <a:p>
            <a:pPr algn="ctr">
              <a:defRPr sz="1425" b="1">
                <a:solidFill>
                  <a:srgbClr val="26D0CE"/>
                </a:solidFill>
              </a:defRPr>
            </a:pPr>
            <a:r>
              <a:rPr sz="1425" b="1">
                <a:solidFill>
                  <a:srgbClr val="26D0CE"/>
                </a:solidFill>
              </a:rPr>
              <a:t>VĂN</a:t>
            </a:r>
          </a:p>
        </p:txBody>
      </p:sp>
      <p:sp>
        <p:nvSpPr>
          <p:cNvPr id="23" name="text">
            <a:extLst>
              <a:ext uri="{FF2B5EF4-FFF2-40B4-BE49-F238E27FC236}">
                <a16:creationId xmlns:a16="http://schemas.microsoft.com/office/drawing/2014/main" id="{AE70E3AF-5D68-47D5-AE96-4812A0816D5B}"/>
              </a:ext>
            </a:extLst>
          </p:cNvPr>
          <p:cNvSpPr>
            <a:spLocks noGrp="1"/>
          </p:cNvSpPr>
          <p:nvPr/>
        </p:nvSpPr>
        <p:spPr>
          <a:xfrm>
            <a:off x="7334250" y="2800350"/>
            <a:ext cx="1695450" cy="323850"/>
          </a:xfrm>
          <a:prstGeom prst="rect">
            <a:avLst/>
          </a:prstGeom>
          <a:noFill/>
          <a:ln w="0">
            <a:noFill/>
            <a:prstDash val="solid"/>
          </a:ln>
        </p:spPr>
        <p:txBody>
          <a:bodyPr anchor="ctr"/>
          <a:lstStyle/>
          <a:p>
            <a:pPr algn="ctr">
              <a:defRPr sz="1725" b="1">
                <a:solidFill>
                  <a:srgbClr val="F8FBFD"/>
                </a:solidFill>
              </a:defRPr>
            </a:pPr>
            <a:r>
              <a:rPr sz="1725" b="1">
                <a:solidFill>
                  <a:srgbClr val="F8FBFD"/>
                </a:solidFill>
              </a:rPr>
              <a:t>PYTHON</a:t>
            </a:r>
          </a:p>
        </p:txBody>
      </p:sp>
      <p:sp>
        <p:nvSpPr>
          <p:cNvPr id="24" name="text">
            <a:extLst>
              <a:ext uri="{FF2B5EF4-FFF2-40B4-BE49-F238E27FC236}">
                <a16:creationId xmlns:a16="http://schemas.microsoft.com/office/drawing/2014/main" id="{89FBCCE7-42D4-4C5F-8F9D-06AB7D5A4353}"/>
              </a:ext>
            </a:extLst>
          </p:cNvPr>
          <p:cNvSpPr>
            <a:spLocks noGrp="1"/>
          </p:cNvSpPr>
          <p:nvPr/>
        </p:nvSpPr>
        <p:spPr>
          <a:xfrm>
            <a:off x="7334250" y="3371850"/>
            <a:ext cx="1695450" cy="323850"/>
          </a:xfrm>
          <a:prstGeom prst="rect">
            <a:avLst/>
          </a:prstGeom>
          <a:noFill/>
          <a:ln w="0">
            <a:noFill/>
            <a:prstDash val="solid"/>
          </a:ln>
        </p:spPr>
        <p:txBody>
          <a:bodyPr anchor="ctr"/>
          <a:lstStyle/>
          <a:p>
            <a:pPr algn="ctr">
              <a:defRPr sz="1725" b="1">
                <a:solidFill>
                  <a:srgbClr val="9FB2C2"/>
                </a:solidFill>
              </a:defRPr>
            </a:pPr>
            <a:r>
              <a:rPr sz="1725" b="1">
                <a:solidFill>
                  <a:srgbClr val="9FB2C2"/>
                </a:solidFill>
              </a:rPr>
              <a:t>25</a:t>
            </a:r>
          </a:p>
        </p:txBody>
      </p:sp>
      <p:sp>
        <p:nvSpPr>
          <p:cNvPr id="25" name="box">
            <a:extLst>
              <a:ext uri="{FF2B5EF4-FFF2-40B4-BE49-F238E27FC236}">
                <a16:creationId xmlns:a16="http://schemas.microsoft.com/office/drawing/2014/main" id="{98E015AA-29F2-4DFE-8C1B-7497B2AF7110}"/>
              </a:ext>
            </a:extLst>
          </p:cNvPr>
          <p:cNvSpPr>
            <a:spLocks noGrp="1"/>
          </p:cNvSpPr>
          <p:nvPr/>
        </p:nvSpPr>
        <p:spPr>
          <a:xfrm>
            <a:off x="9429750" y="2095500"/>
            <a:ext cx="1962150" cy="1809750"/>
          </a:xfrm>
          <a:prstGeom prst="roundRect">
            <a:avLst>
              <a:gd name="adj" fmla="val 4211"/>
            </a:avLst>
          </a:prstGeom>
          <a:solidFill>
            <a:srgbClr val="FFB45A"/>
          </a:solidFill>
          <a:ln w="0">
            <a:noFill/>
            <a:prstDash val="solid"/>
          </a:ln>
        </p:spPr>
      </p:sp>
      <p:sp>
        <p:nvSpPr>
          <p:cNvPr id="26" name="text">
            <a:extLst>
              <a:ext uri="{FF2B5EF4-FFF2-40B4-BE49-F238E27FC236}">
                <a16:creationId xmlns:a16="http://schemas.microsoft.com/office/drawing/2014/main" id="{91901219-5562-49B6-9156-593F1D987454}"/>
              </a:ext>
            </a:extLst>
          </p:cNvPr>
          <p:cNvSpPr>
            <a:spLocks noGrp="1"/>
          </p:cNvSpPr>
          <p:nvPr/>
        </p:nvSpPr>
        <p:spPr>
          <a:xfrm>
            <a:off x="9563100" y="2305050"/>
            <a:ext cx="1695450" cy="285750"/>
          </a:xfrm>
          <a:prstGeom prst="rect">
            <a:avLst/>
          </a:prstGeom>
          <a:noFill/>
          <a:ln w="0">
            <a:noFill/>
            <a:prstDash val="solid"/>
          </a:ln>
        </p:spPr>
        <p:txBody>
          <a:bodyPr anchor="ctr"/>
          <a:lstStyle/>
          <a:p>
            <a:pPr algn="ctr">
              <a:defRPr sz="1425" b="1">
                <a:solidFill>
                  <a:srgbClr val="102638"/>
                </a:solidFill>
              </a:defRPr>
            </a:pPr>
            <a:r>
              <a:rPr sz="1425" b="1">
                <a:solidFill>
                  <a:srgbClr val="102638"/>
                </a:solidFill>
              </a:rPr>
              <a:t>NGHI</a:t>
            </a:r>
          </a:p>
        </p:txBody>
      </p:sp>
      <p:sp>
        <p:nvSpPr>
          <p:cNvPr id="27" name="text">
            <a:extLst>
              <a:ext uri="{FF2B5EF4-FFF2-40B4-BE49-F238E27FC236}">
                <a16:creationId xmlns:a16="http://schemas.microsoft.com/office/drawing/2014/main" id="{8391AD82-5608-45A9-8C48-A075D0FAE3D2}"/>
              </a:ext>
            </a:extLst>
          </p:cNvPr>
          <p:cNvSpPr>
            <a:spLocks noGrp="1"/>
          </p:cNvSpPr>
          <p:nvPr/>
        </p:nvSpPr>
        <p:spPr>
          <a:xfrm>
            <a:off x="9563100" y="2800350"/>
            <a:ext cx="1695450" cy="323850"/>
          </a:xfrm>
          <a:prstGeom prst="rect">
            <a:avLst/>
          </a:prstGeom>
          <a:noFill/>
          <a:ln w="0">
            <a:noFill/>
            <a:prstDash val="solid"/>
          </a:ln>
        </p:spPr>
        <p:txBody>
          <a:bodyPr anchor="ctr"/>
          <a:lstStyle/>
          <a:p>
            <a:pPr algn="ctr">
              <a:defRPr sz="1725" b="1">
                <a:solidFill>
                  <a:srgbClr val="102638"/>
                </a:solidFill>
              </a:defRPr>
            </a:pPr>
            <a:r>
              <a:rPr sz="1725" b="1">
                <a:solidFill>
                  <a:srgbClr val="102638"/>
                </a:solidFill>
              </a:rPr>
              <a:t>GATE</a:t>
            </a:r>
          </a:p>
        </p:txBody>
      </p:sp>
      <p:sp>
        <p:nvSpPr>
          <p:cNvPr id="28" name="text">
            <a:extLst>
              <a:ext uri="{FF2B5EF4-FFF2-40B4-BE49-F238E27FC236}">
                <a16:creationId xmlns:a16="http://schemas.microsoft.com/office/drawing/2014/main" id="{F8B12388-7B92-46B8-8986-36A19B0A23F1}"/>
              </a:ext>
            </a:extLst>
          </p:cNvPr>
          <p:cNvSpPr>
            <a:spLocks noGrp="1"/>
          </p:cNvSpPr>
          <p:nvPr/>
        </p:nvSpPr>
        <p:spPr>
          <a:xfrm>
            <a:off x="9563100" y="3371850"/>
            <a:ext cx="1695450" cy="323850"/>
          </a:xfrm>
          <a:prstGeom prst="rect">
            <a:avLst/>
          </a:prstGeom>
          <a:noFill/>
          <a:ln w="0">
            <a:noFill/>
            <a:prstDash val="solid"/>
          </a:ln>
        </p:spPr>
        <p:txBody>
          <a:bodyPr anchor="ctr"/>
          <a:lstStyle/>
          <a:p>
            <a:pPr algn="ctr">
              <a:defRPr sz="1725" b="1">
                <a:solidFill>
                  <a:srgbClr val="102638"/>
                </a:solidFill>
              </a:defRPr>
            </a:pPr>
            <a:r>
              <a:rPr sz="1725" b="1">
                <a:solidFill>
                  <a:srgbClr val="102638"/>
                </a:solidFill>
              </a:rPr>
              <a:t>ALL</a:t>
            </a:r>
          </a:p>
        </p:txBody>
      </p:sp>
      <p:sp>
        <p:nvSpPr>
          <p:cNvPr id="29" name="box">
            <a:extLst>
              <a:ext uri="{FF2B5EF4-FFF2-40B4-BE49-F238E27FC236}">
                <a16:creationId xmlns:a16="http://schemas.microsoft.com/office/drawing/2014/main" id="{EF18CC91-CF8F-4373-A709-98430154F3C7}"/>
              </a:ext>
            </a:extLst>
          </p:cNvPr>
          <p:cNvSpPr>
            <a:spLocks noGrp="1"/>
          </p:cNvSpPr>
          <p:nvPr/>
        </p:nvSpPr>
        <p:spPr>
          <a:xfrm>
            <a:off x="2305050" y="4629150"/>
            <a:ext cx="7581900" cy="781050"/>
          </a:xfrm>
          <a:prstGeom prst="roundRect">
            <a:avLst>
              <a:gd name="adj" fmla="val 9756"/>
            </a:avLst>
          </a:prstGeom>
          <a:solidFill>
            <a:srgbClr val="EAF3F7"/>
          </a:solidFill>
          <a:ln w="0">
            <a:noFill/>
            <a:prstDash val="solid"/>
          </a:ln>
        </p:spPr>
      </p:sp>
      <p:sp>
        <p:nvSpPr>
          <p:cNvPr id="30" name="text">
            <a:extLst>
              <a:ext uri="{FF2B5EF4-FFF2-40B4-BE49-F238E27FC236}">
                <a16:creationId xmlns:a16="http://schemas.microsoft.com/office/drawing/2014/main" id="{7A5F319F-3C88-4EC2-91AF-B3F60536D4C4}"/>
              </a:ext>
            </a:extLst>
          </p:cNvPr>
          <p:cNvSpPr>
            <a:spLocks noGrp="1"/>
          </p:cNvSpPr>
          <p:nvPr/>
        </p:nvSpPr>
        <p:spPr>
          <a:xfrm>
            <a:off x="2571750" y="4800600"/>
            <a:ext cx="1333500" cy="381000"/>
          </a:xfrm>
          <a:prstGeom prst="rect">
            <a:avLst/>
          </a:prstGeom>
          <a:noFill/>
          <a:ln w="0">
            <a:noFill/>
            <a:prstDash val="solid"/>
          </a:ln>
        </p:spPr>
        <p:txBody>
          <a:bodyPr anchor="ctr"/>
          <a:lstStyle/>
          <a:p>
            <a:pPr algn="l">
              <a:defRPr sz="1350" b="1">
                <a:solidFill>
                  <a:srgbClr val="0FA3A1"/>
                </a:solidFill>
              </a:defRPr>
            </a:pPr>
            <a:r>
              <a:rPr sz="1350" b="1">
                <a:solidFill>
                  <a:srgbClr val="0FA3A1"/>
                </a:solidFill>
              </a:rPr>
              <a:t>REPORT</a:t>
            </a:r>
          </a:p>
        </p:txBody>
      </p:sp>
      <p:sp>
        <p:nvSpPr>
          <p:cNvPr id="31" name="text">
            <a:extLst>
              <a:ext uri="{FF2B5EF4-FFF2-40B4-BE49-F238E27FC236}">
                <a16:creationId xmlns:a16="http://schemas.microsoft.com/office/drawing/2014/main" id="{E3109797-DE21-4FDA-A54D-DF3DF1E375E5}"/>
              </a:ext>
            </a:extLst>
          </p:cNvPr>
          <p:cNvSpPr>
            <a:spLocks noGrp="1"/>
          </p:cNvSpPr>
          <p:nvPr/>
        </p:nvSpPr>
        <p:spPr>
          <a:xfrm>
            <a:off x="4114800" y="4762500"/>
            <a:ext cx="5429250" cy="457200"/>
          </a:xfrm>
          <a:prstGeom prst="rect">
            <a:avLst/>
          </a:prstGeom>
          <a:noFill/>
          <a:ln w="0">
            <a:noFill/>
            <a:prstDash val="solid"/>
          </a:ln>
        </p:spPr>
        <p:txBody>
          <a:bodyPr anchor="ctr"/>
          <a:lstStyle/>
          <a:p>
            <a:pPr algn="ctr">
              <a:defRPr sz="1800" b="1">
                <a:solidFill>
                  <a:srgbClr val="102638"/>
                </a:solidFill>
              </a:defRPr>
            </a:pPr>
            <a:r>
              <a:rPr sz="1800" b="1">
                <a:solidFill>
                  <a:srgbClr val="102638"/>
                </a:solidFill>
              </a:rPr>
              <a:t>Ai làm phần nào → viết phần đó</a:t>
            </a:r>
          </a:p>
        </p:txBody>
      </p:sp>
      <p:sp>
        <p:nvSpPr>
          <p:cNvPr id="32" name="text">
            <a:extLst>
              <a:ext uri="{FF2B5EF4-FFF2-40B4-BE49-F238E27FC236}">
                <a16:creationId xmlns:a16="http://schemas.microsoft.com/office/drawing/2014/main" id="{D8D5D740-75E3-4D6C-8EFC-53A0EF465935}"/>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33" name="text">
            <a:extLst>
              <a:ext uri="{FF2B5EF4-FFF2-40B4-BE49-F238E27FC236}">
                <a16:creationId xmlns:a16="http://schemas.microsoft.com/office/drawing/2014/main" id="{E8565240-A7A5-447B-A0EB-136F9D18B160}"/>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07</a:t>
            </a:r>
          </a:p>
        </p:txBody>
      </p:sp>
    </p:spTree>
    <p:extLst>
      <p:ext uri="{BB962C8B-B14F-4D97-AF65-F5344CB8AC3E}">
        <p14:creationId xmlns:p14="http://schemas.microsoft.com/office/powerpoint/2010/main" val="1509230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25" name="text">
            <a:extLst>
              <a:ext uri="{FF2B5EF4-FFF2-40B4-BE49-F238E27FC236}">
                <a16:creationId xmlns:a16="http://schemas.microsoft.com/office/drawing/2014/main" id="{AF43F9BF-700F-4AC3-B82B-7C7D7360BE68}"/>
              </a:ext>
            </a:extLst>
          </p:cNvPr>
          <p:cNvSpPr>
            <a:spLocks noGrp="1"/>
          </p:cNvSpPr>
          <p:nvPr/>
        </p:nvSpPr>
        <p:spPr>
          <a:xfrm>
            <a:off x="514350" y="323850"/>
            <a:ext cx="457200" cy="266700"/>
          </a:xfrm>
          <a:prstGeom prst="rect">
            <a:avLst/>
          </a:prstGeom>
          <a:noFill/>
          <a:ln w="0">
            <a:noFill/>
            <a:prstDash val="solid"/>
          </a:ln>
        </p:spPr>
        <p:txBody>
          <a:bodyPr anchor="ctr"/>
          <a:lstStyle/>
          <a:p>
            <a:pPr algn="l">
              <a:defRPr sz="1050" b="1">
                <a:solidFill>
                  <a:srgbClr val="26D0CE"/>
                </a:solidFill>
              </a:defRPr>
            </a:pPr>
            <a:r>
              <a:rPr sz="1050" b="1">
                <a:solidFill>
                  <a:srgbClr val="26D0CE"/>
                </a:solidFill>
              </a:rPr>
              <a:t>08</a:t>
            </a:r>
          </a:p>
        </p:txBody>
      </p:sp>
      <p:sp>
        <p:nvSpPr>
          <p:cNvPr id="2" name="text">
            <a:extLst>
              <a:ext uri="{FF2B5EF4-FFF2-40B4-BE49-F238E27FC236}">
                <a16:creationId xmlns:a16="http://schemas.microsoft.com/office/drawing/2014/main" id="{8B869162-461E-485B-8D86-D7981F44ECFE}"/>
              </a:ext>
            </a:extLst>
          </p:cNvPr>
          <p:cNvSpPr>
            <a:spLocks noGrp="1"/>
          </p:cNvSpPr>
          <p:nvPr/>
        </p:nvSpPr>
        <p:spPr>
          <a:xfrm>
            <a:off x="1066800" y="323850"/>
            <a:ext cx="5619750" cy="266700"/>
          </a:xfrm>
          <a:prstGeom prst="rect">
            <a:avLst/>
          </a:prstGeom>
          <a:noFill/>
          <a:ln w="0">
            <a:noFill/>
            <a:prstDash val="solid"/>
          </a:ln>
        </p:spPr>
        <p:txBody>
          <a:bodyPr anchor="ctr"/>
          <a:lstStyle/>
          <a:p>
            <a:pPr algn="l">
              <a:defRPr sz="1050" b="1">
                <a:solidFill>
                  <a:srgbClr val="9FB2C2"/>
                </a:solidFill>
              </a:defRPr>
            </a:pPr>
            <a:r>
              <a:rPr sz="1050" b="1">
                <a:solidFill>
                  <a:srgbClr val="9FB2C2"/>
                </a:solidFill>
              </a:rPr>
              <a:t>EVALUATION PLAN</a:t>
            </a:r>
          </a:p>
        </p:txBody>
      </p:sp>
      <p:sp>
        <p:nvSpPr>
          <p:cNvPr id="3" name="text">
            <a:extLst>
              <a:ext uri="{FF2B5EF4-FFF2-40B4-BE49-F238E27FC236}">
                <a16:creationId xmlns:a16="http://schemas.microsoft.com/office/drawing/2014/main" id="{C718D5DE-2B4B-4828-8DE3-F042278072D2}"/>
              </a:ext>
            </a:extLst>
          </p:cNvPr>
          <p:cNvSpPr>
            <a:spLocks noGrp="1"/>
          </p:cNvSpPr>
          <p:nvPr/>
        </p:nvSpPr>
        <p:spPr>
          <a:xfrm>
            <a:off x="514350" y="685800"/>
            <a:ext cx="11144250" cy="590550"/>
          </a:xfrm>
          <a:prstGeom prst="rect">
            <a:avLst/>
          </a:prstGeom>
          <a:noFill/>
          <a:ln w="0">
            <a:noFill/>
            <a:prstDash val="solid"/>
          </a:ln>
        </p:spPr>
        <p:txBody>
          <a:bodyPr anchor="ctr"/>
          <a:lstStyle/>
          <a:p>
            <a:pPr algn="l">
              <a:defRPr sz="2850" b="1">
                <a:solidFill>
                  <a:srgbClr val="F8FBFD"/>
                </a:solidFill>
              </a:defRPr>
            </a:pPr>
            <a:r>
              <a:rPr sz="2850" b="1">
                <a:solidFill>
                  <a:srgbClr val="F8FBFD"/>
                </a:solidFill>
              </a:rPr>
              <a:t>Kết quả nào cũng có cách diễn giải</a:t>
            </a:r>
          </a:p>
        </p:txBody>
      </p:sp>
      <p:sp>
        <p:nvSpPr>
          <p:cNvPr id="4" name="rule">
            <a:extLst>
              <a:ext uri="{FF2B5EF4-FFF2-40B4-BE49-F238E27FC236}">
                <a16:creationId xmlns:a16="http://schemas.microsoft.com/office/drawing/2014/main" id="{C827542F-5852-4BF2-AB54-F7775DF69C0E}"/>
              </a:ext>
            </a:extLst>
          </p:cNvPr>
          <p:cNvSpPr>
            <a:spLocks noGrp="1"/>
          </p:cNvSpPr>
          <p:nvPr/>
        </p:nvSpPr>
        <p:spPr>
          <a:xfrm>
            <a:off x="514350" y="1371600"/>
            <a:ext cx="857250" cy="38100"/>
          </a:xfrm>
          <a:prstGeom prst="rect">
            <a:avLst/>
          </a:prstGeom>
          <a:solidFill>
            <a:srgbClr val="26D0CE"/>
          </a:solidFill>
          <a:ln w="0">
            <a:noFill/>
            <a:prstDash val="solid"/>
          </a:ln>
        </p:spPr>
      </p:sp>
      <p:sp>
        <p:nvSpPr>
          <p:cNvPr id="5" name="box">
            <a:extLst>
              <a:ext uri="{FF2B5EF4-FFF2-40B4-BE49-F238E27FC236}">
                <a16:creationId xmlns:a16="http://schemas.microsoft.com/office/drawing/2014/main" id="{3944EB07-06A0-4E03-873F-B712671FBC59}"/>
              </a:ext>
            </a:extLst>
          </p:cNvPr>
          <p:cNvSpPr>
            <a:spLocks noGrp="1"/>
          </p:cNvSpPr>
          <p:nvPr/>
        </p:nvSpPr>
        <p:spPr>
          <a:xfrm>
            <a:off x="704850" y="1943100"/>
            <a:ext cx="3333750" cy="1657350"/>
          </a:xfrm>
          <a:prstGeom prst="roundRect">
            <a:avLst>
              <a:gd name="adj" fmla="val 4598"/>
            </a:avLst>
          </a:prstGeom>
          <a:solidFill>
            <a:srgbClr val="0D2940"/>
          </a:solidFill>
          <a:ln w="9525">
            <a:solidFill>
              <a:srgbClr val="29475E"/>
            </a:solidFill>
            <a:prstDash val="solid"/>
          </a:ln>
        </p:spPr>
      </p:sp>
      <p:sp>
        <p:nvSpPr>
          <p:cNvPr id="6" name="text">
            <a:extLst>
              <a:ext uri="{FF2B5EF4-FFF2-40B4-BE49-F238E27FC236}">
                <a16:creationId xmlns:a16="http://schemas.microsoft.com/office/drawing/2014/main" id="{8E245B3C-93AB-4529-8942-2F3A11A54248}"/>
              </a:ext>
            </a:extLst>
          </p:cNvPr>
          <p:cNvSpPr>
            <a:spLocks noGrp="1"/>
          </p:cNvSpPr>
          <p:nvPr/>
        </p:nvSpPr>
        <p:spPr>
          <a:xfrm>
            <a:off x="895350" y="2171700"/>
            <a:ext cx="2952750" cy="304800"/>
          </a:xfrm>
          <a:prstGeom prst="rect">
            <a:avLst/>
          </a:prstGeom>
          <a:noFill/>
          <a:ln w="0">
            <a:noFill/>
            <a:prstDash val="solid"/>
          </a:ln>
        </p:spPr>
        <p:txBody>
          <a:bodyPr anchor="ctr"/>
          <a:lstStyle/>
          <a:p>
            <a:pPr algn="ctr">
              <a:defRPr sz="1275" b="1">
                <a:solidFill>
                  <a:srgbClr val="26D0CE"/>
                </a:solidFill>
              </a:defRPr>
            </a:pPr>
            <a:r>
              <a:rPr sz="1275" b="1">
                <a:solidFill>
                  <a:srgbClr val="26D0CE"/>
                </a:solidFill>
              </a:rPr>
              <a:t>BOTH PASS</a:t>
            </a:r>
          </a:p>
        </p:txBody>
      </p:sp>
      <p:sp>
        <p:nvSpPr>
          <p:cNvPr id="7" name="text">
            <a:extLst>
              <a:ext uri="{FF2B5EF4-FFF2-40B4-BE49-F238E27FC236}">
                <a16:creationId xmlns:a16="http://schemas.microsoft.com/office/drawing/2014/main" id="{3001F659-58C1-4F9A-8126-922E67786843}"/>
              </a:ext>
            </a:extLst>
          </p:cNvPr>
          <p:cNvSpPr>
            <a:spLocks noGrp="1"/>
          </p:cNvSpPr>
          <p:nvPr/>
        </p:nvSpPr>
        <p:spPr>
          <a:xfrm>
            <a:off x="895350" y="2800350"/>
            <a:ext cx="2952750" cy="476250"/>
          </a:xfrm>
          <a:prstGeom prst="rect">
            <a:avLst/>
          </a:prstGeom>
          <a:noFill/>
          <a:ln w="0">
            <a:noFill/>
            <a:prstDash val="solid"/>
          </a:ln>
        </p:spPr>
        <p:txBody>
          <a:bodyPr anchor="ctr"/>
          <a:lstStyle/>
          <a:p>
            <a:pPr algn="ctr">
              <a:defRPr sz="1875" b="1">
                <a:solidFill>
                  <a:srgbClr val="F8FBFD"/>
                </a:solidFill>
              </a:defRPr>
            </a:pPr>
            <a:r>
              <a:rPr sz="1875" b="1" dirty="0">
                <a:solidFill>
                  <a:srgbClr val="F8FBFD"/>
                </a:solidFill>
              </a:rPr>
              <a:t>Robust</a:t>
            </a:r>
          </a:p>
        </p:txBody>
      </p:sp>
      <p:sp>
        <p:nvSpPr>
          <p:cNvPr id="8" name="box">
            <a:extLst>
              <a:ext uri="{FF2B5EF4-FFF2-40B4-BE49-F238E27FC236}">
                <a16:creationId xmlns:a16="http://schemas.microsoft.com/office/drawing/2014/main" id="{307E3EE9-9FF5-4A19-BC7E-C3CA7E055FD7}"/>
              </a:ext>
            </a:extLst>
          </p:cNvPr>
          <p:cNvSpPr>
            <a:spLocks noGrp="1"/>
          </p:cNvSpPr>
          <p:nvPr/>
        </p:nvSpPr>
        <p:spPr>
          <a:xfrm>
            <a:off x="4514850" y="1943100"/>
            <a:ext cx="3333750" cy="1657350"/>
          </a:xfrm>
          <a:prstGeom prst="roundRect">
            <a:avLst>
              <a:gd name="adj" fmla="val 4598"/>
            </a:avLst>
          </a:prstGeom>
          <a:solidFill>
            <a:srgbClr val="EAF3F7"/>
          </a:solidFill>
          <a:ln w="0">
            <a:noFill/>
            <a:prstDash val="solid"/>
          </a:ln>
        </p:spPr>
      </p:sp>
      <p:sp>
        <p:nvSpPr>
          <p:cNvPr id="9" name="text">
            <a:extLst>
              <a:ext uri="{FF2B5EF4-FFF2-40B4-BE49-F238E27FC236}">
                <a16:creationId xmlns:a16="http://schemas.microsoft.com/office/drawing/2014/main" id="{65D53CF7-76A5-472B-9228-D5363B8386A1}"/>
              </a:ext>
            </a:extLst>
          </p:cNvPr>
          <p:cNvSpPr>
            <a:spLocks noGrp="1"/>
          </p:cNvSpPr>
          <p:nvPr/>
        </p:nvSpPr>
        <p:spPr>
          <a:xfrm>
            <a:off x="4705350" y="2171700"/>
            <a:ext cx="2952750" cy="304800"/>
          </a:xfrm>
          <a:prstGeom prst="rect">
            <a:avLst/>
          </a:prstGeom>
          <a:noFill/>
          <a:ln w="0">
            <a:noFill/>
            <a:prstDash val="solid"/>
          </a:ln>
        </p:spPr>
        <p:txBody>
          <a:bodyPr anchor="ctr"/>
          <a:lstStyle/>
          <a:p>
            <a:pPr algn="ctr">
              <a:defRPr sz="1275" b="1">
                <a:solidFill>
                  <a:srgbClr val="0FA3A1"/>
                </a:solidFill>
              </a:defRPr>
            </a:pPr>
            <a:r>
              <a:rPr sz="1275" b="1">
                <a:solidFill>
                  <a:srgbClr val="0FA3A1"/>
                </a:solidFill>
              </a:rPr>
              <a:t>ONE PASS</a:t>
            </a:r>
          </a:p>
        </p:txBody>
      </p:sp>
      <p:sp>
        <p:nvSpPr>
          <p:cNvPr id="10" name="text">
            <a:extLst>
              <a:ext uri="{FF2B5EF4-FFF2-40B4-BE49-F238E27FC236}">
                <a16:creationId xmlns:a16="http://schemas.microsoft.com/office/drawing/2014/main" id="{F6181CA0-41E8-44C9-87A1-11A6F662DA5B}"/>
              </a:ext>
            </a:extLst>
          </p:cNvPr>
          <p:cNvSpPr>
            <a:spLocks noGrp="1"/>
          </p:cNvSpPr>
          <p:nvPr/>
        </p:nvSpPr>
        <p:spPr>
          <a:xfrm>
            <a:off x="4705350" y="2800350"/>
            <a:ext cx="2952750" cy="476250"/>
          </a:xfrm>
          <a:prstGeom prst="rect">
            <a:avLst/>
          </a:prstGeom>
          <a:noFill/>
          <a:ln w="0">
            <a:noFill/>
            <a:prstDash val="solid"/>
          </a:ln>
        </p:spPr>
        <p:txBody>
          <a:bodyPr anchor="ctr"/>
          <a:lstStyle/>
          <a:p>
            <a:pPr algn="ctr">
              <a:defRPr sz="1875" b="1">
                <a:solidFill>
                  <a:srgbClr val="102638"/>
                </a:solidFill>
              </a:defRPr>
            </a:pPr>
            <a:r>
              <a:rPr sz="1875" b="1">
                <a:solidFill>
                  <a:srgbClr val="102638"/>
                </a:solidFill>
              </a:rPr>
              <a:t>Language-specific</a:t>
            </a:r>
          </a:p>
        </p:txBody>
      </p:sp>
      <p:sp>
        <p:nvSpPr>
          <p:cNvPr id="11" name="box">
            <a:extLst>
              <a:ext uri="{FF2B5EF4-FFF2-40B4-BE49-F238E27FC236}">
                <a16:creationId xmlns:a16="http://schemas.microsoft.com/office/drawing/2014/main" id="{FE7140F1-BABF-4BA2-A366-4AECACA11CB8}"/>
              </a:ext>
            </a:extLst>
          </p:cNvPr>
          <p:cNvSpPr>
            <a:spLocks noGrp="1"/>
          </p:cNvSpPr>
          <p:nvPr/>
        </p:nvSpPr>
        <p:spPr>
          <a:xfrm>
            <a:off x="8324850" y="1943100"/>
            <a:ext cx="3333750" cy="1657350"/>
          </a:xfrm>
          <a:prstGeom prst="roundRect">
            <a:avLst>
              <a:gd name="adj" fmla="val 4598"/>
            </a:avLst>
          </a:prstGeom>
          <a:solidFill>
            <a:srgbClr val="0D2940"/>
          </a:solidFill>
          <a:ln w="9525">
            <a:solidFill>
              <a:srgbClr val="29475E"/>
            </a:solidFill>
            <a:prstDash val="solid"/>
          </a:ln>
        </p:spPr>
      </p:sp>
      <p:sp>
        <p:nvSpPr>
          <p:cNvPr id="12" name="text">
            <a:extLst>
              <a:ext uri="{FF2B5EF4-FFF2-40B4-BE49-F238E27FC236}">
                <a16:creationId xmlns:a16="http://schemas.microsoft.com/office/drawing/2014/main" id="{EE922201-C599-4226-91CB-8D7526C601D3}"/>
              </a:ext>
            </a:extLst>
          </p:cNvPr>
          <p:cNvSpPr>
            <a:spLocks noGrp="1"/>
          </p:cNvSpPr>
          <p:nvPr/>
        </p:nvSpPr>
        <p:spPr>
          <a:xfrm>
            <a:off x="8515350" y="2171700"/>
            <a:ext cx="2952750" cy="304800"/>
          </a:xfrm>
          <a:prstGeom prst="rect">
            <a:avLst/>
          </a:prstGeom>
          <a:noFill/>
          <a:ln w="0">
            <a:noFill/>
            <a:prstDash val="solid"/>
          </a:ln>
        </p:spPr>
        <p:txBody>
          <a:bodyPr anchor="ctr"/>
          <a:lstStyle/>
          <a:p>
            <a:pPr algn="ctr">
              <a:defRPr sz="1275" b="1">
                <a:solidFill>
                  <a:srgbClr val="FFB45A"/>
                </a:solidFill>
              </a:defRPr>
            </a:pPr>
            <a:r>
              <a:rPr sz="1275" b="1">
                <a:solidFill>
                  <a:srgbClr val="FFB45A"/>
                </a:solidFill>
              </a:rPr>
              <a:t>NONE</a:t>
            </a:r>
          </a:p>
        </p:txBody>
      </p:sp>
      <p:sp>
        <p:nvSpPr>
          <p:cNvPr id="13" name="text">
            <a:extLst>
              <a:ext uri="{FF2B5EF4-FFF2-40B4-BE49-F238E27FC236}">
                <a16:creationId xmlns:a16="http://schemas.microsoft.com/office/drawing/2014/main" id="{4C20D6EA-765A-45CF-AE5C-208DB5439B82}"/>
              </a:ext>
            </a:extLst>
          </p:cNvPr>
          <p:cNvSpPr>
            <a:spLocks noGrp="1"/>
          </p:cNvSpPr>
          <p:nvPr/>
        </p:nvSpPr>
        <p:spPr>
          <a:xfrm>
            <a:off x="8515350" y="2800350"/>
            <a:ext cx="2952750" cy="476250"/>
          </a:xfrm>
          <a:prstGeom prst="rect">
            <a:avLst/>
          </a:prstGeom>
          <a:noFill/>
          <a:ln w="0">
            <a:noFill/>
            <a:prstDash val="solid"/>
          </a:ln>
        </p:spPr>
        <p:txBody>
          <a:bodyPr anchor="ctr"/>
          <a:lstStyle/>
          <a:p>
            <a:pPr algn="ctr">
              <a:defRPr sz="1875" b="1">
                <a:solidFill>
                  <a:srgbClr val="F8FBFD"/>
                </a:solidFill>
              </a:defRPr>
            </a:pPr>
            <a:r>
              <a:rPr sz="1875" b="1">
                <a:solidFill>
                  <a:srgbClr val="F8FBFD"/>
                </a:solidFill>
              </a:rPr>
              <a:t>Target not met</a:t>
            </a:r>
          </a:p>
        </p:txBody>
      </p:sp>
      <p:sp>
        <p:nvSpPr>
          <p:cNvPr id="14" name="text">
            <a:extLst>
              <a:ext uri="{FF2B5EF4-FFF2-40B4-BE49-F238E27FC236}">
                <a16:creationId xmlns:a16="http://schemas.microsoft.com/office/drawing/2014/main" id="{87C97285-2A12-4213-B7C0-3CA96F14ED5E}"/>
              </a:ext>
            </a:extLst>
          </p:cNvPr>
          <p:cNvSpPr>
            <a:spLocks noGrp="1"/>
          </p:cNvSpPr>
          <p:nvPr/>
        </p:nvSpPr>
        <p:spPr>
          <a:xfrm>
            <a:off x="1143000" y="4324350"/>
            <a:ext cx="952500" cy="361950"/>
          </a:xfrm>
          <a:prstGeom prst="rect">
            <a:avLst/>
          </a:prstGeom>
          <a:noFill/>
          <a:ln w="0">
            <a:noFill/>
            <a:prstDash val="solid"/>
          </a:ln>
        </p:spPr>
        <p:txBody>
          <a:bodyPr anchor="ctr"/>
          <a:lstStyle/>
          <a:p>
            <a:pPr algn="l">
              <a:defRPr sz="1350" b="1">
                <a:solidFill>
                  <a:srgbClr val="9FB2C2"/>
                </a:solidFill>
              </a:defRPr>
            </a:pPr>
            <a:r>
              <a:rPr sz="1350" b="1">
                <a:solidFill>
                  <a:srgbClr val="9FB2C2"/>
                </a:solidFill>
              </a:rPr>
              <a:t>RQ2</a:t>
            </a:r>
          </a:p>
        </p:txBody>
      </p:sp>
      <p:sp>
        <p:nvSpPr>
          <p:cNvPr id="15" name="rule">
            <a:extLst>
              <a:ext uri="{FF2B5EF4-FFF2-40B4-BE49-F238E27FC236}">
                <a16:creationId xmlns:a16="http://schemas.microsoft.com/office/drawing/2014/main" id="{B218975A-F068-4816-AF36-E94A771582F5}"/>
              </a:ext>
            </a:extLst>
          </p:cNvPr>
          <p:cNvSpPr>
            <a:spLocks noGrp="1"/>
          </p:cNvSpPr>
          <p:nvPr/>
        </p:nvSpPr>
        <p:spPr>
          <a:xfrm>
            <a:off x="2228850" y="4486275"/>
            <a:ext cx="8763000" cy="38100"/>
          </a:xfrm>
          <a:prstGeom prst="rect">
            <a:avLst/>
          </a:prstGeom>
          <a:solidFill>
            <a:srgbClr val="29475E"/>
          </a:solidFill>
          <a:ln w="0">
            <a:noFill/>
            <a:prstDash val="solid"/>
          </a:ln>
        </p:spPr>
      </p:sp>
      <p:sp>
        <p:nvSpPr>
          <p:cNvPr id="16" name="box">
            <a:extLst>
              <a:ext uri="{FF2B5EF4-FFF2-40B4-BE49-F238E27FC236}">
                <a16:creationId xmlns:a16="http://schemas.microsoft.com/office/drawing/2014/main" id="{160CA856-98C7-45D8-9C4F-1A3219D214EE}"/>
              </a:ext>
            </a:extLst>
          </p:cNvPr>
          <p:cNvSpPr>
            <a:spLocks noGrp="1"/>
          </p:cNvSpPr>
          <p:nvPr/>
        </p:nvSpPr>
        <p:spPr>
          <a:xfrm>
            <a:off x="2400300" y="4210050"/>
            <a:ext cx="3048000" cy="342900"/>
          </a:xfrm>
          <a:prstGeom prst="roundRect">
            <a:avLst>
              <a:gd name="adj" fmla="val 22222"/>
            </a:avLst>
          </a:prstGeom>
          <a:solidFill>
            <a:srgbClr val="26D0CE"/>
          </a:solidFill>
          <a:ln w="0">
            <a:noFill/>
            <a:prstDash val="solid"/>
          </a:ln>
        </p:spPr>
      </p:sp>
      <p:sp>
        <p:nvSpPr>
          <p:cNvPr id="17" name="text">
            <a:extLst>
              <a:ext uri="{FF2B5EF4-FFF2-40B4-BE49-F238E27FC236}">
                <a16:creationId xmlns:a16="http://schemas.microsoft.com/office/drawing/2014/main" id="{8B090438-5813-4A2B-A09D-964161F30E8B}"/>
              </a:ext>
            </a:extLst>
          </p:cNvPr>
          <p:cNvSpPr>
            <a:spLocks noGrp="1"/>
          </p:cNvSpPr>
          <p:nvPr/>
        </p:nvSpPr>
        <p:spPr>
          <a:xfrm>
            <a:off x="2476500" y="4219575"/>
            <a:ext cx="2895600" cy="323850"/>
          </a:xfrm>
          <a:prstGeom prst="rect">
            <a:avLst/>
          </a:prstGeom>
          <a:noFill/>
          <a:ln w="0">
            <a:noFill/>
            <a:prstDash val="solid"/>
          </a:ln>
        </p:spPr>
        <p:txBody>
          <a:bodyPr anchor="ctr"/>
          <a:lstStyle/>
          <a:p>
            <a:pPr algn="ctr">
              <a:defRPr sz="1350" b="1">
                <a:solidFill>
                  <a:srgbClr val="071A2B"/>
                </a:solidFill>
              </a:defRPr>
            </a:pPr>
            <a:r>
              <a:rPr sz="1350" b="1" dirty="0">
                <a:solidFill>
                  <a:srgbClr val="071A2B"/>
                </a:solidFill>
              </a:rPr>
              <a:t>GPT &gt; RANDOOP</a:t>
            </a:r>
          </a:p>
        </p:txBody>
      </p:sp>
      <p:sp>
        <p:nvSpPr>
          <p:cNvPr id="18" name="box">
            <a:extLst>
              <a:ext uri="{FF2B5EF4-FFF2-40B4-BE49-F238E27FC236}">
                <a16:creationId xmlns:a16="http://schemas.microsoft.com/office/drawing/2014/main" id="{BC0FB37D-B1FB-4C7C-8B57-BFA4897C3582}"/>
              </a:ext>
            </a:extLst>
          </p:cNvPr>
          <p:cNvSpPr>
            <a:spLocks noGrp="1"/>
          </p:cNvSpPr>
          <p:nvPr/>
        </p:nvSpPr>
        <p:spPr>
          <a:xfrm>
            <a:off x="7562850" y="4210050"/>
            <a:ext cx="3048000" cy="342900"/>
          </a:xfrm>
          <a:prstGeom prst="roundRect">
            <a:avLst>
              <a:gd name="adj" fmla="val 22222"/>
            </a:avLst>
          </a:prstGeom>
          <a:solidFill>
            <a:srgbClr val="FFB45A"/>
          </a:solidFill>
          <a:ln w="0">
            <a:noFill/>
            <a:prstDash val="solid"/>
          </a:ln>
        </p:spPr>
      </p:sp>
      <p:sp>
        <p:nvSpPr>
          <p:cNvPr id="19" name="text">
            <a:extLst>
              <a:ext uri="{FF2B5EF4-FFF2-40B4-BE49-F238E27FC236}">
                <a16:creationId xmlns:a16="http://schemas.microsoft.com/office/drawing/2014/main" id="{B4AD24D1-ACE1-48CE-A774-C98368734132}"/>
              </a:ext>
            </a:extLst>
          </p:cNvPr>
          <p:cNvSpPr>
            <a:spLocks noGrp="1"/>
          </p:cNvSpPr>
          <p:nvPr/>
        </p:nvSpPr>
        <p:spPr>
          <a:xfrm>
            <a:off x="7639050" y="4219575"/>
            <a:ext cx="2895600" cy="323850"/>
          </a:xfrm>
          <a:prstGeom prst="rect">
            <a:avLst/>
          </a:prstGeom>
          <a:noFill/>
          <a:ln w="0">
            <a:noFill/>
            <a:prstDash val="solid"/>
          </a:ln>
        </p:spPr>
        <p:txBody>
          <a:bodyPr anchor="ctr"/>
          <a:lstStyle/>
          <a:p>
            <a:pPr algn="ctr">
              <a:defRPr sz="1350" b="1">
                <a:solidFill>
                  <a:srgbClr val="071A2B"/>
                </a:solidFill>
              </a:defRPr>
            </a:pPr>
            <a:r>
              <a:rPr sz="1350" b="1">
                <a:solidFill>
                  <a:srgbClr val="071A2B"/>
                </a:solidFill>
              </a:rPr>
              <a:t>NO DIFFERENCE</a:t>
            </a:r>
          </a:p>
        </p:txBody>
      </p:sp>
      <p:sp>
        <p:nvSpPr>
          <p:cNvPr id="20" name="box">
            <a:extLst>
              <a:ext uri="{FF2B5EF4-FFF2-40B4-BE49-F238E27FC236}">
                <a16:creationId xmlns:a16="http://schemas.microsoft.com/office/drawing/2014/main" id="{5A55AF4B-8B9C-4D02-94F8-1D7DDCB9D3ED}"/>
              </a:ext>
            </a:extLst>
          </p:cNvPr>
          <p:cNvSpPr>
            <a:spLocks noGrp="1"/>
          </p:cNvSpPr>
          <p:nvPr/>
        </p:nvSpPr>
        <p:spPr>
          <a:xfrm>
            <a:off x="1790700" y="5219700"/>
            <a:ext cx="8610600" cy="552450"/>
          </a:xfrm>
          <a:prstGeom prst="roundRect">
            <a:avLst>
              <a:gd name="adj" fmla="val 13793"/>
            </a:avLst>
          </a:prstGeom>
          <a:solidFill>
            <a:srgbClr val="0D2940"/>
          </a:solidFill>
          <a:ln w="9525">
            <a:solidFill>
              <a:srgbClr val="29475E"/>
            </a:solidFill>
            <a:prstDash val="solid"/>
          </a:ln>
        </p:spPr>
      </p:sp>
      <p:sp>
        <p:nvSpPr>
          <p:cNvPr id="21" name="text">
            <a:extLst>
              <a:ext uri="{FF2B5EF4-FFF2-40B4-BE49-F238E27FC236}">
                <a16:creationId xmlns:a16="http://schemas.microsoft.com/office/drawing/2014/main" id="{3E085CCF-B5A0-4AFC-A1C8-FF2CFCB2A8EF}"/>
              </a:ext>
            </a:extLst>
          </p:cNvPr>
          <p:cNvSpPr>
            <a:spLocks noGrp="1"/>
          </p:cNvSpPr>
          <p:nvPr/>
        </p:nvSpPr>
        <p:spPr>
          <a:xfrm>
            <a:off x="2057400" y="5295900"/>
            <a:ext cx="1143000" cy="381000"/>
          </a:xfrm>
          <a:prstGeom prst="rect">
            <a:avLst/>
          </a:prstGeom>
          <a:noFill/>
          <a:ln w="0">
            <a:noFill/>
            <a:prstDash val="solid"/>
          </a:ln>
        </p:spPr>
        <p:txBody>
          <a:bodyPr anchor="ctr"/>
          <a:lstStyle/>
          <a:p>
            <a:pPr algn="l">
              <a:defRPr sz="1200" b="1">
                <a:solidFill>
                  <a:srgbClr val="FFB45A"/>
                </a:solidFill>
              </a:defRPr>
            </a:pPr>
            <a:r>
              <a:rPr sz="1200" b="1">
                <a:solidFill>
                  <a:srgbClr val="FFB45A"/>
                </a:solidFill>
              </a:rPr>
              <a:t>REPORT</a:t>
            </a:r>
          </a:p>
        </p:txBody>
      </p:sp>
      <p:sp>
        <p:nvSpPr>
          <p:cNvPr id="22" name="text">
            <a:extLst>
              <a:ext uri="{FF2B5EF4-FFF2-40B4-BE49-F238E27FC236}">
                <a16:creationId xmlns:a16="http://schemas.microsoft.com/office/drawing/2014/main" id="{AE8095B2-3243-40AB-9920-6A4B5614B488}"/>
              </a:ext>
            </a:extLst>
          </p:cNvPr>
          <p:cNvSpPr>
            <a:spLocks noGrp="1"/>
          </p:cNvSpPr>
          <p:nvPr/>
        </p:nvSpPr>
        <p:spPr>
          <a:xfrm>
            <a:off x="3371850" y="5295900"/>
            <a:ext cx="6705600" cy="381000"/>
          </a:xfrm>
          <a:prstGeom prst="rect">
            <a:avLst/>
          </a:prstGeom>
          <a:noFill/>
          <a:ln w="0">
            <a:noFill/>
            <a:prstDash val="solid"/>
          </a:ln>
        </p:spPr>
        <p:txBody>
          <a:bodyPr anchor="ctr"/>
          <a:lstStyle/>
          <a:p>
            <a:pPr algn="ctr">
              <a:defRPr sz="1425" b="1">
                <a:solidFill>
                  <a:srgbClr val="F8FBFD"/>
                </a:solidFill>
              </a:defRPr>
            </a:pPr>
            <a:r>
              <a:rPr sz="1425" b="1">
                <a:solidFill>
                  <a:srgbClr val="F8FBFD"/>
                </a:solidFill>
              </a:rPr>
              <a:t>effect • 95% CI • adjusted p • missing n</a:t>
            </a:r>
          </a:p>
        </p:txBody>
      </p:sp>
      <p:sp>
        <p:nvSpPr>
          <p:cNvPr id="23" name="text">
            <a:extLst>
              <a:ext uri="{FF2B5EF4-FFF2-40B4-BE49-F238E27FC236}">
                <a16:creationId xmlns:a16="http://schemas.microsoft.com/office/drawing/2014/main" id="{9FFD97D5-BBA8-4412-9E5E-4BF1463686C6}"/>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24" name="text">
            <a:extLst>
              <a:ext uri="{FF2B5EF4-FFF2-40B4-BE49-F238E27FC236}">
                <a16:creationId xmlns:a16="http://schemas.microsoft.com/office/drawing/2014/main" id="{AA3A633F-4E74-4B8E-B43D-0542183D11B9}"/>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08</a:t>
            </a:r>
          </a:p>
        </p:txBody>
      </p:sp>
    </p:spTree>
    <p:extLst>
      <p:ext uri="{BB962C8B-B14F-4D97-AF65-F5344CB8AC3E}">
        <p14:creationId xmlns:p14="http://schemas.microsoft.com/office/powerpoint/2010/main" val="1242171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33" name="text">
            <a:extLst>
              <a:ext uri="{FF2B5EF4-FFF2-40B4-BE49-F238E27FC236}">
                <a16:creationId xmlns:a16="http://schemas.microsoft.com/office/drawing/2014/main" id="{616EB19F-4F07-4B6C-ABEC-3455E2A5332B}"/>
              </a:ext>
            </a:extLst>
          </p:cNvPr>
          <p:cNvSpPr>
            <a:spLocks noGrp="1"/>
          </p:cNvSpPr>
          <p:nvPr/>
        </p:nvSpPr>
        <p:spPr>
          <a:xfrm>
            <a:off x="514350" y="323850"/>
            <a:ext cx="457200" cy="266700"/>
          </a:xfrm>
          <a:prstGeom prst="rect">
            <a:avLst/>
          </a:prstGeom>
          <a:noFill/>
          <a:ln w="0">
            <a:noFill/>
            <a:prstDash val="solid"/>
          </a:ln>
        </p:spPr>
        <p:txBody>
          <a:bodyPr anchor="ctr"/>
          <a:lstStyle/>
          <a:p>
            <a:pPr algn="l">
              <a:defRPr sz="1050" b="1">
                <a:solidFill>
                  <a:srgbClr val="26D0CE"/>
                </a:solidFill>
              </a:defRPr>
            </a:pPr>
            <a:r>
              <a:rPr sz="1050" b="1">
                <a:solidFill>
                  <a:srgbClr val="26D0CE"/>
                </a:solidFill>
              </a:rPr>
              <a:t>09</a:t>
            </a:r>
          </a:p>
        </p:txBody>
      </p:sp>
      <p:sp>
        <p:nvSpPr>
          <p:cNvPr id="2" name="text">
            <a:extLst>
              <a:ext uri="{FF2B5EF4-FFF2-40B4-BE49-F238E27FC236}">
                <a16:creationId xmlns:a16="http://schemas.microsoft.com/office/drawing/2014/main" id="{27CEC9B8-AC0E-4CA3-AA4C-F96B82681C8F}"/>
              </a:ext>
            </a:extLst>
          </p:cNvPr>
          <p:cNvSpPr>
            <a:spLocks noGrp="1"/>
          </p:cNvSpPr>
          <p:nvPr/>
        </p:nvSpPr>
        <p:spPr>
          <a:xfrm>
            <a:off x="1066800" y="323850"/>
            <a:ext cx="5619750" cy="266700"/>
          </a:xfrm>
          <a:prstGeom prst="rect">
            <a:avLst/>
          </a:prstGeom>
          <a:noFill/>
          <a:ln w="0">
            <a:noFill/>
            <a:prstDash val="solid"/>
          </a:ln>
        </p:spPr>
        <p:txBody>
          <a:bodyPr anchor="ctr"/>
          <a:lstStyle/>
          <a:p>
            <a:pPr algn="l">
              <a:defRPr sz="1050" b="1">
                <a:solidFill>
                  <a:srgbClr val="9FB2C2"/>
                </a:solidFill>
              </a:defRPr>
            </a:pPr>
            <a:r>
              <a:rPr sz="1050" b="1">
                <a:solidFill>
                  <a:srgbClr val="9FB2C2"/>
                </a:solidFill>
              </a:rPr>
              <a:t>THREATS TO VALIDITY</a:t>
            </a:r>
          </a:p>
        </p:txBody>
      </p:sp>
      <p:sp>
        <p:nvSpPr>
          <p:cNvPr id="3" name="text">
            <a:extLst>
              <a:ext uri="{FF2B5EF4-FFF2-40B4-BE49-F238E27FC236}">
                <a16:creationId xmlns:a16="http://schemas.microsoft.com/office/drawing/2014/main" id="{74DF1C8C-E987-43CC-8B02-7CAF2C11AD5F}"/>
              </a:ext>
            </a:extLst>
          </p:cNvPr>
          <p:cNvSpPr>
            <a:spLocks noGrp="1"/>
          </p:cNvSpPr>
          <p:nvPr/>
        </p:nvSpPr>
        <p:spPr>
          <a:xfrm>
            <a:off x="514350" y="685800"/>
            <a:ext cx="11144250" cy="590550"/>
          </a:xfrm>
          <a:prstGeom prst="rect">
            <a:avLst/>
          </a:prstGeom>
          <a:noFill/>
          <a:ln w="0">
            <a:noFill/>
            <a:prstDash val="solid"/>
          </a:ln>
        </p:spPr>
        <p:txBody>
          <a:bodyPr anchor="ctr"/>
          <a:lstStyle/>
          <a:p>
            <a:pPr algn="l">
              <a:defRPr sz="2850" b="1">
                <a:solidFill>
                  <a:srgbClr val="F8FBFD"/>
                </a:solidFill>
              </a:defRPr>
            </a:pPr>
            <a:r>
              <a:rPr sz="2850" b="1">
                <a:solidFill>
                  <a:srgbClr val="F8FBFD"/>
                </a:solidFill>
              </a:rPr>
              <a:t>Threat → mitigation</a:t>
            </a:r>
          </a:p>
        </p:txBody>
      </p:sp>
      <p:sp>
        <p:nvSpPr>
          <p:cNvPr id="4" name="rule">
            <a:extLst>
              <a:ext uri="{FF2B5EF4-FFF2-40B4-BE49-F238E27FC236}">
                <a16:creationId xmlns:a16="http://schemas.microsoft.com/office/drawing/2014/main" id="{76B04567-1F1C-44AE-96B6-A5706D0EFB15}"/>
              </a:ext>
            </a:extLst>
          </p:cNvPr>
          <p:cNvSpPr>
            <a:spLocks noGrp="1"/>
          </p:cNvSpPr>
          <p:nvPr/>
        </p:nvSpPr>
        <p:spPr>
          <a:xfrm>
            <a:off x="514350" y="1371600"/>
            <a:ext cx="857250" cy="38100"/>
          </a:xfrm>
          <a:prstGeom prst="rect">
            <a:avLst/>
          </a:prstGeom>
          <a:solidFill>
            <a:srgbClr val="26D0CE"/>
          </a:solidFill>
          <a:ln w="0">
            <a:noFill/>
            <a:prstDash val="solid"/>
          </a:ln>
        </p:spPr>
      </p:sp>
      <p:sp>
        <p:nvSpPr>
          <p:cNvPr id="5" name="text">
            <a:extLst>
              <a:ext uri="{FF2B5EF4-FFF2-40B4-BE49-F238E27FC236}">
                <a16:creationId xmlns:a16="http://schemas.microsoft.com/office/drawing/2014/main" id="{A3DAFEAD-5793-4A6D-8CCE-5CE27CC49183}"/>
              </a:ext>
            </a:extLst>
          </p:cNvPr>
          <p:cNvSpPr>
            <a:spLocks noGrp="1"/>
          </p:cNvSpPr>
          <p:nvPr/>
        </p:nvSpPr>
        <p:spPr>
          <a:xfrm>
            <a:off x="514350" y="1752600"/>
            <a:ext cx="2667000" cy="266700"/>
          </a:xfrm>
          <a:prstGeom prst="rect">
            <a:avLst/>
          </a:prstGeom>
          <a:noFill/>
          <a:ln w="0">
            <a:noFill/>
            <a:prstDash val="solid"/>
          </a:ln>
        </p:spPr>
        <p:txBody>
          <a:bodyPr anchor="ctr"/>
          <a:lstStyle/>
          <a:p>
            <a:pPr algn="ctr">
              <a:defRPr sz="1125" b="1">
                <a:solidFill>
                  <a:srgbClr val="58A6FF"/>
                </a:solidFill>
              </a:defRPr>
            </a:pPr>
            <a:r>
              <a:rPr sz="1125" b="1">
                <a:solidFill>
                  <a:srgbClr val="58A6FF"/>
                </a:solidFill>
              </a:rPr>
              <a:t>INTERNAL</a:t>
            </a:r>
          </a:p>
        </p:txBody>
      </p:sp>
      <p:sp>
        <p:nvSpPr>
          <p:cNvPr id="6" name="box">
            <a:extLst>
              <a:ext uri="{FF2B5EF4-FFF2-40B4-BE49-F238E27FC236}">
                <a16:creationId xmlns:a16="http://schemas.microsoft.com/office/drawing/2014/main" id="{F28A5AA8-33C5-4CA6-A4B7-41CBC0A1B0BE}"/>
              </a:ext>
            </a:extLst>
          </p:cNvPr>
          <p:cNvSpPr>
            <a:spLocks noGrp="1"/>
          </p:cNvSpPr>
          <p:nvPr/>
        </p:nvSpPr>
        <p:spPr>
          <a:xfrm>
            <a:off x="514350" y="2114550"/>
            <a:ext cx="2667000" cy="990600"/>
          </a:xfrm>
          <a:prstGeom prst="roundRect">
            <a:avLst>
              <a:gd name="adj" fmla="val 7692"/>
            </a:avLst>
          </a:prstGeom>
          <a:solidFill>
            <a:srgbClr val="0D2940"/>
          </a:solidFill>
          <a:ln w="9525">
            <a:solidFill>
              <a:srgbClr val="29475E"/>
            </a:solidFill>
            <a:prstDash val="solid"/>
          </a:ln>
        </p:spPr>
      </p:sp>
      <p:sp>
        <p:nvSpPr>
          <p:cNvPr id="7" name="text">
            <a:extLst>
              <a:ext uri="{FF2B5EF4-FFF2-40B4-BE49-F238E27FC236}">
                <a16:creationId xmlns:a16="http://schemas.microsoft.com/office/drawing/2014/main" id="{878F2743-5209-4E3A-96B5-72FE0C4A7B33}"/>
              </a:ext>
            </a:extLst>
          </p:cNvPr>
          <p:cNvSpPr>
            <a:spLocks noGrp="1"/>
          </p:cNvSpPr>
          <p:nvPr/>
        </p:nvSpPr>
        <p:spPr>
          <a:xfrm>
            <a:off x="666750" y="2324100"/>
            <a:ext cx="2362200" cy="571500"/>
          </a:xfrm>
          <a:prstGeom prst="rect">
            <a:avLst/>
          </a:prstGeom>
          <a:noFill/>
          <a:ln w="0">
            <a:noFill/>
            <a:prstDash val="solid"/>
          </a:ln>
        </p:spPr>
        <p:txBody>
          <a:bodyPr anchor="ctr"/>
          <a:lstStyle/>
          <a:p>
            <a:pPr algn="ctr">
              <a:defRPr sz="1575" b="1">
                <a:solidFill>
                  <a:srgbClr val="F8FBFD"/>
                </a:solidFill>
              </a:defRPr>
            </a:pPr>
            <a:r>
              <a:rPr sz="1575" b="1">
                <a:solidFill>
                  <a:srgbClr val="F8FBFD"/>
                </a:solidFill>
              </a:rPr>
              <a:t>Model drift</a:t>
            </a:r>
          </a:p>
        </p:txBody>
      </p:sp>
      <p:sp>
        <p:nvSpPr>
          <p:cNvPr id="8" name="text">
            <a:extLst>
              <a:ext uri="{FF2B5EF4-FFF2-40B4-BE49-F238E27FC236}">
                <a16:creationId xmlns:a16="http://schemas.microsoft.com/office/drawing/2014/main" id="{F28412E2-F779-418F-92A6-E3C417A785C4}"/>
              </a:ext>
            </a:extLst>
          </p:cNvPr>
          <p:cNvSpPr>
            <a:spLocks noGrp="1"/>
          </p:cNvSpPr>
          <p:nvPr/>
        </p:nvSpPr>
        <p:spPr>
          <a:xfrm>
            <a:off x="1562100" y="3181350"/>
            <a:ext cx="571500" cy="419100"/>
          </a:xfrm>
          <a:prstGeom prst="rect">
            <a:avLst/>
          </a:prstGeom>
          <a:noFill/>
          <a:ln w="0">
            <a:noFill/>
            <a:prstDash val="solid"/>
          </a:ln>
        </p:spPr>
        <p:txBody>
          <a:bodyPr anchor="ctr"/>
          <a:lstStyle/>
          <a:p>
            <a:pPr algn="ctr">
              <a:defRPr sz="2100" b="1">
                <a:solidFill>
                  <a:srgbClr val="26D0CE"/>
                </a:solidFill>
              </a:defRPr>
            </a:pPr>
            <a:r>
              <a:rPr sz="2100" b="1">
                <a:solidFill>
                  <a:srgbClr val="26D0CE"/>
                </a:solidFill>
              </a:rPr>
              <a:t>↓</a:t>
            </a:r>
          </a:p>
        </p:txBody>
      </p:sp>
      <p:sp>
        <p:nvSpPr>
          <p:cNvPr id="9" name="box">
            <a:extLst>
              <a:ext uri="{FF2B5EF4-FFF2-40B4-BE49-F238E27FC236}">
                <a16:creationId xmlns:a16="http://schemas.microsoft.com/office/drawing/2014/main" id="{93EF5CF5-26FD-4A2D-8DC5-2CECE634FBC6}"/>
              </a:ext>
            </a:extLst>
          </p:cNvPr>
          <p:cNvSpPr>
            <a:spLocks noGrp="1"/>
          </p:cNvSpPr>
          <p:nvPr/>
        </p:nvSpPr>
        <p:spPr>
          <a:xfrm>
            <a:off x="514350" y="3676650"/>
            <a:ext cx="2667000" cy="990600"/>
          </a:xfrm>
          <a:prstGeom prst="roundRect">
            <a:avLst>
              <a:gd name="adj" fmla="val 7692"/>
            </a:avLst>
          </a:prstGeom>
          <a:solidFill>
            <a:srgbClr val="0D2940"/>
          </a:solidFill>
          <a:ln w="9525">
            <a:solidFill>
              <a:srgbClr val="29475E"/>
            </a:solidFill>
            <a:prstDash val="solid"/>
          </a:ln>
        </p:spPr>
      </p:sp>
      <p:sp>
        <p:nvSpPr>
          <p:cNvPr id="10" name="text">
            <a:extLst>
              <a:ext uri="{FF2B5EF4-FFF2-40B4-BE49-F238E27FC236}">
                <a16:creationId xmlns:a16="http://schemas.microsoft.com/office/drawing/2014/main" id="{BA1F841C-7905-499C-B3B5-6D962AD375F9}"/>
              </a:ext>
            </a:extLst>
          </p:cNvPr>
          <p:cNvSpPr>
            <a:spLocks noGrp="1"/>
          </p:cNvSpPr>
          <p:nvPr/>
        </p:nvSpPr>
        <p:spPr>
          <a:xfrm>
            <a:off x="666750" y="3886200"/>
            <a:ext cx="2362200" cy="571500"/>
          </a:xfrm>
          <a:prstGeom prst="rect">
            <a:avLst/>
          </a:prstGeom>
          <a:noFill/>
          <a:ln w="0">
            <a:noFill/>
            <a:prstDash val="solid"/>
          </a:ln>
        </p:spPr>
        <p:txBody>
          <a:bodyPr anchor="ctr"/>
          <a:lstStyle/>
          <a:p>
            <a:pPr algn="ctr">
              <a:defRPr sz="1500" b="1">
                <a:solidFill>
                  <a:srgbClr val="9FB2C2"/>
                </a:solidFill>
              </a:defRPr>
            </a:pPr>
            <a:r>
              <a:rPr lang="vi-VN" sz="1500" b="1" dirty="0" err="1">
                <a:solidFill>
                  <a:srgbClr val="9FB2C2"/>
                </a:solidFill>
              </a:rPr>
              <a:t>ChatGPT</a:t>
            </a:r>
            <a:r>
              <a:rPr lang="vi-VN" sz="1500" b="1" dirty="0">
                <a:solidFill>
                  <a:srgbClr val="9FB2C2"/>
                </a:solidFill>
              </a:rPr>
              <a:t> 4o – 2024-08-06</a:t>
            </a:r>
            <a:endParaRPr sz="1500" b="1" dirty="0">
              <a:solidFill>
                <a:srgbClr val="9FB2C2"/>
              </a:solidFill>
            </a:endParaRPr>
          </a:p>
        </p:txBody>
      </p:sp>
      <p:sp>
        <p:nvSpPr>
          <p:cNvPr id="11" name="text">
            <a:extLst>
              <a:ext uri="{FF2B5EF4-FFF2-40B4-BE49-F238E27FC236}">
                <a16:creationId xmlns:a16="http://schemas.microsoft.com/office/drawing/2014/main" id="{2553B1E9-D5E6-48E2-9F46-6E5976AEF8AA}"/>
              </a:ext>
            </a:extLst>
          </p:cNvPr>
          <p:cNvSpPr>
            <a:spLocks noGrp="1"/>
          </p:cNvSpPr>
          <p:nvPr/>
        </p:nvSpPr>
        <p:spPr>
          <a:xfrm>
            <a:off x="3333750" y="1752600"/>
            <a:ext cx="2667000" cy="266700"/>
          </a:xfrm>
          <a:prstGeom prst="rect">
            <a:avLst/>
          </a:prstGeom>
          <a:noFill/>
          <a:ln w="0">
            <a:noFill/>
            <a:prstDash val="solid"/>
          </a:ln>
        </p:spPr>
        <p:txBody>
          <a:bodyPr anchor="ctr"/>
          <a:lstStyle/>
          <a:p>
            <a:pPr algn="ctr">
              <a:defRPr sz="1125" b="1">
                <a:solidFill>
                  <a:srgbClr val="26D0CE"/>
                </a:solidFill>
              </a:defRPr>
            </a:pPr>
            <a:r>
              <a:rPr sz="1125" b="1">
                <a:solidFill>
                  <a:srgbClr val="26D0CE"/>
                </a:solidFill>
              </a:rPr>
              <a:t>EXTERNAL</a:t>
            </a:r>
          </a:p>
        </p:txBody>
      </p:sp>
      <p:sp>
        <p:nvSpPr>
          <p:cNvPr id="12" name="box">
            <a:extLst>
              <a:ext uri="{FF2B5EF4-FFF2-40B4-BE49-F238E27FC236}">
                <a16:creationId xmlns:a16="http://schemas.microsoft.com/office/drawing/2014/main" id="{79E21EF0-D27E-41C0-BEC1-847B826E10C1}"/>
              </a:ext>
            </a:extLst>
          </p:cNvPr>
          <p:cNvSpPr>
            <a:spLocks noGrp="1"/>
          </p:cNvSpPr>
          <p:nvPr/>
        </p:nvSpPr>
        <p:spPr>
          <a:xfrm>
            <a:off x="3333750" y="2114550"/>
            <a:ext cx="2667000" cy="990600"/>
          </a:xfrm>
          <a:prstGeom prst="roundRect">
            <a:avLst>
              <a:gd name="adj" fmla="val 7692"/>
            </a:avLst>
          </a:prstGeom>
          <a:solidFill>
            <a:srgbClr val="0D2940"/>
          </a:solidFill>
          <a:ln w="9525">
            <a:solidFill>
              <a:srgbClr val="29475E"/>
            </a:solidFill>
            <a:prstDash val="solid"/>
          </a:ln>
        </p:spPr>
      </p:sp>
      <p:sp>
        <p:nvSpPr>
          <p:cNvPr id="13" name="text">
            <a:extLst>
              <a:ext uri="{FF2B5EF4-FFF2-40B4-BE49-F238E27FC236}">
                <a16:creationId xmlns:a16="http://schemas.microsoft.com/office/drawing/2014/main" id="{AF8B9BB6-AF23-40FC-989C-B00167B83837}"/>
              </a:ext>
            </a:extLst>
          </p:cNvPr>
          <p:cNvSpPr>
            <a:spLocks noGrp="1"/>
          </p:cNvSpPr>
          <p:nvPr/>
        </p:nvSpPr>
        <p:spPr>
          <a:xfrm>
            <a:off x="3486150" y="2324100"/>
            <a:ext cx="2362200" cy="571500"/>
          </a:xfrm>
          <a:prstGeom prst="rect">
            <a:avLst/>
          </a:prstGeom>
          <a:noFill/>
          <a:ln w="0">
            <a:noFill/>
            <a:prstDash val="solid"/>
          </a:ln>
        </p:spPr>
        <p:txBody>
          <a:bodyPr anchor="ctr"/>
          <a:lstStyle/>
          <a:p>
            <a:pPr algn="ctr">
              <a:defRPr sz="1575" b="1">
                <a:solidFill>
                  <a:srgbClr val="F8FBFD"/>
                </a:solidFill>
              </a:defRPr>
            </a:pPr>
            <a:r>
              <a:rPr sz="1575" b="1">
                <a:solidFill>
                  <a:srgbClr val="F8FBFD"/>
                </a:solidFill>
              </a:rPr>
              <a:t>50 units</a:t>
            </a:r>
          </a:p>
        </p:txBody>
      </p:sp>
      <p:sp>
        <p:nvSpPr>
          <p:cNvPr id="14" name="text">
            <a:extLst>
              <a:ext uri="{FF2B5EF4-FFF2-40B4-BE49-F238E27FC236}">
                <a16:creationId xmlns:a16="http://schemas.microsoft.com/office/drawing/2014/main" id="{EF44CAF1-E123-4072-878A-4048B7EA8A61}"/>
              </a:ext>
            </a:extLst>
          </p:cNvPr>
          <p:cNvSpPr>
            <a:spLocks noGrp="1"/>
          </p:cNvSpPr>
          <p:nvPr/>
        </p:nvSpPr>
        <p:spPr>
          <a:xfrm>
            <a:off x="4381500" y="3181350"/>
            <a:ext cx="571500" cy="419100"/>
          </a:xfrm>
          <a:prstGeom prst="rect">
            <a:avLst/>
          </a:prstGeom>
          <a:noFill/>
          <a:ln w="0">
            <a:noFill/>
            <a:prstDash val="solid"/>
          </a:ln>
        </p:spPr>
        <p:txBody>
          <a:bodyPr anchor="ctr"/>
          <a:lstStyle/>
          <a:p>
            <a:pPr algn="ctr">
              <a:defRPr sz="2100" b="1">
                <a:solidFill>
                  <a:srgbClr val="26D0CE"/>
                </a:solidFill>
              </a:defRPr>
            </a:pPr>
            <a:r>
              <a:rPr sz="2100" b="1">
                <a:solidFill>
                  <a:srgbClr val="26D0CE"/>
                </a:solidFill>
              </a:rPr>
              <a:t>↓</a:t>
            </a:r>
          </a:p>
        </p:txBody>
      </p:sp>
      <p:sp>
        <p:nvSpPr>
          <p:cNvPr id="15" name="box">
            <a:extLst>
              <a:ext uri="{FF2B5EF4-FFF2-40B4-BE49-F238E27FC236}">
                <a16:creationId xmlns:a16="http://schemas.microsoft.com/office/drawing/2014/main" id="{4C66CC62-2337-4610-8371-16AF0C150FE0}"/>
              </a:ext>
            </a:extLst>
          </p:cNvPr>
          <p:cNvSpPr>
            <a:spLocks noGrp="1"/>
          </p:cNvSpPr>
          <p:nvPr/>
        </p:nvSpPr>
        <p:spPr>
          <a:xfrm>
            <a:off x="3333750" y="3676650"/>
            <a:ext cx="2667000" cy="990600"/>
          </a:xfrm>
          <a:prstGeom prst="roundRect">
            <a:avLst>
              <a:gd name="adj" fmla="val 7692"/>
            </a:avLst>
          </a:prstGeom>
          <a:solidFill>
            <a:srgbClr val="0D2940"/>
          </a:solidFill>
          <a:ln w="9525">
            <a:solidFill>
              <a:srgbClr val="29475E"/>
            </a:solidFill>
            <a:prstDash val="solid"/>
          </a:ln>
        </p:spPr>
        <p:txBody>
          <a:bodyPr/>
          <a:lstStyle/>
          <a:p>
            <a:endParaRPr lang="vi-VN"/>
          </a:p>
        </p:txBody>
      </p:sp>
      <p:sp>
        <p:nvSpPr>
          <p:cNvPr id="16" name="text">
            <a:extLst>
              <a:ext uri="{FF2B5EF4-FFF2-40B4-BE49-F238E27FC236}">
                <a16:creationId xmlns:a16="http://schemas.microsoft.com/office/drawing/2014/main" id="{421F2E31-D5E5-48A3-AEF4-0B25BC1E2385}"/>
              </a:ext>
            </a:extLst>
          </p:cNvPr>
          <p:cNvSpPr>
            <a:spLocks noGrp="1"/>
          </p:cNvSpPr>
          <p:nvPr/>
        </p:nvSpPr>
        <p:spPr>
          <a:xfrm>
            <a:off x="3486150" y="3886200"/>
            <a:ext cx="2362200" cy="571500"/>
          </a:xfrm>
          <a:prstGeom prst="rect">
            <a:avLst/>
          </a:prstGeom>
          <a:noFill/>
          <a:ln w="0">
            <a:noFill/>
            <a:prstDash val="solid"/>
          </a:ln>
        </p:spPr>
        <p:txBody>
          <a:bodyPr anchor="ctr"/>
          <a:lstStyle/>
          <a:p>
            <a:pPr algn="ctr">
              <a:defRPr sz="1500" b="1">
                <a:solidFill>
                  <a:srgbClr val="9FB2C2"/>
                </a:solidFill>
              </a:defRPr>
            </a:pPr>
            <a:r>
              <a:rPr sz="1500" b="1" dirty="0">
                <a:solidFill>
                  <a:srgbClr val="9FB2C2"/>
                </a:solidFill>
              </a:rPr>
              <a:t>Bounded claim</a:t>
            </a:r>
            <a:r>
              <a:rPr lang="vi-VN" sz="1500" b="1" dirty="0">
                <a:solidFill>
                  <a:srgbClr val="9FB2C2"/>
                </a:solidFill>
              </a:rPr>
              <a:t> (CC 5-15)</a:t>
            </a:r>
            <a:endParaRPr sz="1500" b="1" dirty="0">
              <a:solidFill>
                <a:srgbClr val="9FB2C2"/>
              </a:solidFill>
            </a:endParaRPr>
          </a:p>
        </p:txBody>
      </p:sp>
      <p:sp>
        <p:nvSpPr>
          <p:cNvPr id="17" name="text">
            <a:extLst>
              <a:ext uri="{FF2B5EF4-FFF2-40B4-BE49-F238E27FC236}">
                <a16:creationId xmlns:a16="http://schemas.microsoft.com/office/drawing/2014/main" id="{DDE2D8B1-94E4-455E-B853-13D2C8C2B6FE}"/>
              </a:ext>
            </a:extLst>
          </p:cNvPr>
          <p:cNvSpPr>
            <a:spLocks noGrp="1"/>
          </p:cNvSpPr>
          <p:nvPr/>
        </p:nvSpPr>
        <p:spPr>
          <a:xfrm>
            <a:off x="6153150" y="1752600"/>
            <a:ext cx="2667000" cy="266700"/>
          </a:xfrm>
          <a:prstGeom prst="rect">
            <a:avLst/>
          </a:prstGeom>
          <a:noFill/>
          <a:ln w="0">
            <a:noFill/>
            <a:prstDash val="solid"/>
          </a:ln>
        </p:spPr>
        <p:txBody>
          <a:bodyPr anchor="ctr"/>
          <a:lstStyle/>
          <a:p>
            <a:pPr algn="ctr">
              <a:defRPr sz="1125" b="1">
                <a:solidFill>
                  <a:srgbClr val="FFB45A"/>
                </a:solidFill>
              </a:defRPr>
            </a:pPr>
            <a:r>
              <a:rPr sz="1125" b="1">
                <a:solidFill>
                  <a:srgbClr val="FFB45A"/>
                </a:solidFill>
              </a:rPr>
              <a:t>CONSTRUCT</a:t>
            </a:r>
          </a:p>
        </p:txBody>
      </p:sp>
      <p:sp>
        <p:nvSpPr>
          <p:cNvPr id="18" name="box">
            <a:extLst>
              <a:ext uri="{FF2B5EF4-FFF2-40B4-BE49-F238E27FC236}">
                <a16:creationId xmlns:a16="http://schemas.microsoft.com/office/drawing/2014/main" id="{64A836DF-F691-4F61-A2EF-5329F6FFF35F}"/>
              </a:ext>
            </a:extLst>
          </p:cNvPr>
          <p:cNvSpPr>
            <a:spLocks noGrp="1"/>
          </p:cNvSpPr>
          <p:nvPr/>
        </p:nvSpPr>
        <p:spPr>
          <a:xfrm>
            <a:off x="6153150" y="2114550"/>
            <a:ext cx="2667000" cy="990600"/>
          </a:xfrm>
          <a:prstGeom prst="roundRect">
            <a:avLst>
              <a:gd name="adj" fmla="val 7692"/>
            </a:avLst>
          </a:prstGeom>
          <a:solidFill>
            <a:srgbClr val="0D2940"/>
          </a:solidFill>
          <a:ln w="9525">
            <a:solidFill>
              <a:srgbClr val="29475E"/>
            </a:solidFill>
            <a:prstDash val="solid"/>
          </a:ln>
        </p:spPr>
      </p:sp>
      <p:sp>
        <p:nvSpPr>
          <p:cNvPr id="19" name="text">
            <a:extLst>
              <a:ext uri="{FF2B5EF4-FFF2-40B4-BE49-F238E27FC236}">
                <a16:creationId xmlns:a16="http://schemas.microsoft.com/office/drawing/2014/main" id="{824F14A5-1F13-4EA8-AA78-9E6268E3BA6A}"/>
              </a:ext>
            </a:extLst>
          </p:cNvPr>
          <p:cNvSpPr>
            <a:spLocks noGrp="1"/>
          </p:cNvSpPr>
          <p:nvPr/>
        </p:nvSpPr>
        <p:spPr>
          <a:xfrm>
            <a:off x="6305550" y="2324100"/>
            <a:ext cx="2362200" cy="571500"/>
          </a:xfrm>
          <a:prstGeom prst="rect">
            <a:avLst/>
          </a:prstGeom>
          <a:noFill/>
          <a:ln w="0">
            <a:noFill/>
            <a:prstDash val="solid"/>
          </a:ln>
        </p:spPr>
        <p:txBody>
          <a:bodyPr anchor="ctr"/>
          <a:lstStyle/>
          <a:p>
            <a:pPr algn="ctr">
              <a:defRPr sz="1575" b="1">
                <a:solidFill>
                  <a:srgbClr val="F8FBFD"/>
                </a:solidFill>
              </a:defRPr>
            </a:pPr>
            <a:r>
              <a:rPr sz="1575" b="1">
                <a:solidFill>
                  <a:srgbClr val="F8FBFD"/>
                </a:solidFill>
              </a:rPr>
              <a:t>Coverage ≠ fault</a:t>
            </a:r>
          </a:p>
        </p:txBody>
      </p:sp>
      <p:sp>
        <p:nvSpPr>
          <p:cNvPr id="20" name="text">
            <a:extLst>
              <a:ext uri="{FF2B5EF4-FFF2-40B4-BE49-F238E27FC236}">
                <a16:creationId xmlns:a16="http://schemas.microsoft.com/office/drawing/2014/main" id="{8D7C3E82-9C55-45D5-A3D9-06FD10D1BD09}"/>
              </a:ext>
            </a:extLst>
          </p:cNvPr>
          <p:cNvSpPr>
            <a:spLocks noGrp="1"/>
          </p:cNvSpPr>
          <p:nvPr/>
        </p:nvSpPr>
        <p:spPr>
          <a:xfrm>
            <a:off x="7200900" y="3181350"/>
            <a:ext cx="571500" cy="419100"/>
          </a:xfrm>
          <a:prstGeom prst="rect">
            <a:avLst/>
          </a:prstGeom>
          <a:noFill/>
          <a:ln w="0">
            <a:noFill/>
            <a:prstDash val="solid"/>
          </a:ln>
        </p:spPr>
        <p:txBody>
          <a:bodyPr anchor="ctr"/>
          <a:lstStyle/>
          <a:p>
            <a:pPr algn="ctr">
              <a:defRPr sz="2100" b="1">
                <a:solidFill>
                  <a:srgbClr val="26D0CE"/>
                </a:solidFill>
              </a:defRPr>
            </a:pPr>
            <a:r>
              <a:rPr sz="2100" b="1">
                <a:solidFill>
                  <a:srgbClr val="26D0CE"/>
                </a:solidFill>
              </a:rPr>
              <a:t>↓</a:t>
            </a:r>
          </a:p>
        </p:txBody>
      </p:sp>
      <p:sp>
        <p:nvSpPr>
          <p:cNvPr id="21" name="box">
            <a:extLst>
              <a:ext uri="{FF2B5EF4-FFF2-40B4-BE49-F238E27FC236}">
                <a16:creationId xmlns:a16="http://schemas.microsoft.com/office/drawing/2014/main" id="{83F279A2-1C3C-41DC-9817-2A0775D83B48}"/>
              </a:ext>
            </a:extLst>
          </p:cNvPr>
          <p:cNvSpPr>
            <a:spLocks noGrp="1"/>
          </p:cNvSpPr>
          <p:nvPr/>
        </p:nvSpPr>
        <p:spPr>
          <a:xfrm>
            <a:off x="6153150" y="3676650"/>
            <a:ext cx="2667000" cy="990600"/>
          </a:xfrm>
          <a:prstGeom prst="roundRect">
            <a:avLst>
              <a:gd name="adj" fmla="val 7692"/>
            </a:avLst>
          </a:prstGeom>
          <a:solidFill>
            <a:srgbClr val="EAF3F7"/>
          </a:solidFill>
          <a:ln w="0">
            <a:noFill/>
            <a:prstDash val="solid"/>
          </a:ln>
        </p:spPr>
      </p:sp>
      <p:sp>
        <p:nvSpPr>
          <p:cNvPr id="22" name="text">
            <a:extLst>
              <a:ext uri="{FF2B5EF4-FFF2-40B4-BE49-F238E27FC236}">
                <a16:creationId xmlns:a16="http://schemas.microsoft.com/office/drawing/2014/main" id="{C9A96B24-CAD1-4D87-9B6A-9892128AB212}"/>
              </a:ext>
            </a:extLst>
          </p:cNvPr>
          <p:cNvSpPr>
            <a:spLocks noGrp="1"/>
          </p:cNvSpPr>
          <p:nvPr/>
        </p:nvSpPr>
        <p:spPr>
          <a:xfrm>
            <a:off x="6305550" y="3886200"/>
            <a:ext cx="2362200" cy="571500"/>
          </a:xfrm>
          <a:prstGeom prst="rect">
            <a:avLst/>
          </a:prstGeom>
          <a:noFill/>
          <a:ln w="0">
            <a:noFill/>
            <a:prstDash val="solid"/>
          </a:ln>
        </p:spPr>
        <p:txBody>
          <a:bodyPr anchor="ctr"/>
          <a:lstStyle/>
          <a:p>
            <a:pPr algn="ctr">
              <a:defRPr sz="1500" b="1">
                <a:solidFill>
                  <a:srgbClr val="102638"/>
                </a:solidFill>
              </a:defRPr>
            </a:pPr>
            <a:r>
              <a:rPr sz="1500" b="1" dirty="0">
                <a:solidFill>
                  <a:srgbClr val="102638"/>
                </a:solidFill>
              </a:rPr>
              <a:t>Add Mutation Score</a:t>
            </a:r>
            <a:endParaRPr lang="vi-VN" sz="1500" b="1" dirty="0">
              <a:solidFill>
                <a:srgbClr val="102638"/>
              </a:solidFill>
            </a:endParaRPr>
          </a:p>
          <a:p>
            <a:pPr algn="ctr">
              <a:defRPr sz="1500" b="1">
                <a:solidFill>
                  <a:srgbClr val="102638"/>
                </a:solidFill>
              </a:defRPr>
            </a:pPr>
            <a:r>
              <a:rPr lang="vi-VN" sz="1500" b="1" dirty="0" err="1">
                <a:solidFill>
                  <a:srgbClr val="102638"/>
                </a:solidFill>
              </a:rPr>
              <a:t>Executability</a:t>
            </a:r>
            <a:endParaRPr sz="1500" b="1" dirty="0">
              <a:solidFill>
                <a:srgbClr val="102638"/>
              </a:solidFill>
            </a:endParaRPr>
          </a:p>
        </p:txBody>
      </p:sp>
      <p:sp>
        <p:nvSpPr>
          <p:cNvPr id="23" name="text">
            <a:extLst>
              <a:ext uri="{FF2B5EF4-FFF2-40B4-BE49-F238E27FC236}">
                <a16:creationId xmlns:a16="http://schemas.microsoft.com/office/drawing/2014/main" id="{4A7F6EDB-1BB2-4252-9987-D91D7063C252}"/>
              </a:ext>
            </a:extLst>
          </p:cNvPr>
          <p:cNvSpPr>
            <a:spLocks noGrp="1"/>
          </p:cNvSpPr>
          <p:nvPr/>
        </p:nvSpPr>
        <p:spPr>
          <a:xfrm>
            <a:off x="8972550" y="1752600"/>
            <a:ext cx="2667000" cy="266700"/>
          </a:xfrm>
          <a:prstGeom prst="rect">
            <a:avLst/>
          </a:prstGeom>
          <a:noFill/>
          <a:ln w="0">
            <a:noFill/>
            <a:prstDash val="solid"/>
          </a:ln>
        </p:spPr>
        <p:txBody>
          <a:bodyPr anchor="ctr"/>
          <a:lstStyle/>
          <a:p>
            <a:pPr algn="ctr">
              <a:defRPr sz="1125" b="1">
                <a:solidFill>
                  <a:srgbClr val="58A6FF"/>
                </a:solidFill>
              </a:defRPr>
            </a:pPr>
            <a:r>
              <a:rPr sz="1125" b="1">
                <a:solidFill>
                  <a:srgbClr val="58A6FF"/>
                </a:solidFill>
              </a:rPr>
              <a:t>CONCLUSION</a:t>
            </a:r>
          </a:p>
        </p:txBody>
      </p:sp>
      <p:sp>
        <p:nvSpPr>
          <p:cNvPr id="24" name="box">
            <a:extLst>
              <a:ext uri="{FF2B5EF4-FFF2-40B4-BE49-F238E27FC236}">
                <a16:creationId xmlns:a16="http://schemas.microsoft.com/office/drawing/2014/main" id="{D5F8E256-CA2E-4249-808E-980115E60EDE}"/>
              </a:ext>
            </a:extLst>
          </p:cNvPr>
          <p:cNvSpPr>
            <a:spLocks noGrp="1"/>
          </p:cNvSpPr>
          <p:nvPr/>
        </p:nvSpPr>
        <p:spPr>
          <a:xfrm>
            <a:off x="8972550" y="2114550"/>
            <a:ext cx="2667000" cy="990600"/>
          </a:xfrm>
          <a:prstGeom prst="roundRect">
            <a:avLst>
              <a:gd name="adj" fmla="val 7692"/>
            </a:avLst>
          </a:prstGeom>
          <a:solidFill>
            <a:srgbClr val="0D2940"/>
          </a:solidFill>
          <a:ln w="9525">
            <a:solidFill>
              <a:srgbClr val="29475E"/>
            </a:solidFill>
            <a:prstDash val="solid"/>
          </a:ln>
        </p:spPr>
      </p:sp>
      <p:sp>
        <p:nvSpPr>
          <p:cNvPr id="25" name="text">
            <a:extLst>
              <a:ext uri="{FF2B5EF4-FFF2-40B4-BE49-F238E27FC236}">
                <a16:creationId xmlns:a16="http://schemas.microsoft.com/office/drawing/2014/main" id="{00AD97B2-5F43-49CC-A0AE-E61C707A879B}"/>
              </a:ext>
            </a:extLst>
          </p:cNvPr>
          <p:cNvSpPr>
            <a:spLocks noGrp="1"/>
          </p:cNvSpPr>
          <p:nvPr/>
        </p:nvSpPr>
        <p:spPr>
          <a:xfrm>
            <a:off x="9124950" y="2324100"/>
            <a:ext cx="2362200" cy="571500"/>
          </a:xfrm>
          <a:prstGeom prst="rect">
            <a:avLst/>
          </a:prstGeom>
          <a:noFill/>
          <a:ln w="0">
            <a:noFill/>
            <a:prstDash val="solid"/>
          </a:ln>
        </p:spPr>
        <p:txBody>
          <a:bodyPr anchor="ctr"/>
          <a:lstStyle/>
          <a:p>
            <a:pPr algn="ctr">
              <a:defRPr sz="1575" b="1">
                <a:solidFill>
                  <a:srgbClr val="F8FBFD"/>
                </a:solidFill>
              </a:defRPr>
            </a:pPr>
            <a:r>
              <a:rPr sz="1575" b="1">
                <a:solidFill>
                  <a:srgbClr val="F8FBFD"/>
                </a:solidFill>
              </a:rPr>
              <a:t>Small n</a:t>
            </a:r>
          </a:p>
        </p:txBody>
      </p:sp>
      <p:sp>
        <p:nvSpPr>
          <p:cNvPr id="26" name="text">
            <a:extLst>
              <a:ext uri="{FF2B5EF4-FFF2-40B4-BE49-F238E27FC236}">
                <a16:creationId xmlns:a16="http://schemas.microsoft.com/office/drawing/2014/main" id="{3CAB5199-B60C-4CE9-9C04-FBB7F64029EE}"/>
              </a:ext>
            </a:extLst>
          </p:cNvPr>
          <p:cNvSpPr>
            <a:spLocks noGrp="1"/>
          </p:cNvSpPr>
          <p:nvPr/>
        </p:nvSpPr>
        <p:spPr>
          <a:xfrm>
            <a:off x="10020300" y="3181350"/>
            <a:ext cx="571500" cy="419100"/>
          </a:xfrm>
          <a:prstGeom prst="rect">
            <a:avLst/>
          </a:prstGeom>
          <a:noFill/>
          <a:ln w="0">
            <a:noFill/>
            <a:prstDash val="solid"/>
          </a:ln>
        </p:spPr>
        <p:txBody>
          <a:bodyPr anchor="ctr"/>
          <a:lstStyle/>
          <a:p>
            <a:pPr algn="ctr">
              <a:defRPr sz="2100" b="1">
                <a:solidFill>
                  <a:srgbClr val="26D0CE"/>
                </a:solidFill>
              </a:defRPr>
            </a:pPr>
            <a:r>
              <a:rPr sz="2100" b="1">
                <a:solidFill>
                  <a:srgbClr val="26D0CE"/>
                </a:solidFill>
              </a:rPr>
              <a:t>↓</a:t>
            </a:r>
          </a:p>
        </p:txBody>
      </p:sp>
      <p:sp>
        <p:nvSpPr>
          <p:cNvPr id="27" name="box">
            <a:extLst>
              <a:ext uri="{FF2B5EF4-FFF2-40B4-BE49-F238E27FC236}">
                <a16:creationId xmlns:a16="http://schemas.microsoft.com/office/drawing/2014/main" id="{E3BC3A25-EE84-4C2D-86CF-894912CB85BA}"/>
              </a:ext>
            </a:extLst>
          </p:cNvPr>
          <p:cNvSpPr>
            <a:spLocks noGrp="1"/>
          </p:cNvSpPr>
          <p:nvPr/>
        </p:nvSpPr>
        <p:spPr>
          <a:xfrm>
            <a:off x="8972550" y="3676650"/>
            <a:ext cx="2667000" cy="990600"/>
          </a:xfrm>
          <a:prstGeom prst="roundRect">
            <a:avLst>
              <a:gd name="adj" fmla="val 7692"/>
            </a:avLst>
          </a:prstGeom>
          <a:solidFill>
            <a:srgbClr val="0D2940"/>
          </a:solidFill>
          <a:ln w="9525">
            <a:solidFill>
              <a:srgbClr val="29475E"/>
            </a:solidFill>
            <a:prstDash val="solid"/>
          </a:ln>
        </p:spPr>
      </p:sp>
      <p:sp>
        <p:nvSpPr>
          <p:cNvPr id="28" name="text">
            <a:extLst>
              <a:ext uri="{FF2B5EF4-FFF2-40B4-BE49-F238E27FC236}">
                <a16:creationId xmlns:a16="http://schemas.microsoft.com/office/drawing/2014/main" id="{CB2E4C73-A5C0-4290-8A18-DC839ECA2EDE}"/>
              </a:ext>
            </a:extLst>
          </p:cNvPr>
          <p:cNvSpPr>
            <a:spLocks noGrp="1"/>
          </p:cNvSpPr>
          <p:nvPr/>
        </p:nvSpPr>
        <p:spPr>
          <a:xfrm>
            <a:off x="9124950" y="3886200"/>
            <a:ext cx="2362200" cy="571500"/>
          </a:xfrm>
          <a:prstGeom prst="rect">
            <a:avLst/>
          </a:prstGeom>
          <a:noFill/>
          <a:ln w="0">
            <a:noFill/>
            <a:prstDash val="solid"/>
          </a:ln>
        </p:spPr>
        <p:txBody>
          <a:bodyPr anchor="ctr"/>
          <a:lstStyle/>
          <a:p>
            <a:pPr algn="ctr">
              <a:defRPr sz="1500" b="1">
                <a:solidFill>
                  <a:srgbClr val="9FB2C2"/>
                </a:solidFill>
              </a:defRPr>
            </a:pPr>
            <a:r>
              <a:rPr sz="1500" b="1">
                <a:solidFill>
                  <a:srgbClr val="9FB2C2"/>
                </a:solidFill>
              </a:rPr>
              <a:t>Report effect + CI</a:t>
            </a:r>
          </a:p>
        </p:txBody>
      </p:sp>
      <p:sp>
        <p:nvSpPr>
          <p:cNvPr id="29" name="box">
            <a:extLst>
              <a:ext uri="{FF2B5EF4-FFF2-40B4-BE49-F238E27FC236}">
                <a16:creationId xmlns:a16="http://schemas.microsoft.com/office/drawing/2014/main" id="{720316C6-2F40-4317-BB51-7AF83125EA2E}"/>
              </a:ext>
            </a:extLst>
          </p:cNvPr>
          <p:cNvSpPr>
            <a:spLocks noGrp="1"/>
          </p:cNvSpPr>
          <p:nvPr/>
        </p:nvSpPr>
        <p:spPr>
          <a:xfrm>
            <a:off x="3638550" y="5181600"/>
            <a:ext cx="4914900" cy="342900"/>
          </a:xfrm>
          <a:prstGeom prst="roundRect">
            <a:avLst>
              <a:gd name="adj" fmla="val 22222"/>
            </a:avLst>
          </a:prstGeom>
          <a:solidFill>
            <a:srgbClr val="FFB45A"/>
          </a:solidFill>
          <a:ln w="0">
            <a:noFill/>
            <a:prstDash val="solid"/>
          </a:ln>
        </p:spPr>
      </p:sp>
      <p:sp>
        <p:nvSpPr>
          <p:cNvPr id="30" name="text">
            <a:extLst>
              <a:ext uri="{FF2B5EF4-FFF2-40B4-BE49-F238E27FC236}">
                <a16:creationId xmlns:a16="http://schemas.microsoft.com/office/drawing/2014/main" id="{A7C3207B-7EF2-416D-B81D-688CEFF7BE2E}"/>
              </a:ext>
            </a:extLst>
          </p:cNvPr>
          <p:cNvSpPr>
            <a:spLocks noGrp="1"/>
          </p:cNvSpPr>
          <p:nvPr/>
        </p:nvSpPr>
        <p:spPr>
          <a:xfrm>
            <a:off x="3714750" y="5191125"/>
            <a:ext cx="4762500" cy="323850"/>
          </a:xfrm>
          <a:prstGeom prst="rect">
            <a:avLst/>
          </a:prstGeom>
          <a:noFill/>
          <a:ln w="0">
            <a:noFill/>
            <a:prstDash val="solid"/>
          </a:ln>
        </p:spPr>
        <p:txBody>
          <a:bodyPr anchor="ctr"/>
          <a:lstStyle/>
          <a:p>
            <a:pPr algn="ctr">
              <a:defRPr sz="1350" b="1">
                <a:solidFill>
                  <a:srgbClr val="071A2B"/>
                </a:solidFill>
              </a:defRPr>
            </a:pPr>
            <a:r>
              <a:rPr sz="1350" b="1">
                <a:solidFill>
                  <a:srgbClr val="071A2B"/>
                </a:solidFill>
              </a:rPr>
              <a:t>Protocol frozen before full run</a:t>
            </a:r>
          </a:p>
        </p:txBody>
      </p:sp>
      <p:sp>
        <p:nvSpPr>
          <p:cNvPr id="31" name="text">
            <a:extLst>
              <a:ext uri="{FF2B5EF4-FFF2-40B4-BE49-F238E27FC236}">
                <a16:creationId xmlns:a16="http://schemas.microsoft.com/office/drawing/2014/main" id="{E7AE5DFD-AABE-4AFF-9132-58661B918C34}"/>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32" name="text">
            <a:extLst>
              <a:ext uri="{FF2B5EF4-FFF2-40B4-BE49-F238E27FC236}">
                <a16:creationId xmlns:a16="http://schemas.microsoft.com/office/drawing/2014/main" id="{E43074B3-3A71-410B-9E42-694FB2F1FCE2}"/>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09</a:t>
            </a:r>
          </a:p>
        </p:txBody>
      </p:sp>
    </p:spTree>
    <p:extLst>
      <p:ext uri="{BB962C8B-B14F-4D97-AF65-F5344CB8AC3E}">
        <p14:creationId xmlns:p14="http://schemas.microsoft.com/office/powerpoint/2010/main" val="1879833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28" name="text">
            <a:extLst>
              <a:ext uri="{FF2B5EF4-FFF2-40B4-BE49-F238E27FC236}">
                <a16:creationId xmlns:a16="http://schemas.microsoft.com/office/drawing/2014/main" id="{FD400094-4C0C-4E47-8294-7625470EF621}"/>
              </a:ext>
            </a:extLst>
          </p:cNvPr>
          <p:cNvSpPr>
            <a:spLocks noGrp="1"/>
          </p:cNvSpPr>
          <p:nvPr/>
        </p:nvSpPr>
        <p:spPr>
          <a:xfrm>
            <a:off x="514350" y="323850"/>
            <a:ext cx="457200" cy="266700"/>
          </a:xfrm>
          <a:prstGeom prst="rect">
            <a:avLst/>
          </a:prstGeom>
          <a:noFill/>
          <a:ln w="0">
            <a:noFill/>
            <a:prstDash val="solid"/>
          </a:ln>
        </p:spPr>
        <p:txBody>
          <a:bodyPr anchor="ctr"/>
          <a:lstStyle/>
          <a:p>
            <a:pPr algn="l">
              <a:defRPr sz="1050" b="1">
                <a:solidFill>
                  <a:srgbClr val="26D0CE"/>
                </a:solidFill>
              </a:defRPr>
            </a:pPr>
            <a:r>
              <a:rPr sz="1050" b="1">
                <a:solidFill>
                  <a:srgbClr val="26D0CE"/>
                </a:solidFill>
              </a:rPr>
              <a:t>10</a:t>
            </a:r>
          </a:p>
        </p:txBody>
      </p:sp>
      <p:sp>
        <p:nvSpPr>
          <p:cNvPr id="2" name="text">
            <a:extLst>
              <a:ext uri="{FF2B5EF4-FFF2-40B4-BE49-F238E27FC236}">
                <a16:creationId xmlns:a16="http://schemas.microsoft.com/office/drawing/2014/main" id="{86E38D41-9B85-4DBC-9ADA-FD072979DCAE}"/>
              </a:ext>
            </a:extLst>
          </p:cNvPr>
          <p:cNvSpPr>
            <a:spLocks noGrp="1"/>
          </p:cNvSpPr>
          <p:nvPr/>
        </p:nvSpPr>
        <p:spPr>
          <a:xfrm>
            <a:off x="1066800" y="323850"/>
            <a:ext cx="5619750" cy="266700"/>
          </a:xfrm>
          <a:prstGeom prst="rect">
            <a:avLst/>
          </a:prstGeom>
          <a:noFill/>
          <a:ln w="0">
            <a:noFill/>
            <a:prstDash val="solid"/>
          </a:ln>
        </p:spPr>
        <p:txBody>
          <a:bodyPr anchor="ctr"/>
          <a:lstStyle/>
          <a:p>
            <a:pPr algn="l">
              <a:defRPr sz="1050" b="1">
                <a:solidFill>
                  <a:srgbClr val="9FB2C2"/>
                </a:solidFill>
              </a:defRPr>
            </a:pPr>
            <a:r>
              <a:rPr sz="1050" b="1">
                <a:solidFill>
                  <a:srgbClr val="9FB2C2"/>
                </a:solidFill>
              </a:rPr>
              <a:t>TIMELINE + RESOURCES</a:t>
            </a:r>
          </a:p>
        </p:txBody>
      </p:sp>
      <p:sp>
        <p:nvSpPr>
          <p:cNvPr id="3" name="text">
            <a:extLst>
              <a:ext uri="{FF2B5EF4-FFF2-40B4-BE49-F238E27FC236}">
                <a16:creationId xmlns:a16="http://schemas.microsoft.com/office/drawing/2014/main" id="{31A8EF35-8E95-4F47-A3E3-50CAAD5558E4}"/>
              </a:ext>
            </a:extLst>
          </p:cNvPr>
          <p:cNvSpPr>
            <a:spLocks noGrp="1"/>
          </p:cNvSpPr>
          <p:nvPr/>
        </p:nvSpPr>
        <p:spPr>
          <a:xfrm>
            <a:off x="514350" y="685800"/>
            <a:ext cx="11144250" cy="590550"/>
          </a:xfrm>
          <a:prstGeom prst="rect">
            <a:avLst/>
          </a:prstGeom>
          <a:noFill/>
          <a:ln w="0">
            <a:noFill/>
            <a:prstDash val="solid"/>
          </a:ln>
        </p:spPr>
        <p:txBody>
          <a:bodyPr anchor="ctr"/>
          <a:lstStyle/>
          <a:p>
            <a:pPr algn="l">
              <a:defRPr sz="2850" b="1">
                <a:solidFill>
                  <a:srgbClr val="F8FBFD"/>
                </a:solidFill>
              </a:defRPr>
            </a:pPr>
            <a:r>
              <a:rPr sz="2850" b="1">
                <a:solidFill>
                  <a:srgbClr val="F8FBFD"/>
                </a:solidFill>
              </a:rPr>
              <a:t>Pilot khóa hệ thống — không khóa kết quả</a:t>
            </a:r>
          </a:p>
        </p:txBody>
      </p:sp>
      <p:sp>
        <p:nvSpPr>
          <p:cNvPr id="4" name="rule">
            <a:extLst>
              <a:ext uri="{FF2B5EF4-FFF2-40B4-BE49-F238E27FC236}">
                <a16:creationId xmlns:a16="http://schemas.microsoft.com/office/drawing/2014/main" id="{5EA918AD-E2D8-4736-BC5D-49E0561941BB}"/>
              </a:ext>
            </a:extLst>
          </p:cNvPr>
          <p:cNvSpPr>
            <a:spLocks noGrp="1"/>
          </p:cNvSpPr>
          <p:nvPr/>
        </p:nvSpPr>
        <p:spPr>
          <a:xfrm>
            <a:off x="514350" y="1371600"/>
            <a:ext cx="857250" cy="38100"/>
          </a:xfrm>
          <a:prstGeom prst="rect">
            <a:avLst/>
          </a:prstGeom>
          <a:solidFill>
            <a:srgbClr val="26D0CE"/>
          </a:solidFill>
          <a:ln w="0">
            <a:noFill/>
            <a:prstDash val="solid"/>
          </a:ln>
        </p:spPr>
      </p:sp>
      <p:sp>
        <p:nvSpPr>
          <p:cNvPr id="5" name="rule">
            <a:extLst>
              <a:ext uri="{FF2B5EF4-FFF2-40B4-BE49-F238E27FC236}">
                <a16:creationId xmlns:a16="http://schemas.microsoft.com/office/drawing/2014/main" id="{33298069-33B3-443A-999C-86E84E9B5917}"/>
              </a:ext>
            </a:extLst>
          </p:cNvPr>
          <p:cNvSpPr>
            <a:spLocks noGrp="1"/>
          </p:cNvSpPr>
          <p:nvPr/>
        </p:nvSpPr>
        <p:spPr>
          <a:xfrm>
            <a:off x="971550" y="2609850"/>
            <a:ext cx="10001250" cy="57150"/>
          </a:xfrm>
          <a:prstGeom prst="rect">
            <a:avLst/>
          </a:prstGeom>
          <a:solidFill>
            <a:srgbClr val="29475E"/>
          </a:solidFill>
          <a:ln w="0">
            <a:noFill/>
            <a:prstDash val="solid"/>
          </a:ln>
        </p:spPr>
      </p:sp>
      <p:sp>
        <p:nvSpPr>
          <p:cNvPr id="6" name="box">
            <a:extLst>
              <a:ext uri="{FF2B5EF4-FFF2-40B4-BE49-F238E27FC236}">
                <a16:creationId xmlns:a16="http://schemas.microsoft.com/office/drawing/2014/main" id="{083E888D-08CF-491B-AEB6-8A4D77EAA512}"/>
              </a:ext>
            </a:extLst>
          </p:cNvPr>
          <p:cNvSpPr>
            <a:spLocks noGrp="1"/>
          </p:cNvSpPr>
          <p:nvPr/>
        </p:nvSpPr>
        <p:spPr>
          <a:xfrm>
            <a:off x="857250" y="2266950"/>
            <a:ext cx="704850" cy="704850"/>
          </a:xfrm>
          <a:prstGeom prst="ellipse">
            <a:avLst/>
          </a:prstGeom>
          <a:solidFill>
            <a:srgbClr val="EAF3F7"/>
          </a:solidFill>
          <a:ln w="0">
            <a:noFill/>
            <a:prstDash val="solid"/>
          </a:ln>
        </p:spPr>
      </p:sp>
      <p:sp>
        <p:nvSpPr>
          <p:cNvPr id="7" name="text">
            <a:extLst>
              <a:ext uri="{FF2B5EF4-FFF2-40B4-BE49-F238E27FC236}">
                <a16:creationId xmlns:a16="http://schemas.microsoft.com/office/drawing/2014/main" id="{7394C414-A70F-4B99-9C31-569723CA7BDB}"/>
              </a:ext>
            </a:extLst>
          </p:cNvPr>
          <p:cNvSpPr>
            <a:spLocks noGrp="1"/>
          </p:cNvSpPr>
          <p:nvPr/>
        </p:nvSpPr>
        <p:spPr>
          <a:xfrm>
            <a:off x="857250" y="2428875"/>
            <a:ext cx="704850" cy="3619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W7</a:t>
            </a:r>
          </a:p>
        </p:txBody>
      </p:sp>
      <p:sp>
        <p:nvSpPr>
          <p:cNvPr id="8" name="text">
            <a:extLst>
              <a:ext uri="{FF2B5EF4-FFF2-40B4-BE49-F238E27FC236}">
                <a16:creationId xmlns:a16="http://schemas.microsoft.com/office/drawing/2014/main" id="{B37E084E-0E10-4909-B649-4903B6061BA3}"/>
              </a:ext>
            </a:extLst>
          </p:cNvPr>
          <p:cNvSpPr>
            <a:spLocks noGrp="1"/>
          </p:cNvSpPr>
          <p:nvPr/>
        </p:nvSpPr>
        <p:spPr>
          <a:xfrm>
            <a:off x="428625" y="3257550"/>
            <a:ext cx="1562100" cy="285750"/>
          </a:xfrm>
          <a:prstGeom prst="rect">
            <a:avLst/>
          </a:prstGeom>
          <a:noFill/>
          <a:ln w="0">
            <a:noFill/>
            <a:prstDash val="solid"/>
          </a:ln>
        </p:spPr>
        <p:txBody>
          <a:bodyPr anchor="ctr"/>
          <a:lstStyle/>
          <a:p>
            <a:pPr algn="ctr">
              <a:defRPr sz="1425" b="1">
                <a:solidFill>
                  <a:srgbClr val="F8FBFD"/>
                </a:solidFill>
              </a:defRPr>
            </a:pPr>
            <a:r>
              <a:rPr sz="1425" b="1">
                <a:solidFill>
                  <a:srgbClr val="F8FBFD"/>
                </a:solidFill>
              </a:rPr>
              <a:t>PILOT</a:t>
            </a:r>
          </a:p>
        </p:txBody>
      </p:sp>
      <p:sp>
        <p:nvSpPr>
          <p:cNvPr id="9" name="box">
            <a:extLst>
              <a:ext uri="{FF2B5EF4-FFF2-40B4-BE49-F238E27FC236}">
                <a16:creationId xmlns:a16="http://schemas.microsoft.com/office/drawing/2014/main" id="{977131A7-C571-4FB9-8D02-E17B4858B8AE}"/>
              </a:ext>
            </a:extLst>
          </p:cNvPr>
          <p:cNvSpPr>
            <a:spLocks noGrp="1"/>
          </p:cNvSpPr>
          <p:nvPr/>
        </p:nvSpPr>
        <p:spPr>
          <a:xfrm>
            <a:off x="3714750" y="2266950"/>
            <a:ext cx="704850" cy="704850"/>
          </a:xfrm>
          <a:prstGeom prst="ellipse">
            <a:avLst/>
          </a:prstGeom>
          <a:solidFill>
            <a:srgbClr val="FFB45A"/>
          </a:solidFill>
          <a:ln w="0">
            <a:noFill/>
            <a:prstDash val="solid"/>
          </a:ln>
        </p:spPr>
      </p:sp>
      <p:sp>
        <p:nvSpPr>
          <p:cNvPr id="10" name="text">
            <a:extLst>
              <a:ext uri="{FF2B5EF4-FFF2-40B4-BE49-F238E27FC236}">
                <a16:creationId xmlns:a16="http://schemas.microsoft.com/office/drawing/2014/main" id="{96376334-D157-4970-9578-D04E236BF832}"/>
              </a:ext>
            </a:extLst>
          </p:cNvPr>
          <p:cNvSpPr>
            <a:spLocks noGrp="1"/>
          </p:cNvSpPr>
          <p:nvPr/>
        </p:nvSpPr>
        <p:spPr>
          <a:xfrm>
            <a:off x="3714750" y="2428875"/>
            <a:ext cx="704850" cy="3619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GATE</a:t>
            </a:r>
          </a:p>
        </p:txBody>
      </p:sp>
      <p:sp>
        <p:nvSpPr>
          <p:cNvPr id="11" name="text">
            <a:extLst>
              <a:ext uri="{FF2B5EF4-FFF2-40B4-BE49-F238E27FC236}">
                <a16:creationId xmlns:a16="http://schemas.microsoft.com/office/drawing/2014/main" id="{1A4AC919-3C97-4487-BFF3-D22B4F87ED68}"/>
              </a:ext>
            </a:extLst>
          </p:cNvPr>
          <p:cNvSpPr>
            <a:spLocks noGrp="1"/>
          </p:cNvSpPr>
          <p:nvPr/>
        </p:nvSpPr>
        <p:spPr>
          <a:xfrm>
            <a:off x="3286125" y="3257550"/>
            <a:ext cx="1562100" cy="285750"/>
          </a:xfrm>
          <a:prstGeom prst="rect">
            <a:avLst/>
          </a:prstGeom>
          <a:noFill/>
          <a:ln w="0">
            <a:noFill/>
            <a:prstDash val="solid"/>
          </a:ln>
        </p:spPr>
        <p:txBody>
          <a:bodyPr anchor="ctr"/>
          <a:lstStyle/>
          <a:p>
            <a:pPr algn="ctr">
              <a:defRPr sz="1425" b="1">
                <a:solidFill>
                  <a:srgbClr val="FFB45A"/>
                </a:solidFill>
              </a:defRPr>
            </a:pPr>
            <a:r>
              <a:rPr sz="1425" b="1">
                <a:solidFill>
                  <a:srgbClr val="FFB45A"/>
                </a:solidFill>
              </a:rPr>
              <a:t>FREEZE</a:t>
            </a:r>
          </a:p>
        </p:txBody>
      </p:sp>
      <p:sp>
        <p:nvSpPr>
          <p:cNvPr id="12" name="box">
            <a:extLst>
              <a:ext uri="{FF2B5EF4-FFF2-40B4-BE49-F238E27FC236}">
                <a16:creationId xmlns:a16="http://schemas.microsoft.com/office/drawing/2014/main" id="{A0EE7400-E9D8-4BB9-8D76-3346F9AD02D3}"/>
              </a:ext>
            </a:extLst>
          </p:cNvPr>
          <p:cNvSpPr>
            <a:spLocks noGrp="1"/>
          </p:cNvSpPr>
          <p:nvPr/>
        </p:nvSpPr>
        <p:spPr>
          <a:xfrm>
            <a:off x="6572250" y="2266950"/>
            <a:ext cx="704850" cy="704850"/>
          </a:xfrm>
          <a:prstGeom prst="ellipse">
            <a:avLst/>
          </a:prstGeom>
          <a:solidFill>
            <a:srgbClr val="26D0CE"/>
          </a:solidFill>
          <a:ln w="0">
            <a:noFill/>
            <a:prstDash val="solid"/>
          </a:ln>
        </p:spPr>
      </p:sp>
      <p:sp>
        <p:nvSpPr>
          <p:cNvPr id="13" name="text">
            <a:extLst>
              <a:ext uri="{FF2B5EF4-FFF2-40B4-BE49-F238E27FC236}">
                <a16:creationId xmlns:a16="http://schemas.microsoft.com/office/drawing/2014/main" id="{29146292-61EA-47D8-91C1-2C8C1670EEDB}"/>
              </a:ext>
            </a:extLst>
          </p:cNvPr>
          <p:cNvSpPr>
            <a:spLocks noGrp="1"/>
          </p:cNvSpPr>
          <p:nvPr/>
        </p:nvSpPr>
        <p:spPr>
          <a:xfrm>
            <a:off x="6572250" y="2428875"/>
            <a:ext cx="704850" cy="3619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W8</a:t>
            </a:r>
          </a:p>
        </p:txBody>
      </p:sp>
      <p:sp>
        <p:nvSpPr>
          <p:cNvPr id="14" name="text">
            <a:extLst>
              <a:ext uri="{FF2B5EF4-FFF2-40B4-BE49-F238E27FC236}">
                <a16:creationId xmlns:a16="http://schemas.microsoft.com/office/drawing/2014/main" id="{7601317C-00A3-4A4E-AB13-A669EF0C83F3}"/>
              </a:ext>
            </a:extLst>
          </p:cNvPr>
          <p:cNvSpPr>
            <a:spLocks noGrp="1"/>
          </p:cNvSpPr>
          <p:nvPr/>
        </p:nvSpPr>
        <p:spPr>
          <a:xfrm>
            <a:off x="6143625" y="3257550"/>
            <a:ext cx="1562100" cy="285750"/>
          </a:xfrm>
          <a:prstGeom prst="rect">
            <a:avLst/>
          </a:prstGeom>
          <a:noFill/>
          <a:ln w="0">
            <a:noFill/>
            <a:prstDash val="solid"/>
          </a:ln>
        </p:spPr>
        <p:txBody>
          <a:bodyPr anchor="ctr"/>
          <a:lstStyle/>
          <a:p>
            <a:pPr algn="ctr">
              <a:defRPr sz="1425" b="1">
                <a:solidFill>
                  <a:srgbClr val="26D0CE"/>
                </a:solidFill>
              </a:defRPr>
            </a:pPr>
            <a:r>
              <a:rPr sz="1425" b="1">
                <a:solidFill>
                  <a:srgbClr val="26D0CE"/>
                </a:solidFill>
              </a:rPr>
              <a:t>FULL</a:t>
            </a:r>
          </a:p>
        </p:txBody>
      </p:sp>
      <p:sp>
        <p:nvSpPr>
          <p:cNvPr id="15" name="box">
            <a:extLst>
              <a:ext uri="{FF2B5EF4-FFF2-40B4-BE49-F238E27FC236}">
                <a16:creationId xmlns:a16="http://schemas.microsoft.com/office/drawing/2014/main" id="{5526374A-233A-4DF1-93D9-0A72B2469445}"/>
              </a:ext>
            </a:extLst>
          </p:cNvPr>
          <p:cNvSpPr>
            <a:spLocks noGrp="1"/>
          </p:cNvSpPr>
          <p:nvPr/>
        </p:nvSpPr>
        <p:spPr>
          <a:xfrm>
            <a:off x="9429750" y="2266950"/>
            <a:ext cx="704850" cy="704850"/>
          </a:xfrm>
          <a:prstGeom prst="ellipse">
            <a:avLst/>
          </a:prstGeom>
          <a:solidFill>
            <a:srgbClr val="EAF3F7"/>
          </a:solidFill>
          <a:ln w="0">
            <a:noFill/>
            <a:prstDash val="solid"/>
          </a:ln>
        </p:spPr>
      </p:sp>
      <p:sp>
        <p:nvSpPr>
          <p:cNvPr id="16" name="text">
            <a:extLst>
              <a:ext uri="{FF2B5EF4-FFF2-40B4-BE49-F238E27FC236}">
                <a16:creationId xmlns:a16="http://schemas.microsoft.com/office/drawing/2014/main" id="{FB3E57A3-4F2C-4CEC-869F-68F9203E5123}"/>
              </a:ext>
            </a:extLst>
          </p:cNvPr>
          <p:cNvSpPr>
            <a:spLocks noGrp="1"/>
          </p:cNvSpPr>
          <p:nvPr/>
        </p:nvSpPr>
        <p:spPr>
          <a:xfrm>
            <a:off x="9429750" y="2428875"/>
            <a:ext cx="704850" cy="3619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W9</a:t>
            </a:r>
          </a:p>
        </p:txBody>
      </p:sp>
      <p:sp>
        <p:nvSpPr>
          <p:cNvPr id="17" name="text">
            <a:extLst>
              <a:ext uri="{FF2B5EF4-FFF2-40B4-BE49-F238E27FC236}">
                <a16:creationId xmlns:a16="http://schemas.microsoft.com/office/drawing/2014/main" id="{9080FBFE-FC86-41B4-BA26-F962B91BDA6E}"/>
              </a:ext>
            </a:extLst>
          </p:cNvPr>
          <p:cNvSpPr>
            <a:spLocks noGrp="1"/>
          </p:cNvSpPr>
          <p:nvPr/>
        </p:nvSpPr>
        <p:spPr>
          <a:xfrm>
            <a:off x="9001125" y="3273592"/>
            <a:ext cx="1562100" cy="285750"/>
          </a:xfrm>
          <a:prstGeom prst="rect">
            <a:avLst/>
          </a:prstGeom>
          <a:noFill/>
          <a:ln w="0">
            <a:noFill/>
            <a:prstDash val="solid"/>
          </a:ln>
        </p:spPr>
        <p:txBody>
          <a:bodyPr anchor="ctr"/>
          <a:lstStyle/>
          <a:p>
            <a:pPr algn="ctr">
              <a:defRPr sz="1425" b="1">
                <a:solidFill>
                  <a:srgbClr val="F8FBFD"/>
                </a:solidFill>
              </a:defRPr>
            </a:pPr>
            <a:r>
              <a:rPr sz="1425" b="1">
                <a:solidFill>
                  <a:srgbClr val="F8FBFD"/>
                </a:solidFill>
              </a:rPr>
              <a:t>ANALYZE</a:t>
            </a:r>
          </a:p>
        </p:txBody>
      </p:sp>
      <p:sp>
        <p:nvSpPr>
          <p:cNvPr id="18" name="box">
            <a:extLst>
              <a:ext uri="{FF2B5EF4-FFF2-40B4-BE49-F238E27FC236}">
                <a16:creationId xmlns:a16="http://schemas.microsoft.com/office/drawing/2014/main" id="{C965BEFD-85A7-4485-BCE3-ABC48A668708}"/>
              </a:ext>
            </a:extLst>
          </p:cNvPr>
          <p:cNvSpPr>
            <a:spLocks noGrp="1"/>
          </p:cNvSpPr>
          <p:nvPr/>
        </p:nvSpPr>
        <p:spPr>
          <a:xfrm>
            <a:off x="742950" y="4095750"/>
            <a:ext cx="4953000" cy="1295400"/>
          </a:xfrm>
          <a:prstGeom prst="roundRect">
            <a:avLst>
              <a:gd name="adj" fmla="val 5882"/>
            </a:avLst>
          </a:prstGeom>
          <a:solidFill>
            <a:srgbClr val="0D2940"/>
          </a:solidFill>
          <a:ln w="9525">
            <a:solidFill>
              <a:srgbClr val="29475E"/>
            </a:solidFill>
            <a:prstDash val="solid"/>
          </a:ln>
        </p:spPr>
      </p:sp>
      <p:sp>
        <p:nvSpPr>
          <p:cNvPr id="19" name="text">
            <a:extLst>
              <a:ext uri="{FF2B5EF4-FFF2-40B4-BE49-F238E27FC236}">
                <a16:creationId xmlns:a16="http://schemas.microsoft.com/office/drawing/2014/main" id="{0CC7C206-B830-4E93-8FAB-0674A0D94D1B}"/>
              </a:ext>
            </a:extLst>
          </p:cNvPr>
          <p:cNvSpPr>
            <a:spLocks noGrp="1"/>
          </p:cNvSpPr>
          <p:nvPr/>
        </p:nvSpPr>
        <p:spPr>
          <a:xfrm>
            <a:off x="990600" y="4286250"/>
            <a:ext cx="1619250" cy="266700"/>
          </a:xfrm>
          <a:prstGeom prst="rect">
            <a:avLst/>
          </a:prstGeom>
          <a:noFill/>
          <a:ln w="0">
            <a:noFill/>
            <a:prstDash val="solid"/>
          </a:ln>
        </p:spPr>
        <p:txBody>
          <a:bodyPr anchor="ctr"/>
          <a:lstStyle/>
          <a:p>
            <a:pPr algn="l">
              <a:defRPr sz="1200" b="1">
                <a:solidFill>
                  <a:srgbClr val="26D0CE"/>
                </a:solidFill>
              </a:defRPr>
            </a:pPr>
            <a:r>
              <a:rPr sz="1200" b="1">
                <a:solidFill>
                  <a:srgbClr val="26D0CE"/>
                </a:solidFill>
              </a:rPr>
              <a:t>RESOURCES</a:t>
            </a:r>
          </a:p>
        </p:txBody>
      </p:sp>
      <p:sp>
        <p:nvSpPr>
          <p:cNvPr id="20" name="text">
            <a:extLst>
              <a:ext uri="{FF2B5EF4-FFF2-40B4-BE49-F238E27FC236}">
                <a16:creationId xmlns:a16="http://schemas.microsoft.com/office/drawing/2014/main" id="{785F9622-F0F7-403E-851B-AF1C7C8C55B1}"/>
              </a:ext>
            </a:extLst>
          </p:cNvPr>
          <p:cNvSpPr>
            <a:spLocks noGrp="1"/>
          </p:cNvSpPr>
          <p:nvPr/>
        </p:nvSpPr>
        <p:spPr>
          <a:xfrm>
            <a:off x="990600" y="4686300"/>
            <a:ext cx="2381250" cy="304800"/>
          </a:xfrm>
          <a:prstGeom prst="rect">
            <a:avLst/>
          </a:prstGeom>
          <a:noFill/>
          <a:ln w="0">
            <a:noFill/>
            <a:prstDash val="solid"/>
          </a:ln>
        </p:spPr>
        <p:txBody>
          <a:bodyPr anchor="ctr"/>
          <a:lstStyle/>
          <a:p>
            <a:pPr algn="l">
              <a:defRPr sz="1650" b="1">
                <a:solidFill>
                  <a:srgbClr val="F8FBFD"/>
                </a:solidFill>
              </a:defRPr>
            </a:pPr>
            <a:r>
              <a:rPr sz="1650" b="1" dirty="0">
                <a:solidFill>
                  <a:srgbClr val="F8FBFD"/>
                </a:solidFill>
              </a:rPr>
              <a:t>API</a:t>
            </a:r>
            <a:r>
              <a:rPr lang="vi-VN" sz="1650" b="1" dirty="0">
                <a:solidFill>
                  <a:srgbClr val="F8FBFD"/>
                </a:solidFill>
              </a:rPr>
              <a:t> </a:t>
            </a:r>
            <a:r>
              <a:rPr lang="vi-VN" sz="1650" b="1" dirty="0" err="1">
                <a:solidFill>
                  <a:srgbClr val="F8FBFD"/>
                </a:solidFill>
              </a:rPr>
              <a:t>budget</a:t>
            </a:r>
            <a:r>
              <a:rPr sz="1650" b="1" dirty="0">
                <a:solidFill>
                  <a:srgbClr val="F8FBFD"/>
                </a:solidFill>
              </a:rPr>
              <a:t> • CPU</a:t>
            </a:r>
            <a:r>
              <a:rPr lang="vi-VN" sz="1650" b="1" dirty="0">
                <a:solidFill>
                  <a:srgbClr val="F8FBFD"/>
                </a:solidFill>
              </a:rPr>
              <a:t> </a:t>
            </a:r>
            <a:r>
              <a:rPr sz="1650" b="1" dirty="0">
                <a:solidFill>
                  <a:srgbClr val="F8FBFD"/>
                </a:solidFill>
              </a:rPr>
              <a:t>•Git</a:t>
            </a:r>
          </a:p>
        </p:txBody>
      </p:sp>
      <p:sp>
        <p:nvSpPr>
          <p:cNvPr id="21" name="text">
            <a:extLst>
              <a:ext uri="{FF2B5EF4-FFF2-40B4-BE49-F238E27FC236}">
                <a16:creationId xmlns:a16="http://schemas.microsoft.com/office/drawing/2014/main" id="{227B3A68-937B-41D8-B187-80794B2E7895}"/>
              </a:ext>
            </a:extLst>
          </p:cNvPr>
          <p:cNvSpPr>
            <a:spLocks noGrp="1"/>
          </p:cNvSpPr>
          <p:nvPr/>
        </p:nvSpPr>
        <p:spPr>
          <a:xfrm>
            <a:off x="990600" y="5029200"/>
            <a:ext cx="4286250" cy="228600"/>
          </a:xfrm>
          <a:prstGeom prst="rect">
            <a:avLst/>
          </a:prstGeom>
          <a:noFill/>
          <a:ln w="0">
            <a:noFill/>
            <a:prstDash val="solid"/>
          </a:ln>
        </p:spPr>
        <p:txBody>
          <a:bodyPr anchor="ctr"/>
          <a:lstStyle/>
          <a:p>
            <a:pPr algn="l">
              <a:defRPr sz="1200" b="0">
                <a:solidFill>
                  <a:srgbClr val="9FB2C2"/>
                </a:solidFill>
              </a:defRPr>
            </a:pPr>
            <a:r>
              <a:rPr sz="1200" b="0" dirty="0">
                <a:solidFill>
                  <a:srgbClr val="9FB2C2"/>
                </a:solidFill>
              </a:rPr>
              <a:t>Cost = pilot mean × 5</a:t>
            </a:r>
          </a:p>
        </p:txBody>
      </p:sp>
      <p:sp>
        <p:nvSpPr>
          <p:cNvPr id="22" name="box">
            <a:extLst>
              <a:ext uri="{FF2B5EF4-FFF2-40B4-BE49-F238E27FC236}">
                <a16:creationId xmlns:a16="http://schemas.microsoft.com/office/drawing/2014/main" id="{42BB810A-5CE9-4A15-9D6D-DD7FDE73E5D1}"/>
              </a:ext>
            </a:extLst>
          </p:cNvPr>
          <p:cNvSpPr>
            <a:spLocks noGrp="1"/>
          </p:cNvSpPr>
          <p:nvPr/>
        </p:nvSpPr>
        <p:spPr>
          <a:xfrm>
            <a:off x="5981700" y="4095750"/>
            <a:ext cx="5467350" cy="1295400"/>
          </a:xfrm>
          <a:prstGeom prst="roundRect">
            <a:avLst>
              <a:gd name="adj" fmla="val 5882"/>
            </a:avLst>
          </a:prstGeom>
          <a:solidFill>
            <a:srgbClr val="EAF3F7"/>
          </a:solidFill>
          <a:ln w="0">
            <a:noFill/>
            <a:prstDash val="solid"/>
          </a:ln>
        </p:spPr>
      </p:sp>
      <p:sp>
        <p:nvSpPr>
          <p:cNvPr id="23" name="text">
            <a:extLst>
              <a:ext uri="{FF2B5EF4-FFF2-40B4-BE49-F238E27FC236}">
                <a16:creationId xmlns:a16="http://schemas.microsoft.com/office/drawing/2014/main" id="{8EB1C6B3-0754-49AA-B385-00F5B118B411}"/>
              </a:ext>
            </a:extLst>
          </p:cNvPr>
          <p:cNvSpPr>
            <a:spLocks noGrp="1"/>
          </p:cNvSpPr>
          <p:nvPr/>
        </p:nvSpPr>
        <p:spPr>
          <a:xfrm>
            <a:off x="6229350" y="4286250"/>
            <a:ext cx="1809750" cy="266700"/>
          </a:xfrm>
          <a:prstGeom prst="rect">
            <a:avLst/>
          </a:prstGeom>
          <a:noFill/>
          <a:ln w="0">
            <a:noFill/>
            <a:prstDash val="solid"/>
          </a:ln>
        </p:spPr>
        <p:txBody>
          <a:bodyPr anchor="ctr"/>
          <a:lstStyle/>
          <a:p>
            <a:pPr algn="l">
              <a:defRPr sz="1200" b="1">
                <a:solidFill>
                  <a:srgbClr val="0FA3A1"/>
                </a:solidFill>
              </a:defRPr>
            </a:pPr>
            <a:r>
              <a:rPr sz="1200" b="1">
                <a:solidFill>
                  <a:srgbClr val="0FA3A1"/>
                </a:solidFill>
              </a:rPr>
              <a:t>CONTINGENCY</a:t>
            </a:r>
          </a:p>
        </p:txBody>
      </p:sp>
      <p:sp>
        <p:nvSpPr>
          <p:cNvPr id="24" name="text">
            <a:extLst>
              <a:ext uri="{FF2B5EF4-FFF2-40B4-BE49-F238E27FC236}">
                <a16:creationId xmlns:a16="http://schemas.microsoft.com/office/drawing/2014/main" id="{D598EF88-C1F7-4A5A-8281-4B7BD02270E4}"/>
              </a:ext>
            </a:extLst>
          </p:cNvPr>
          <p:cNvSpPr>
            <a:spLocks noGrp="1"/>
          </p:cNvSpPr>
          <p:nvPr/>
        </p:nvSpPr>
        <p:spPr>
          <a:xfrm>
            <a:off x="6229350" y="4667250"/>
            <a:ext cx="4857750" cy="266700"/>
          </a:xfrm>
          <a:prstGeom prst="rect">
            <a:avLst/>
          </a:prstGeom>
          <a:noFill/>
          <a:ln w="0">
            <a:noFill/>
            <a:prstDash val="solid"/>
          </a:ln>
        </p:spPr>
        <p:txBody>
          <a:bodyPr anchor="ctr"/>
          <a:lstStyle/>
          <a:p>
            <a:pPr algn="l">
              <a:defRPr sz="1425" b="1">
                <a:solidFill>
                  <a:srgbClr val="102638"/>
                </a:solidFill>
              </a:defRPr>
            </a:pPr>
            <a:r>
              <a:rPr sz="1425" b="1">
                <a:solidFill>
                  <a:srgbClr val="102638"/>
                </a:solidFill>
              </a:rPr>
              <a:t>Model unavailable → amendment</a:t>
            </a:r>
          </a:p>
        </p:txBody>
      </p:sp>
      <p:sp>
        <p:nvSpPr>
          <p:cNvPr id="25" name="text">
            <a:extLst>
              <a:ext uri="{FF2B5EF4-FFF2-40B4-BE49-F238E27FC236}">
                <a16:creationId xmlns:a16="http://schemas.microsoft.com/office/drawing/2014/main" id="{0220A542-11BC-47DB-977F-8E550B28CA63}"/>
              </a:ext>
            </a:extLst>
          </p:cNvPr>
          <p:cNvSpPr>
            <a:spLocks noGrp="1"/>
          </p:cNvSpPr>
          <p:nvPr/>
        </p:nvSpPr>
        <p:spPr>
          <a:xfrm>
            <a:off x="6229350" y="5010150"/>
            <a:ext cx="4857750" cy="266700"/>
          </a:xfrm>
          <a:prstGeom prst="rect">
            <a:avLst/>
          </a:prstGeom>
          <a:noFill/>
          <a:ln w="0">
            <a:noFill/>
            <a:prstDash val="solid"/>
          </a:ln>
        </p:spPr>
        <p:txBody>
          <a:bodyPr anchor="ctr"/>
          <a:lstStyle/>
          <a:p>
            <a:pPr algn="l">
              <a:defRPr sz="1425" b="1">
                <a:solidFill>
                  <a:srgbClr val="102638"/>
                </a:solidFill>
              </a:defRPr>
            </a:pPr>
            <a:r>
              <a:rPr sz="1425" b="1" dirty="0">
                <a:solidFill>
                  <a:srgbClr val="102638"/>
                </a:solidFill>
              </a:rPr>
              <a:t>Tool failure → fix + re-pilot</a:t>
            </a:r>
            <a:r>
              <a:rPr lang="vi-VN" sz="1425" b="1" dirty="0">
                <a:solidFill>
                  <a:srgbClr val="102638"/>
                </a:solidFill>
              </a:rPr>
              <a:t> </a:t>
            </a:r>
            <a:r>
              <a:rPr lang="vi-VN" sz="1425" b="1" dirty="0" err="1">
                <a:solidFill>
                  <a:srgbClr val="102638"/>
                </a:solidFill>
              </a:rPr>
              <a:t>full</a:t>
            </a:r>
            <a:r>
              <a:rPr lang="vi-VN" sz="1425" b="1" dirty="0">
                <a:solidFill>
                  <a:srgbClr val="102638"/>
                </a:solidFill>
              </a:rPr>
              <a:t> run</a:t>
            </a:r>
            <a:endParaRPr sz="1425" b="1" dirty="0">
              <a:solidFill>
                <a:srgbClr val="102638"/>
              </a:solidFill>
            </a:endParaRPr>
          </a:p>
        </p:txBody>
      </p:sp>
      <p:sp>
        <p:nvSpPr>
          <p:cNvPr id="26" name="text">
            <a:extLst>
              <a:ext uri="{FF2B5EF4-FFF2-40B4-BE49-F238E27FC236}">
                <a16:creationId xmlns:a16="http://schemas.microsoft.com/office/drawing/2014/main" id="{BBFFDDF4-F31D-4DE5-9FEC-FE4340B9F35B}"/>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27" name="text">
            <a:extLst>
              <a:ext uri="{FF2B5EF4-FFF2-40B4-BE49-F238E27FC236}">
                <a16:creationId xmlns:a16="http://schemas.microsoft.com/office/drawing/2014/main" id="{E46084D1-0CC2-4469-9174-E352A0F21AFE}"/>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10</a:t>
            </a:r>
          </a:p>
        </p:txBody>
      </p:sp>
    </p:spTree>
    <p:extLst>
      <p:ext uri="{BB962C8B-B14F-4D97-AF65-F5344CB8AC3E}">
        <p14:creationId xmlns:p14="http://schemas.microsoft.com/office/powerpoint/2010/main" val="12210969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20" name="text">
            <a:extLst>
              <a:ext uri="{FF2B5EF4-FFF2-40B4-BE49-F238E27FC236}">
                <a16:creationId xmlns:a16="http://schemas.microsoft.com/office/drawing/2014/main" id="{1240D824-90BB-42CA-A88B-1A3B3525E223}"/>
              </a:ext>
            </a:extLst>
          </p:cNvPr>
          <p:cNvSpPr>
            <a:spLocks noGrp="1"/>
          </p:cNvSpPr>
          <p:nvPr/>
        </p:nvSpPr>
        <p:spPr>
          <a:xfrm>
            <a:off x="514350" y="552450"/>
            <a:ext cx="4762500" cy="285750"/>
          </a:xfrm>
          <a:prstGeom prst="rect">
            <a:avLst/>
          </a:prstGeom>
          <a:noFill/>
          <a:ln w="0">
            <a:noFill/>
            <a:prstDash val="solid"/>
          </a:ln>
        </p:spPr>
        <p:txBody>
          <a:bodyPr anchor="ctr"/>
          <a:lstStyle/>
          <a:p>
            <a:pPr algn="l">
              <a:defRPr sz="1200" b="1">
                <a:solidFill>
                  <a:srgbClr val="26D0CE"/>
                </a:solidFill>
              </a:defRPr>
            </a:pPr>
            <a:r>
              <a:rPr sz="1200" b="1">
                <a:solidFill>
                  <a:srgbClr val="26D0CE"/>
                </a:solidFill>
              </a:rPr>
              <a:t>EXPECTED CONTRIBUTION</a:t>
            </a:r>
          </a:p>
        </p:txBody>
      </p:sp>
      <p:sp>
        <p:nvSpPr>
          <p:cNvPr id="2" name="text">
            <a:extLst>
              <a:ext uri="{FF2B5EF4-FFF2-40B4-BE49-F238E27FC236}">
                <a16:creationId xmlns:a16="http://schemas.microsoft.com/office/drawing/2014/main" id="{F9BA82EE-48AB-4225-A794-BCFE7CED6346}"/>
              </a:ext>
            </a:extLst>
          </p:cNvPr>
          <p:cNvSpPr>
            <a:spLocks noGrp="1"/>
          </p:cNvSpPr>
          <p:nvPr/>
        </p:nvSpPr>
        <p:spPr>
          <a:xfrm>
            <a:off x="514350" y="1085850"/>
            <a:ext cx="7239000" cy="1104900"/>
          </a:xfrm>
          <a:prstGeom prst="rect">
            <a:avLst/>
          </a:prstGeom>
          <a:noFill/>
          <a:ln w="0">
            <a:noFill/>
            <a:prstDash val="solid"/>
          </a:ln>
        </p:spPr>
        <p:txBody>
          <a:bodyPr anchor="ctr"/>
          <a:lstStyle/>
          <a:p>
            <a:pPr algn="l">
              <a:defRPr sz="3300" b="1">
                <a:solidFill>
                  <a:srgbClr val="F8FBFD"/>
                </a:solidFill>
              </a:defRPr>
            </a:pPr>
            <a:r>
              <a:rPr lang="vi-VN" sz="3300" b="1" dirty="0" err="1">
                <a:solidFill>
                  <a:srgbClr val="F8FBFD"/>
                </a:solidFill>
              </a:rPr>
              <a:t>Contibution</a:t>
            </a:r>
            <a:r>
              <a:rPr lang="vi-VN" sz="3300" b="1" dirty="0">
                <a:solidFill>
                  <a:srgbClr val="F8FBFD"/>
                </a:solidFill>
              </a:rPr>
              <a:t> &amp; Q&amp;A</a:t>
            </a:r>
            <a:endParaRPr sz="3300" b="1" dirty="0">
              <a:solidFill>
                <a:srgbClr val="F8FBFD"/>
              </a:solidFill>
            </a:endParaRPr>
          </a:p>
        </p:txBody>
      </p:sp>
      <p:sp>
        <p:nvSpPr>
          <p:cNvPr id="3" name="text">
            <a:extLst>
              <a:ext uri="{FF2B5EF4-FFF2-40B4-BE49-F238E27FC236}">
                <a16:creationId xmlns:a16="http://schemas.microsoft.com/office/drawing/2014/main" id="{AEEAAF64-5FD9-4E69-849C-F1E08A60DD1F}"/>
              </a:ext>
            </a:extLst>
          </p:cNvPr>
          <p:cNvSpPr>
            <a:spLocks noGrp="1"/>
          </p:cNvSpPr>
          <p:nvPr/>
        </p:nvSpPr>
        <p:spPr>
          <a:xfrm>
            <a:off x="609600" y="2667000"/>
            <a:ext cx="533400" cy="495300"/>
          </a:xfrm>
          <a:prstGeom prst="rect">
            <a:avLst/>
          </a:prstGeom>
          <a:noFill/>
          <a:ln w="0">
            <a:noFill/>
            <a:prstDash val="solid"/>
          </a:ln>
        </p:spPr>
        <p:txBody>
          <a:bodyPr anchor="ctr"/>
          <a:lstStyle/>
          <a:p>
            <a:pPr algn="ctr">
              <a:defRPr sz="1350" b="1">
                <a:solidFill>
                  <a:srgbClr val="26D0CE"/>
                </a:solidFill>
              </a:defRPr>
            </a:pPr>
            <a:r>
              <a:rPr sz="1350" b="1">
                <a:solidFill>
                  <a:srgbClr val="26D0CE"/>
                </a:solidFill>
              </a:rPr>
              <a:t>01</a:t>
            </a:r>
          </a:p>
        </p:txBody>
      </p:sp>
      <p:sp>
        <p:nvSpPr>
          <p:cNvPr id="4" name="rule">
            <a:extLst>
              <a:ext uri="{FF2B5EF4-FFF2-40B4-BE49-F238E27FC236}">
                <a16:creationId xmlns:a16="http://schemas.microsoft.com/office/drawing/2014/main" id="{4C096523-B777-4E9C-BD34-4F54EB75936A}"/>
              </a:ext>
            </a:extLst>
          </p:cNvPr>
          <p:cNvSpPr>
            <a:spLocks noGrp="1"/>
          </p:cNvSpPr>
          <p:nvPr/>
        </p:nvSpPr>
        <p:spPr>
          <a:xfrm>
            <a:off x="1295400" y="2743200"/>
            <a:ext cx="28575" cy="361950"/>
          </a:xfrm>
          <a:prstGeom prst="rect">
            <a:avLst/>
          </a:prstGeom>
          <a:solidFill>
            <a:srgbClr val="26D0CE"/>
          </a:solidFill>
          <a:ln w="0">
            <a:noFill/>
            <a:prstDash val="solid"/>
          </a:ln>
        </p:spPr>
      </p:sp>
      <p:sp>
        <p:nvSpPr>
          <p:cNvPr id="5" name="text">
            <a:extLst>
              <a:ext uri="{FF2B5EF4-FFF2-40B4-BE49-F238E27FC236}">
                <a16:creationId xmlns:a16="http://schemas.microsoft.com/office/drawing/2014/main" id="{631B9337-48BA-4B3C-BB68-21BFBD50E0C4}"/>
              </a:ext>
            </a:extLst>
          </p:cNvPr>
          <p:cNvSpPr>
            <a:spLocks noGrp="1"/>
          </p:cNvSpPr>
          <p:nvPr/>
        </p:nvSpPr>
        <p:spPr>
          <a:xfrm>
            <a:off x="1562100" y="2667000"/>
            <a:ext cx="2190750" cy="285750"/>
          </a:xfrm>
          <a:prstGeom prst="rect">
            <a:avLst/>
          </a:prstGeom>
          <a:noFill/>
          <a:ln w="0">
            <a:noFill/>
            <a:prstDash val="solid"/>
          </a:ln>
        </p:spPr>
        <p:txBody>
          <a:bodyPr anchor="ctr"/>
          <a:lstStyle/>
          <a:p>
            <a:pPr algn="l">
              <a:defRPr sz="1500" b="1">
                <a:solidFill>
                  <a:srgbClr val="F8FBFD"/>
                </a:solidFill>
              </a:defRPr>
            </a:pPr>
            <a:r>
              <a:rPr sz="1500" b="1">
                <a:solidFill>
                  <a:srgbClr val="F8FBFD"/>
                </a:solidFill>
              </a:rPr>
              <a:t>CONTROLLED</a:t>
            </a:r>
          </a:p>
        </p:txBody>
      </p:sp>
      <p:sp>
        <p:nvSpPr>
          <p:cNvPr id="6" name="text">
            <a:extLst>
              <a:ext uri="{FF2B5EF4-FFF2-40B4-BE49-F238E27FC236}">
                <a16:creationId xmlns:a16="http://schemas.microsoft.com/office/drawing/2014/main" id="{E44A44C2-505F-4DF7-BD36-20D67E1EB899}"/>
              </a:ext>
            </a:extLst>
          </p:cNvPr>
          <p:cNvSpPr>
            <a:spLocks noGrp="1"/>
          </p:cNvSpPr>
          <p:nvPr/>
        </p:nvSpPr>
        <p:spPr>
          <a:xfrm>
            <a:off x="4095750" y="2667000"/>
            <a:ext cx="3429000" cy="285750"/>
          </a:xfrm>
          <a:prstGeom prst="rect">
            <a:avLst/>
          </a:prstGeom>
          <a:noFill/>
          <a:ln w="0">
            <a:noFill/>
            <a:prstDash val="solid"/>
          </a:ln>
        </p:spPr>
        <p:txBody>
          <a:bodyPr anchor="ctr"/>
          <a:lstStyle/>
          <a:p>
            <a:pPr algn="l">
              <a:defRPr sz="1425" b="0">
                <a:solidFill>
                  <a:srgbClr val="9FB2C2"/>
                </a:solidFill>
              </a:defRPr>
            </a:pPr>
            <a:r>
              <a:rPr sz="1425" b="0">
                <a:solidFill>
                  <a:srgbClr val="9FB2C2"/>
                </a:solidFill>
              </a:rPr>
              <a:t>CC 5–15</a:t>
            </a:r>
          </a:p>
        </p:txBody>
      </p:sp>
      <p:sp>
        <p:nvSpPr>
          <p:cNvPr id="7" name="text">
            <a:extLst>
              <a:ext uri="{FF2B5EF4-FFF2-40B4-BE49-F238E27FC236}">
                <a16:creationId xmlns:a16="http://schemas.microsoft.com/office/drawing/2014/main" id="{18E770B3-FBB4-4CB8-B3B7-DEA937FF425A}"/>
              </a:ext>
            </a:extLst>
          </p:cNvPr>
          <p:cNvSpPr>
            <a:spLocks noGrp="1"/>
          </p:cNvSpPr>
          <p:nvPr/>
        </p:nvSpPr>
        <p:spPr>
          <a:xfrm>
            <a:off x="609600" y="3486150"/>
            <a:ext cx="533400" cy="495300"/>
          </a:xfrm>
          <a:prstGeom prst="rect">
            <a:avLst/>
          </a:prstGeom>
          <a:noFill/>
          <a:ln w="0">
            <a:noFill/>
            <a:prstDash val="solid"/>
          </a:ln>
        </p:spPr>
        <p:txBody>
          <a:bodyPr anchor="ctr"/>
          <a:lstStyle/>
          <a:p>
            <a:pPr algn="ctr">
              <a:defRPr sz="1350" b="1">
                <a:solidFill>
                  <a:srgbClr val="26D0CE"/>
                </a:solidFill>
              </a:defRPr>
            </a:pPr>
            <a:r>
              <a:rPr sz="1350" b="1">
                <a:solidFill>
                  <a:srgbClr val="26D0CE"/>
                </a:solidFill>
              </a:rPr>
              <a:t>02</a:t>
            </a:r>
          </a:p>
        </p:txBody>
      </p:sp>
      <p:sp>
        <p:nvSpPr>
          <p:cNvPr id="8" name="rule">
            <a:extLst>
              <a:ext uri="{FF2B5EF4-FFF2-40B4-BE49-F238E27FC236}">
                <a16:creationId xmlns:a16="http://schemas.microsoft.com/office/drawing/2014/main" id="{FF8A65A6-860E-4D5C-B77D-2AFC3D30BD25}"/>
              </a:ext>
            </a:extLst>
          </p:cNvPr>
          <p:cNvSpPr>
            <a:spLocks noGrp="1"/>
          </p:cNvSpPr>
          <p:nvPr/>
        </p:nvSpPr>
        <p:spPr>
          <a:xfrm>
            <a:off x="1295400" y="3562350"/>
            <a:ext cx="28575" cy="361950"/>
          </a:xfrm>
          <a:prstGeom prst="rect">
            <a:avLst/>
          </a:prstGeom>
          <a:solidFill>
            <a:srgbClr val="26D0CE"/>
          </a:solidFill>
          <a:ln w="0">
            <a:noFill/>
            <a:prstDash val="solid"/>
          </a:ln>
        </p:spPr>
      </p:sp>
      <p:sp>
        <p:nvSpPr>
          <p:cNvPr id="9" name="text">
            <a:extLst>
              <a:ext uri="{FF2B5EF4-FFF2-40B4-BE49-F238E27FC236}">
                <a16:creationId xmlns:a16="http://schemas.microsoft.com/office/drawing/2014/main" id="{0ABA9B97-C9C3-4BFA-910A-3A908AA7FC84}"/>
              </a:ext>
            </a:extLst>
          </p:cNvPr>
          <p:cNvSpPr>
            <a:spLocks noGrp="1"/>
          </p:cNvSpPr>
          <p:nvPr/>
        </p:nvSpPr>
        <p:spPr>
          <a:xfrm>
            <a:off x="1562100" y="3486150"/>
            <a:ext cx="2190750" cy="285750"/>
          </a:xfrm>
          <a:prstGeom prst="rect">
            <a:avLst/>
          </a:prstGeom>
          <a:noFill/>
          <a:ln w="0">
            <a:noFill/>
            <a:prstDash val="solid"/>
          </a:ln>
        </p:spPr>
        <p:txBody>
          <a:bodyPr anchor="ctr"/>
          <a:lstStyle/>
          <a:p>
            <a:pPr algn="l">
              <a:defRPr sz="1500" b="1">
                <a:solidFill>
                  <a:srgbClr val="F8FBFD"/>
                </a:solidFill>
              </a:defRPr>
            </a:pPr>
            <a:r>
              <a:rPr sz="1500" b="1">
                <a:solidFill>
                  <a:srgbClr val="F8FBFD"/>
                </a:solidFill>
              </a:rPr>
              <a:t>PAIRED</a:t>
            </a:r>
          </a:p>
        </p:txBody>
      </p:sp>
      <p:sp>
        <p:nvSpPr>
          <p:cNvPr id="10" name="text">
            <a:extLst>
              <a:ext uri="{FF2B5EF4-FFF2-40B4-BE49-F238E27FC236}">
                <a16:creationId xmlns:a16="http://schemas.microsoft.com/office/drawing/2014/main" id="{F9A51E68-4A65-4405-950F-B85939F0E5B7}"/>
              </a:ext>
            </a:extLst>
          </p:cNvPr>
          <p:cNvSpPr>
            <a:spLocks noGrp="1"/>
          </p:cNvSpPr>
          <p:nvPr/>
        </p:nvSpPr>
        <p:spPr>
          <a:xfrm>
            <a:off x="4095750" y="3486150"/>
            <a:ext cx="3429000" cy="285750"/>
          </a:xfrm>
          <a:prstGeom prst="rect">
            <a:avLst/>
          </a:prstGeom>
          <a:noFill/>
          <a:ln w="0">
            <a:noFill/>
            <a:prstDash val="solid"/>
          </a:ln>
        </p:spPr>
        <p:txBody>
          <a:bodyPr anchor="ctr"/>
          <a:lstStyle/>
          <a:p>
            <a:pPr algn="l">
              <a:defRPr sz="1425" b="0">
                <a:solidFill>
                  <a:srgbClr val="9FB2C2"/>
                </a:solidFill>
              </a:defRPr>
            </a:pPr>
            <a:r>
              <a:rPr sz="1425" b="0">
                <a:solidFill>
                  <a:srgbClr val="9FB2C2"/>
                </a:solidFill>
              </a:rPr>
              <a:t>Java baseline</a:t>
            </a:r>
          </a:p>
        </p:txBody>
      </p:sp>
      <p:sp>
        <p:nvSpPr>
          <p:cNvPr id="11" name="text">
            <a:extLst>
              <a:ext uri="{FF2B5EF4-FFF2-40B4-BE49-F238E27FC236}">
                <a16:creationId xmlns:a16="http://schemas.microsoft.com/office/drawing/2014/main" id="{3411204C-EA68-4D3F-836F-47E05124E399}"/>
              </a:ext>
            </a:extLst>
          </p:cNvPr>
          <p:cNvSpPr>
            <a:spLocks noGrp="1"/>
          </p:cNvSpPr>
          <p:nvPr/>
        </p:nvSpPr>
        <p:spPr>
          <a:xfrm>
            <a:off x="609600" y="4305300"/>
            <a:ext cx="533400" cy="495300"/>
          </a:xfrm>
          <a:prstGeom prst="rect">
            <a:avLst/>
          </a:prstGeom>
          <a:noFill/>
          <a:ln w="0">
            <a:noFill/>
            <a:prstDash val="solid"/>
          </a:ln>
        </p:spPr>
        <p:txBody>
          <a:bodyPr anchor="ctr"/>
          <a:lstStyle/>
          <a:p>
            <a:pPr algn="ctr">
              <a:defRPr sz="1350" b="1">
                <a:solidFill>
                  <a:srgbClr val="26D0CE"/>
                </a:solidFill>
              </a:defRPr>
            </a:pPr>
            <a:r>
              <a:rPr sz="1350" b="1">
                <a:solidFill>
                  <a:srgbClr val="26D0CE"/>
                </a:solidFill>
              </a:rPr>
              <a:t>03</a:t>
            </a:r>
          </a:p>
        </p:txBody>
      </p:sp>
      <p:sp>
        <p:nvSpPr>
          <p:cNvPr id="12" name="rule">
            <a:extLst>
              <a:ext uri="{FF2B5EF4-FFF2-40B4-BE49-F238E27FC236}">
                <a16:creationId xmlns:a16="http://schemas.microsoft.com/office/drawing/2014/main" id="{592C3D47-7C3E-4003-98C9-5E3EF30A7D86}"/>
              </a:ext>
            </a:extLst>
          </p:cNvPr>
          <p:cNvSpPr>
            <a:spLocks noGrp="1"/>
          </p:cNvSpPr>
          <p:nvPr/>
        </p:nvSpPr>
        <p:spPr>
          <a:xfrm>
            <a:off x="1295400" y="4381500"/>
            <a:ext cx="28575" cy="361950"/>
          </a:xfrm>
          <a:prstGeom prst="rect">
            <a:avLst/>
          </a:prstGeom>
          <a:solidFill>
            <a:srgbClr val="26D0CE"/>
          </a:solidFill>
          <a:ln w="0">
            <a:noFill/>
            <a:prstDash val="solid"/>
          </a:ln>
        </p:spPr>
      </p:sp>
      <p:sp>
        <p:nvSpPr>
          <p:cNvPr id="13" name="text">
            <a:extLst>
              <a:ext uri="{FF2B5EF4-FFF2-40B4-BE49-F238E27FC236}">
                <a16:creationId xmlns:a16="http://schemas.microsoft.com/office/drawing/2014/main" id="{54D80F55-C1BA-46CF-82BB-383F801EAC3E}"/>
              </a:ext>
            </a:extLst>
          </p:cNvPr>
          <p:cNvSpPr>
            <a:spLocks noGrp="1"/>
          </p:cNvSpPr>
          <p:nvPr/>
        </p:nvSpPr>
        <p:spPr>
          <a:xfrm>
            <a:off x="1562100" y="4305300"/>
            <a:ext cx="2190750" cy="285750"/>
          </a:xfrm>
          <a:prstGeom prst="rect">
            <a:avLst/>
          </a:prstGeom>
          <a:noFill/>
          <a:ln w="0">
            <a:noFill/>
            <a:prstDash val="solid"/>
          </a:ln>
        </p:spPr>
        <p:txBody>
          <a:bodyPr anchor="ctr"/>
          <a:lstStyle/>
          <a:p>
            <a:pPr algn="l">
              <a:defRPr sz="1500" b="1">
                <a:solidFill>
                  <a:srgbClr val="F8FBFD"/>
                </a:solidFill>
              </a:defRPr>
            </a:pPr>
            <a:r>
              <a:rPr sz="1500" b="1">
                <a:solidFill>
                  <a:srgbClr val="F8FBFD"/>
                </a:solidFill>
              </a:rPr>
              <a:t>TRACEABLE</a:t>
            </a:r>
          </a:p>
        </p:txBody>
      </p:sp>
      <p:sp>
        <p:nvSpPr>
          <p:cNvPr id="14" name="text">
            <a:extLst>
              <a:ext uri="{FF2B5EF4-FFF2-40B4-BE49-F238E27FC236}">
                <a16:creationId xmlns:a16="http://schemas.microsoft.com/office/drawing/2014/main" id="{D1AC5BAA-5BE9-4964-A16A-1967C86205DE}"/>
              </a:ext>
            </a:extLst>
          </p:cNvPr>
          <p:cNvSpPr>
            <a:spLocks noGrp="1"/>
          </p:cNvSpPr>
          <p:nvPr/>
        </p:nvSpPr>
        <p:spPr>
          <a:xfrm>
            <a:off x="4095750" y="4305300"/>
            <a:ext cx="3429000" cy="285750"/>
          </a:xfrm>
          <a:prstGeom prst="rect">
            <a:avLst/>
          </a:prstGeom>
          <a:noFill/>
          <a:ln w="0">
            <a:noFill/>
            <a:prstDash val="solid"/>
          </a:ln>
        </p:spPr>
        <p:txBody>
          <a:bodyPr anchor="ctr"/>
          <a:lstStyle/>
          <a:p>
            <a:pPr algn="l">
              <a:defRPr sz="1425" b="0">
                <a:solidFill>
                  <a:srgbClr val="9FB2C2"/>
                </a:solidFill>
              </a:defRPr>
            </a:pPr>
            <a:r>
              <a:rPr sz="1425" b="0">
                <a:solidFill>
                  <a:srgbClr val="9FB2C2"/>
                </a:solidFill>
              </a:rPr>
              <a:t>50 / 50</a:t>
            </a:r>
          </a:p>
        </p:txBody>
      </p:sp>
      <p:sp>
        <p:nvSpPr>
          <p:cNvPr id="15" name="box">
            <a:extLst>
              <a:ext uri="{FF2B5EF4-FFF2-40B4-BE49-F238E27FC236}">
                <a16:creationId xmlns:a16="http://schemas.microsoft.com/office/drawing/2014/main" id="{0D163328-D410-44A0-8879-8D0B77F3E296}"/>
              </a:ext>
            </a:extLst>
          </p:cNvPr>
          <p:cNvSpPr>
            <a:spLocks noGrp="1"/>
          </p:cNvSpPr>
          <p:nvPr/>
        </p:nvSpPr>
        <p:spPr>
          <a:xfrm>
            <a:off x="7255192" y="1495425"/>
            <a:ext cx="3429000" cy="3333750"/>
          </a:xfrm>
          <a:prstGeom prst="roundRect">
            <a:avLst>
              <a:gd name="adj" fmla="val 2286"/>
            </a:avLst>
          </a:prstGeom>
          <a:solidFill>
            <a:srgbClr val="26D0CE"/>
          </a:solidFill>
          <a:ln w="0">
            <a:noFill/>
            <a:prstDash val="solid"/>
          </a:ln>
        </p:spPr>
      </p:sp>
      <p:sp>
        <p:nvSpPr>
          <p:cNvPr id="16" name="text">
            <a:extLst>
              <a:ext uri="{FF2B5EF4-FFF2-40B4-BE49-F238E27FC236}">
                <a16:creationId xmlns:a16="http://schemas.microsoft.com/office/drawing/2014/main" id="{74A3B3CD-EB1E-491D-9787-B2D51E3ADAAA}"/>
              </a:ext>
            </a:extLst>
          </p:cNvPr>
          <p:cNvSpPr>
            <a:spLocks noGrp="1"/>
          </p:cNvSpPr>
          <p:nvPr/>
        </p:nvSpPr>
        <p:spPr>
          <a:xfrm>
            <a:off x="6852285" y="2019300"/>
            <a:ext cx="4234815" cy="2362200"/>
          </a:xfrm>
          <a:prstGeom prst="rect">
            <a:avLst/>
          </a:prstGeom>
          <a:noFill/>
          <a:ln w="0">
            <a:noFill/>
            <a:prstDash val="solid"/>
          </a:ln>
        </p:spPr>
        <p:txBody>
          <a:bodyPr anchor="ctr"/>
          <a:lstStyle/>
          <a:p>
            <a:pPr algn="ctr">
              <a:defRPr sz="3750" b="1">
                <a:solidFill>
                  <a:srgbClr val="071A2B"/>
                </a:solidFill>
              </a:defRPr>
            </a:pPr>
            <a:r>
              <a:rPr sz="3750" b="1" dirty="0">
                <a:solidFill>
                  <a:srgbClr val="071A2B"/>
                </a:solidFill>
              </a:rPr>
              <a:t>Q&amp;A</a:t>
            </a:r>
          </a:p>
        </p:txBody>
      </p:sp>
      <p:sp>
        <p:nvSpPr>
          <p:cNvPr id="17" name="text">
            <a:extLst>
              <a:ext uri="{FF2B5EF4-FFF2-40B4-BE49-F238E27FC236}">
                <a16:creationId xmlns:a16="http://schemas.microsoft.com/office/drawing/2014/main" id="{352B0A06-6065-4584-9B8A-266625F6FAC2}"/>
              </a:ext>
            </a:extLst>
          </p:cNvPr>
          <p:cNvSpPr>
            <a:spLocks noGrp="1"/>
          </p:cNvSpPr>
          <p:nvPr/>
        </p:nvSpPr>
        <p:spPr>
          <a:xfrm>
            <a:off x="8305800" y="2971800"/>
            <a:ext cx="2781300" cy="1428750"/>
          </a:xfrm>
          <a:prstGeom prst="rect">
            <a:avLst/>
          </a:prstGeom>
          <a:noFill/>
          <a:ln w="0">
            <a:noFill/>
            <a:prstDash val="solid"/>
          </a:ln>
        </p:spPr>
        <p:txBody>
          <a:bodyPr anchor="ctr"/>
          <a:lstStyle/>
          <a:p>
            <a:pPr algn="ctr">
              <a:defRPr sz="1800" b="1">
                <a:solidFill>
                  <a:srgbClr val="071A2B"/>
                </a:solidFill>
              </a:defRPr>
            </a:pPr>
            <a:endParaRPr sz="1800" b="1" dirty="0">
              <a:solidFill>
                <a:srgbClr val="071A2B"/>
              </a:solidFill>
            </a:endParaRPr>
          </a:p>
        </p:txBody>
      </p:sp>
      <p:sp>
        <p:nvSpPr>
          <p:cNvPr id="18" name="text">
            <a:extLst>
              <a:ext uri="{FF2B5EF4-FFF2-40B4-BE49-F238E27FC236}">
                <a16:creationId xmlns:a16="http://schemas.microsoft.com/office/drawing/2014/main" id="{E10AB554-BBBA-48D1-8CB0-5A55B5E9597C}"/>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19" name="text">
            <a:extLst>
              <a:ext uri="{FF2B5EF4-FFF2-40B4-BE49-F238E27FC236}">
                <a16:creationId xmlns:a16="http://schemas.microsoft.com/office/drawing/2014/main" id="{FDF4E26D-D085-4B5B-91AE-C09EE01CBF0A}"/>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11</a:t>
            </a:r>
          </a:p>
        </p:txBody>
      </p:sp>
    </p:spTree>
    <p:extLst>
      <p:ext uri="{BB962C8B-B14F-4D97-AF65-F5344CB8AC3E}">
        <p14:creationId xmlns:p14="http://schemas.microsoft.com/office/powerpoint/2010/main" val="39030332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2796</TotalTime>
  <Words>1331</Words>
  <Application>Microsoft Office PowerPoint</Application>
  <DocSecurity>0</DocSecurity>
  <PresentationFormat>Màn hình rộng</PresentationFormat>
  <Paragraphs>239</Paragraphs>
  <Slides>11</Slides>
  <Notes>11</Notes>
  <HiddenSlides>0</HiddenSlides>
  <MMClips>0</MMClips>
  <ScaleCrop>false</ScaleCrop>
  <HeadingPairs>
    <vt:vector size="6" baseType="variant">
      <vt:variant>
        <vt:lpstr>Phông được Dùng</vt:lpstr>
      </vt:variant>
      <vt:variant>
        <vt:i4>1</vt:i4>
      </vt:variant>
      <vt:variant>
        <vt:lpstr>Chủ đề</vt:lpstr>
      </vt:variant>
      <vt:variant>
        <vt:i4>1</vt:i4>
      </vt:variant>
      <vt:variant>
        <vt:lpstr>Tiêu đề Bản chiếu</vt:lpstr>
      </vt:variant>
      <vt:variant>
        <vt:i4>11</vt:i4>
      </vt:variant>
    </vt:vector>
  </HeadingPairs>
  <TitlesOfParts>
    <vt:vector size="13" baseType="lpstr">
      <vt:lpstr>Calibri</vt:lpstr>
      <vt:lpstr>ChatGPT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Nghi Phạm</cp:lastModifiedBy>
  <cp:revision>3</cp:revision>
  <dcterms:created xsi:type="dcterms:W3CDTF">2026-06-21T20:35:23Z</dcterms:created>
  <dcterms:modified xsi:type="dcterms:W3CDTF">2026-06-25T11:09:31Z</dcterms:modified>
</cp:coreProperties>
</file>