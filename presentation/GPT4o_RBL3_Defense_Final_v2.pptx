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solidFill>
            <a:srgbClr val="161B2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48640"/>
            <a:ext cx="109728" cy="34747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Danh gia First-Attempt Zero-Shot</a:t>
            </a:r>
          </a:p>
          <a:p>
            <a:pPr algn="l"/>
            <a:r>
              <a:rPr sz="3600" b="1">
                <a:solidFill>
                  <a:srgbClr val="00BCD4"/>
                </a:solidFill>
                <a:latin typeface="Calibri"/>
              </a:rPr>
              <a:t>GPT-4o Unit Test Generation</a:t>
            </a:r>
          </a:p>
          <a:p>
            <a:pPr>
              <a:spcBef>
                <a:spcPts val="600"/>
              </a:spcBef>
            </a:pPr>
            <a:r>
              <a:rPr sz="2400" b="0">
                <a:solidFill>
                  <a:srgbClr val="C9D1D9"/>
                </a:solidFill>
                <a:latin typeface="Calibri"/>
              </a:rPr>
              <a:t>tren Java/Python Functions voi CC 5-15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5486400" cy="36576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334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Controlled Empirical Study  |  SWT301 — Software Testing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383280"/>
            <a:ext cx="2560320" cy="13716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383280"/>
            <a:ext cx="2560320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CD4"/>
                </a:solidFill>
                <a:latin typeface="Calibri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3308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alibri"/>
              </a:rPr>
              <a:t>Units
25 Java + 25 Python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3383280"/>
            <a:ext cx="2560320" cy="1371600"/>
          </a:xfrm>
          <a:prstGeom prst="rect">
            <a:avLst/>
          </a:prstGeom>
          <a:solidFill>
            <a:srgbClr val="0D1117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3383280"/>
            <a:ext cx="2560320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107"/>
                </a:solidFill>
                <a:latin typeface="Calibri"/>
              </a:rPr>
              <a:t>CC 5-15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13308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alibri"/>
              </a:rPr>
              <a:t>Cyclomatic
Complexity Range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383280"/>
            <a:ext cx="2560320" cy="1371600"/>
          </a:xfrm>
          <a:prstGeom prst="rect">
            <a:avLst/>
          </a:prstGeom>
          <a:solidFill>
            <a:srgbClr val="0D111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383280"/>
            <a:ext cx="2560320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E676"/>
                </a:solidFill>
                <a:latin typeface="Calibri"/>
              </a:rPr>
              <a:t>Zero-Shot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3308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alibri"/>
              </a:rPr>
              <a:t>First Attempt
No Repair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3383280"/>
            <a:ext cx="2560320" cy="1371600"/>
          </a:xfrm>
          <a:prstGeom prst="rect">
            <a:avLst/>
          </a:prstGeom>
          <a:solidFill>
            <a:srgbClr val="0D1117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3383280"/>
            <a:ext cx="2560320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4747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B86FC"/>
                </a:solidFill>
                <a:latin typeface="Calibri"/>
              </a:rPr>
              <a:t>3 RQs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3308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alibri"/>
              </a:rPr>
              <a:t>Coverage • Mutation
• Correlation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8348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alibri"/>
              </a:rPr>
              <a:t>Nhom: Nghi (PL)  |  Vinh (DG)  |  Thai (LR)  |  Quan (MS)  |  Van (RW)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6629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Calibri"/>
              </a:rPr>
              <a:t>S2  Problem 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Confounders trong literature -&gt; Bounded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Vinh  | 35s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2/11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3749039" cy="5212080"/>
          </a:xfrm>
          <a:prstGeom prst="rect">
            <a:avLst/>
          </a:prstGeom>
          <a:solidFill>
            <a:srgbClr val="161B2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34440"/>
            <a:ext cx="3749039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PRIOR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719072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TestPilot: median branch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  coverage 52,8%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  (Schafer 2024, IEEE TSE)</a:t>
            </a:r>
          </a:p>
          <a:p>
            <a:pPr algn="l"/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AgoneTest: highest branch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  coverage 79,8%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  (Lops 2025, ASE)</a:t>
            </a:r>
          </a:p>
          <a:p>
            <a:pPr algn="l"/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Compilation AgoneTest: 36%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234440"/>
            <a:ext cx="3749039" cy="5212080"/>
          </a:xfrm>
          <a:prstGeom prst="rect">
            <a:avLst/>
          </a:prstGeom>
          <a:solidFill>
            <a:srgbClr val="161B27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1234440"/>
            <a:ext cx="3749039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CONFOUNDERS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1719072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Dataset khac nhau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(JS/Python vs Java class)</a:t>
            </a:r>
          </a:p>
          <a:p>
            <a:pPr algn="l"/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Model khac nhau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(gpt-3.5 vs gpt-4o-mini)</a:t>
            </a:r>
          </a:p>
          <a:p>
            <a:pPr algn="l"/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Prompt khac nhau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(zero-shot vs few-shot)</a:t>
            </a:r>
          </a:p>
          <a:p>
            <a:pPr algn="l"/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Metric: median vs highest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1234440"/>
            <a:ext cx="3749039" cy="5212080"/>
          </a:xfrm>
          <a:prstGeom prst="rect">
            <a:avLst/>
          </a:prstGeom>
          <a:solidFill>
            <a:srgbClr val="161B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4" y="1234440"/>
            <a:ext cx="3749039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75904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BOUNDED GAP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1719072"/>
            <a:ext cx="3429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Trong 10 papers ra soat:</a:t>
            </a:r>
          </a:p>
          <a:p>
            <a:pPr algn="l"/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Chua co nghien cuu danh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gia dong thoi mau can bang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Java-Python loc truoc theo</a:t>
            </a:r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CC 5-15</a:t>
            </a:r>
          </a:p>
          <a:p>
            <a:pPr algn="l"/>
          </a:p>
          <a:p>
            <a:pPr algn="l"/>
            <a:r>
              <a:rPr sz="1400" b="0" i="0">
                <a:solidFill>
                  <a:srgbClr val="C9D1D9"/>
                </a:solidFill>
                <a:latin typeface="Calibri"/>
              </a:rPr>
              <a:t>-&gt; Can controlled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107"/>
                </a:solidFill>
                <a:latin typeface="Calibri"/>
              </a:rPr>
              <a:t>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37490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E676"/>
                </a:solidFill>
                <a:latin typeface="Calibri"/>
              </a:rP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446520"/>
            <a:ext cx="11548872" cy="256032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64808"/>
            <a:ext cx="11247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  <a:latin typeface="Calibri"/>
              </a:rPr>
              <a:t>GAP-D: Chua co nghien cuu nao trong 10 papers dung mau can bang Java/Python loc truoc CC 5-15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Calibri"/>
              </a:rPr>
              <a:t>S3  Key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5 paper lien quan truc tiep nhat tu SLR 10 papers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Vinh  | 45s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3/11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325880"/>
            <a:ext cx="251460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362456"/>
            <a:ext cx="24688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325880"/>
            <a:ext cx="196596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13624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Branch Cov.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1325880"/>
            <a:ext cx="196596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3624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Mutation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325880"/>
            <a:ext cx="160020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1362456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Compilability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1325880"/>
            <a:ext cx="361188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136245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Ghi chu quan trong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1728216"/>
            <a:ext cx="251460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1773936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TestPilot
(Schafer 2024, TSE)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1728216"/>
            <a:ext cx="196596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3512" y="1773936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CD4"/>
                </a:solidFill>
                <a:latin typeface="Calibri"/>
              </a:rPr>
              <a:t>Median
52,8%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1728216"/>
            <a:ext cx="196596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65192" y="1773936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BCD4"/>
                </a:solidFill>
                <a:latin typeface="Calibri"/>
              </a:rPr>
              <a:t>NR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1728216"/>
            <a:ext cx="160020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1773936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NR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1728216"/>
            <a:ext cx="361188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22792" y="1773936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gpt-3.5-turbo; JS/Python
function-level; zero-shot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606040"/>
            <a:ext cx="2514600" cy="850392"/>
          </a:xfrm>
          <a:prstGeom prst="rect">
            <a:avLst/>
          </a:prstGeom>
          <a:solidFill>
            <a:srgbClr val="2A220A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2651760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AgoneTest
(Lops 2025, ASE)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2606040"/>
            <a:ext cx="1965960" cy="850392"/>
          </a:xfrm>
          <a:prstGeom prst="rect">
            <a:avLst/>
          </a:prstGeom>
          <a:solidFill>
            <a:srgbClr val="2A220A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651760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107"/>
                </a:solidFill>
                <a:latin typeface="Calibri"/>
              </a:rPr>
              <a:t>Highest
79,8%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2040" y="2606040"/>
            <a:ext cx="1965960" cy="850392"/>
          </a:xfrm>
          <a:prstGeom prst="rect">
            <a:avLst/>
          </a:prstGeom>
          <a:solidFill>
            <a:srgbClr val="2A220A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65192" y="2651760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C107"/>
                </a:solidFill>
                <a:latin typeface="Calibri"/>
              </a:rPr>
              <a:t>Highest
89,2%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2606040"/>
            <a:ext cx="1600200" cy="850392"/>
          </a:xfrm>
          <a:prstGeom prst="rect">
            <a:avLst/>
          </a:prstGeom>
          <a:solidFill>
            <a:srgbClr val="2A220A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76872" y="2651760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2606040"/>
            <a:ext cx="3611880" cy="850392"/>
          </a:xfrm>
          <a:prstGeom prst="rect">
            <a:avLst/>
          </a:prstGeom>
          <a:solidFill>
            <a:srgbClr val="2A220A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22792" y="2651760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Max nhieu model/prompt
KHONG phai GPT-4o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483864"/>
            <a:ext cx="251460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3529584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GEM
(Celik 2026, CIbSE)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80360" y="3483864"/>
            <a:ext cx="196596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53512" y="3529584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84,30%-&gt;88,81%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40" y="3483864"/>
            <a:ext cx="196596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65192" y="3529584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72,71%-&gt;81,85%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03720" y="3483864"/>
            <a:ext cx="160020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76872" y="3529584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NR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9640" y="3483864"/>
            <a:ext cx="361188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22792" y="3529584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Ket qua SAU repair
&amp; strengthening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361688"/>
            <a:ext cx="251460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3192" y="4407408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ASTER
(Pan 2024, ICSE)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80360" y="4361688"/>
            <a:ext cx="196596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53512" y="4407408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77,2%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92040" y="4361688"/>
            <a:ext cx="196596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65192" y="4407408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NR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03720" y="4361688"/>
            <a:ext cx="160020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76872" y="4407408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NR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49640" y="4361688"/>
            <a:ext cx="361188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22792" y="4407408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Static analysis +
error remediation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239512"/>
            <a:ext cx="251460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3192" y="5285232"/>
            <a:ext cx="2450591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ChatTester
(Yuan 2024, FSE)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80360" y="5239512"/>
            <a:ext cx="196596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53512" y="5285232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&gt;82%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92040" y="5239512"/>
            <a:ext cx="196596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65192" y="5285232"/>
            <a:ext cx="1901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&gt;65%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5239512"/>
            <a:ext cx="160020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76872" y="5285232"/>
            <a:ext cx="15361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Tang 34,3%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49640" y="5239512"/>
            <a:ext cx="3611880" cy="850392"/>
          </a:xfrm>
          <a:prstGeom prst="rect">
            <a:avLst/>
          </a:prstGeom>
          <a:solidFill>
            <a:srgbClr val="1C2432"/>
          </a:solidFill>
          <a:ln w="6350">
            <a:solidFill>
              <a:srgbClr val="304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22792" y="5285232"/>
            <a:ext cx="35478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Java class-level;
multi-turn repair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6263640"/>
            <a:ext cx="11548872" cy="274320"/>
          </a:xfrm>
          <a:prstGeom prst="rect">
            <a:avLst/>
          </a:prstGeom>
          <a:solidFill>
            <a:srgbClr val="1A1A1A"/>
          </a:solidFill>
          <a:ln w="1016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2910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107"/>
                </a:solidFill>
                <a:latin typeface="Calibri"/>
              </a:rPr>
              <a:t>Chi dung cac so nay lam BOI CANH — khong gop meta-analysis, khong suy ra universal threshold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C107"/>
                </a:solidFill>
                <a:latin typeface="Calibri"/>
              </a:rPr>
              <a:t>S4  Research Questions &amp; Statistical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Slide quan trong nhat — GV se hoi nhieu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Quan  | 50s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4/11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61872"/>
            <a:ext cx="11548872" cy="1581912"/>
          </a:xfrm>
          <a:prstGeom prst="rect">
            <a:avLst/>
          </a:prstGeom>
          <a:solidFill>
            <a:srgbClr val="161B2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61872"/>
            <a:ext cx="1005840" cy="158191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764792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Calibri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1335024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Calibri"/>
              </a:rPr>
              <a:t>Branch Coverage vs Practical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700784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H0: median(BC) &lt;= 75%  |  H1: median(BC) &gt; 75%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Test: Exact Sign Test, one-sided, right-tailed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Multiplicity: Holm correction, 2 tests (Java + Python)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BCD4"/>
                </a:solidFill>
                <a:latin typeface="Calibri"/>
              </a:rPr>
              <a:t>Threshold: 75%  =  Case 3 — Pre-registered Practical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935224"/>
            <a:ext cx="11548872" cy="1581912"/>
          </a:xfrm>
          <a:prstGeom prst="rect">
            <a:avLst/>
          </a:prstGeom>
          <a:solidFill>
            <a:srgbClr val="161B27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935224"/>
            <a:ext cx="1005840" cy="158191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38144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Calibri"/>
              </a:rPr>
              <a:t>RQ2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008376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  <a:latin typeface="Calibri"/>
              </a:rPr>
              <a:t>GPT-4o vs Randoop 4.3.4 (Java Mutation Score)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374136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d_i = mutation_GPT_i - mutation_Randoop_i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H0: median(d) &lt;= 0  |  H1: median(d) &gt; 0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Test: Paired Wilcoxon Signed-Rank, one-sided, right-tailed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FFC107"/>
                </a:solidFill>
                <a:latin typeface="Calibri"/>
              </a:rPr>
              <a:t>Bao cao: effect size + 95% CI du khi GPT-4o thap 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608576"/>
            <a:ext cx="11548872" cy="1581912"/>
          </a:xfrm>
          <a:prstGeom prst="rect">
            <a:avLst/>
          </a:prstGeom>
          <a:solidFill>
            <a:srgbClr val="161B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608576"/>
            <a:ext cx="1005840" cy="158191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5111496"/>
            <a:ext cx="987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  <a:latin typeface="Calibri"/>
              </a:rPr>
              <a:t>RQ3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681728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CC vs Test Quality (Correlation)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047488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4 cap: Java/Python x Branch Coverage/Mutation Score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H0: rho &gt;= 0  |  H1: rho &lt; 0</a:t>
            </a:r>
          </a:p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Test: Spearman, one-sided, left-tailed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00E676"/>
                </a:solidFill>
                <a:latin typeface="Calibri"/>
              </a:rPr>
              <a:t>Holm correction, 4 tests  |  EXPLORATORY — khong suy nhan qua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6400800"/>
            <a:ext cx="11548872" cy="274320"/>
          </a:xfrm>
          <a:prstGeom prst="rect">
            <a:avLst/>
          </a:prstGeom>
          <a:solidFill>
            <a:srgbClr val="161B27"/>
          </a:solidFill>
          <a:ln w="127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2823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B86FC"/>
                </a:solidFill>
                <a:latin typeface="Calibri"/>
              </a:rPr>
              <a:t>Family-wise alpha = 0.05  |  Chi dung 'reject H0' hoac 'fail to reject H0'  |  Khong thay threshold sau khi co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E676"/>
                </a:solidFill>
                <a:latin typeface="Calibri"/>
              </a:rPr>
              <a:t>S5  Pipeline &amp; Model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Fixed before run — khong thay doi sau khi co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Thai  | 50s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5/11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298448"/>
            <a:ext cx="1783080" cy="960120"/>
          </a:xfrm>
          <a:prstGeom prst="rect">
            <a:avLst/>
          </a:prstGeom>
          <a:solidFill>
            <a:srgbClr val="161B2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298448"/>
            <a:ext cx="17830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371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CD4"/>
                </a:solidFill>
                <a:latin typeface="Calibri"/>
              </a:rPr>
              <a:t>1
Freeze
Manifest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75688" y="16642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1298448"/>
            <a:ext cx="1783080" cy="960120"/>
          </a:xfrm>
          <a:prstGeom prst="rect">
            <a:avLst/>
          </a:prstGeom>
          <a:solidFill>
            <a:srgbClr val="161B2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67712" y="1298448"/>
            <a:ext cx="1783080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40864" y="1371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CD4"/>
                </a:solidFill>
                <a:latin typeface="Calibri"/>
              </a:rPr>
              <a:t>2
Lizard CC
Filter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16642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298448"/>
            <a:ext cx="1783080" cy="960120"/>
          </a:xfrm>
          <a:prstGeom prst="rect">
            <a:avLst/>
          </a:prstGeom>
          <a:solidFill>
            <a:srgbClr val="161B27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298448"/>
            <a:ext cx="178308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1371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107"/>
                </a:solidFill>
                <a:latin typeface="Calibri"/>
              </a:rPr>
              <a:t>3
Render
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16642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54496" y="1298448"/>
            <a:ext cx="1783080" cy="960120"/>
          </a:xfrm>
          <a:prstGeom prst="rect">
            <a:avLst/>
          </a:prstGeom>
          <a:solidFill>
            <a:srgbClr val="161B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1298448"/>
            <a:ext cx="1783080" cy="7315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27648" y="1371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676"/>
                </a:solidFill>
                <a:latin typeface="Calibri"/>
              </a:rPr>
              <a:t>4
GPT-4o
API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55864" y="16642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47888" y="1298448"/>
            <a:ext cx="1783080" cy="960120"/>
          </a:xfrm>
          <a:prstGeom prst="rect">
            <a:avLst/>
          </a:prstGeom>
          <a:solidFill>
            <a:srgbClr val="161B27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1298448"/>
            <a:ext cx="178308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371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86FC"/>
                </a:solidFill>
                <a:latin typeface="Calibri"/>
              </a:rPr>
              <a:t>5
Compile &amp;
Measure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9256" y="166420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241280" y="1298448"/>
            <a:ext cx="1783080" cy="960120"/>
          </a:xfrm>
          <a:prstGeom prst="rect">
            <a:avLst/>
          </a:prstGeom>
          <a:solidFill>
            <a:srgbClr val="161B27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241280" y="1298448"/>
            <a:ext cx="1783080" cy="7315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14432" y="1371600"/>
            <a:ext cx="1645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5C5C"/>
                </a:solidFill>
                <a:latin typeface="Calibri"/>
              </a:rPr>
              <a:t>6
Stats
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487168"/>
            <a:ext cx="5303520" cy="3931920"/>
          </a:xfrm>
          <a:prstGeom prst="rect">
            <a:avLst/>
          </a:prstGeom>
          <a:solidFill>
            <a:srgbClr val="161B27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2487168"/>
            <a:ext cx="5303520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51460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alibri"/>
              </a:rPr>
              <a:t>MODEL SPECIFICATION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2944368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Model:  </a:t>
            </a:r>
            <a:r>
              <a:rPr sz="1300">
                <a:solidFill>
                  <a:srgbClr val="FFFFFF"/>
                </a:solidFill>
                <a:latin typeface="Calibri"/>
              </a:rPr>
              <a:t>gpt-4o-2024-08-06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Endpoint:  </a:t>
            </a:r>
            <a:r>
              <a:rPr sz="1300">
                <a:solidFill>
                  <a:srgbClr val="FFFFFF"/>
                </a:solidFill>
                <a:latin typeface="Calibri"/>
              </a:rPr>
              <a:t>POST /v1/responses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SDK:  </a:t>
            </a:r>
            <a:r>
              <a:rPr sz="1300">
                <a:solidFill>
                  <a:srgbClr val="FFFFFF"/>
                </a:solidFill>
                <a:latin typeface="Calibri"/>
              </a:rPr>
              <a:t>OpenAI Python 2.43.0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Temperature:  </a:t>
            </a:r>
            <a:r>
              <a:rPr sz="1300">
                <a:solidFill>
                  <a:srgbClr val="FFFFFF"/>
                </a:solidFill>
                <a:latin typeface="Calibri"/>
              </a:rPr>
              <a:t>0.2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top_p:  </a:t>
            </a:r>
            <a:r>
              <a:rPr sz="1300">
                <a:solidFill>
                  <a:srgbClr val="FFFFFF"/>
                </a:solidFill>
                <a:latin typeface="Calibri"/>
              </a:rPr>
              <a:t>1.0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max_output_tokens:  </a:t>
            </a:r>
            <a:r>
              <a:rPr sz="1300">
                <a:solidFill>
                  <a:srgbClr val="FFFFFF"/>
                </a:solidFill>
                <a:latin typeface="Calibri"/>
              </a:rPr>
              <a:t>2,048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Responses/unit:  </a:t>
            </a:r>
            <a:r>
              <a:rPr sz="1300">
                <a:solidFill>
                  <a:srgbClr val="FFFFFF"/>
                </a:solidFill>
                <a:latin typeface="Calibri"/>
              </a:rPr>
              <a:t>1  (NO regeneration)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Retry:  </a:t>
            </a:r>
            <a:r>
              <a:rPr sz="1300">
                <a:solidFill>
                  <a:srgbClr val="FFFFFF"/>
                </a:solidFill>
                <a:latin typeface="Calibri"/>
              </a:rPr>
              <a:t>Infrastructure only, before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2487168"/>
            <a:ext cx="5925312" cy="3931920"/>
          </a:xfrm>
          <a:prstGeom prst="rect">
            <a:avLst/>
          </a:prstGeom>
          <a:solidFill>
            <a:srgbClr val="161B27"/>
          </a:solidFill>
          <a:ln w="1524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2487168"/>
            <a:ext cx="5925312" cy="365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2514600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alibri"/>
              </a:rPr>
              <a:t>TOOLCHAIN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2944368"/>
            <a:ext cx="5577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Lizard:  </a:t>
            </a:r>
            <a:r>
              <a:rPr sz="1300">
                <a:solidFill>
                  <a:srgbClr val="FFFFFF"/>
                </a:solidFill>
                <a:latin typeface="Calibri"/>
              </a:rPr>
              <a:t>1.23.0  — CC measurement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JaCoCo:  </a:t>
            </a:r>
            <a:r>
              <a:rPr sz="1300">
                <a:solidFill>
                  <a:srgbClr val="FFFFFF"/>
                </a:solidFill>
                <a:latin typeface="Calibri"/>
              </a:rPr>
              <a:t>0.8.13  — Java branch coverage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coverage.py:  </a:t>
            </a:r>
            <a:r>
              <a:rPr sz="1300">
                <a:solidFill>
                  <a:srgbClr val="FFFFFF"/>
                </a:solidFill>
                <a:latin typeface="Calibri"/>
              </a:rPr>
              <a:t>7.14.2  — Python branch coverage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PIT:  </a:t>
            </a:r>
            <a:r>
              <a:rPr sz="1300">
                <a:solidFill>
                  <a:srgbClr val="FFFFFF"/>
                </a:solidFill>
                <a:latin typeface="Calibri"/>
              </a:rPr>
              <a:t>1.19.1  — Java mutation score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pytest-mutagen:  </a:t>
            </a:r>
            <a:r>
              <a:rPr sz="1300">
                <a:solidFill>
                  <a:srgbClr val="FFFFFF"/>
                </a:solidFill>
                <a:latin typeface="Calibri"/>
              </a:rPr>
              <a:t>1.3  — Python mutation score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Randoop:  </a:t>
            </a:r>
            <a:r>
              <a:rPr sz="1300">
                <a:solidFill>
                  <a:srgbClr val="FFFFFF"/>
                </a:solidFill>
                <a:latin typeface="Calibri"/>
              </a:rPr>
              <a:t>4.3.4  — Java baseline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JUnit:  </a:t>
            </a:r>
            <a:r>
              <a:rPr sz="1300">
                <a:solidFill>
                  <a:srgbClr val="FFFFFF"/>
                </a:solidFill>
                <a:latin typeface="Calibri"/>
              </a:rPr>
              <a:t>5.11.4  |  JDK 17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SciPy:  </a:t>
            </a:r>
            <a:r>
              <a:rPr sz="1300">
                <a:solidFill>
                  <a:srgbClr val="FFFFFF"/>
                </a:solidFill>
                <a:latin typeface="Calibri"/>
              </a:rPr>
              <a:t>1.18.0  |  pandas 3.0.3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Calibri"/>
              </a:rPr>
              <a:t>S6  Dataset &amp;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50 units, CC 5-15, provenance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Vinh  | 40s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6/11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298448"/>
            <a:ext cx="3319272" cy="5029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35024"/>
            <a:ext cx="32278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D1117"/>
                </a:solidFill>
                <a:latin typeface="Calibri"/>
              </a:rPr>
              <a:t>DATASET  N = 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01368"/>
            <a:ext cx="36576" cy="36576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23160" y="2167128"/>
            <a:ext cx="3703320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2167128"/>
            <a:ext cx="3703320" cy="3657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167128"/>
            <a:ext cx="36576" cy="36576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47504" y="2167128"/>
            <a:ext cx="36576" cy="36576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2532888"/>
            <a:ext cx="2743200" cy="502920"/>
          </a:xfrm>
          <a:prstGeom prst="rect">
            <a:avLst/>
          </a:prstGeom>
          <a:solidFill>
            <a:srgbClr val="161B27"/>
          </a:solidFill>
          <a:ln w="254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5511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  <a:latin typeface="Calibri"/>
              </a:rPr>
              <a:t>JAVA  25 units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090672"/>
            <a:ext cx="2743200" cy="411480"/>
          </a:xfrm>
          <a:prstGeom prst="rect">
            <a:avLst/>
          </a:prstGeom>
          <a:solidFill>
            <a:srgbClr val="161B2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108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Randoop 4.3.4 baseline
60s/unit | seed=20260621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557016"/>
            <a:ext cx="2743200" cy="411480"/>
          </a:xfrm>
          <a:prstGeom prst="rect">
            <a:avLst/>
          </a:prstGeom>
          <a:solidFill>
            <a:srgbClr val="161B2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575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Benchmark: CLASSES2TEST
(Lops 2025, ASE CORE A*)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48472" y="2532888"/>
            <a:ext cx="2743200" cy="502920"/>
          </a:xfrm>
          <a:prstGeom prst="rect">
            <a:avLst/>
          </a:prstGeom>
          <a:solidFill>
            <a:srgbClr val="161B27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255117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676"/>
                </a:solidFill>
                <a:latin typeface="Calibri"/>
              </a:rPr>
              <a:t>PYTHON  25 units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48472" y="3090672"/>
            <a:ext cx="2743200" cy="411480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2" y="3108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No traditional baseline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48472" y="3557016"/>
            <a:ext cx="2743200" cy="411480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912" y="357530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Method: TestPilot + ASTER
(IEEE TSE + ICSE CORE A*)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4160520"/>
            <a:ext cx="4526280" cy="502920"/>
          </a:xfrm>
          <a:prstGeom prst="rect">
            <a:avLst/>
          </a:prstGeom>
          <a:solidFill>
            <a:srgbClr val="161B27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0" y="4160520"/>
            <a:ext cx="4526280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4242816"/>
            <a:ext cx="4343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 &lt;= CC &lt;= 15  |  Lizard 1.23.0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40480" y="4773168"/>
            <a:ext cx="4526280" cy="502920"/>
          </a:xfrm>
          <a:prstGeom prst="rect">
            <a:avLst/>
          </a:prstGeom>
          <a:solidFill>
            <a:srgbClr val="161B2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31920" y="4791456"/>
            <a:ext cx="4343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BCD4"/>
                </a:solidFill>
                <a:latin typeface="Calibri"/>
              </a:rPr>
              <a:t>Provenance Gate:
source • license • commit SHA • hash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394960"/>
            <a:ext cx="11548872" cy="1097280"/>
          </a:xfrm>
          <a:prstGeom prst="rect">
            <a:avLst/>
          </a:prstGeom>
          <a:solidFill>
            <a:srgbClr val="161B27"/>
          </a:solidFill>
          <a:ln w="1016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49824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CD4"/>
                </a:solidFill>
                <a:latin typeface="Calibri"/>
              </a:rPr>
              <a:t>INCLUSION RULES: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875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Public source • has license • build/import standalone • no network/DB/clock deps • 2 reviewers • sort by SHA-256(unit_id) • top 25/language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BB86FC"/>
                </a:solidFill>
                <a:latin typeface="Calibri"/>
              </a:rPr>
              <a:t>S7  Work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1 package — 1 owner chinh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Van  | 40s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7/11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2176272" cy="2743200"/>
          </a:xfrm>
          <a:prstGeom prst="rect">
            <a:avLst/>
          </a:prstGeom>
          <a:solidFill>
            <a:srgbClr val="161B2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98448"/>
            <a:ext cx="2176272" cy="6400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1316736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VINH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" y="162763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Role: DG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029968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D1D9"/>
                </a:solidFill>
                <a:latin typeface="Calibri"/>
              </a:rPr>
              <a:t>Dataset &amp; Preflight
50 units + manifest
+ provenance gate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9192" y="1298448"/>
            <a:ext cx="2176272" cy="2743200"/>
          </a:xfrm>
          <a:prstGeom prst="rect">
            <a:avLst/>
          </a:prstGeom>
          <a:solidFill>
            <a:srgbClr val="161B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79192" y="1298448"/>
            <a:ext cx="2176272" cy="6400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316736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THAI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62763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Role: 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029968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D1D9"/>
                </a:solidFill>
                <a:latin typeface="Calibri"/>
              </a:rPr>
              <a:t>50 API Calls
Raw logs, token cost
Prompt hash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3752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8344" y="1298448"/>
            <a:ext cx="2176272" cy="2743200"/>
          </a:xfrm>
          <a:prstGeom prst="rect">
            <a:avLst/>
          </a:prstGeom>
          <a:solidFill>
            <a:srgbClr val="161B27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38344" y="1298448"/>
            <a:ext cx="2176272" cy="6400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4064" y="1316736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QUAN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4064" y="162763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Role: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3" y="2029968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D1D9"/>
                </a:solidFill>
                <a:latin typeface="Calibri"/>
              </a:rPr>
              <a:t>25 Java + Randoop
Coverage, Mutation
Statistical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2904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97496" y="1298448"/>
            <a:ext cx="2176272" cy="2743200"/>
          </a:xfrm>
          <a:prstGeom prst="rect">
            <a:avLst/>
          </a:prstGeom>
          <a:solidFill>
            <a:srgbClr val="161B27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97496" y="1298448"/>
            <a:ext cx="2176272" cy="64008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43216" y="1316736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VAN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43216" y="162763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Role: RW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88936" y="2029968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D1D9"/>
                </a:solidFill>
                <a:latin typeface="Calibri"/>
              </a:rPr>
              <a:t>25 Python units
Figures, validity
observations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2056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949E"/>
                </a:solidFill>
                <a:latin typeface="Calibri"/>
              </a:rPr>
              <a:t>-&gt;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56648" y="1298448"/>
            <a:ext cx="2176272" cy="2743200"/>
          </a:xfrm>
          <a:prstGeom prst="rect">
            <a:avLst/>
          </a:prstGeom>
          <a:solidFill>
            <a:srgbClr val="161B27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756648" y="1298448"/>
            <a:ext cx="2176272" cy="64008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02368" y="1316736"/>
            <a:ext cx="20848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117"/>
                </a:solidFill>
                <a:latin typeface="Calibri"/>
              </a:rPr>
              <a:t>NGHI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1627632"/>
            <a:ext cx="20848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  <a:latin typeface="Calibri"/>
              </a:rPr>
              <a:t>Role: PL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48088" y="2029968"/>
            <a:ext cx="19933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D1D9"/>
                </a:solidFill>
                <a:latin typeface="Calibri"/>
              </a:rPr>
              <a:t>Protocol freeze
Reproducibility gate
Final integration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251960"/>
            <a:ext cx="11548872" cy="594360"/>
          </a:xfrm>
          <a:prstGeom prst="rect">
            <a:avLst/>
          </a:prstGeom>
          <a:solidFill>
            <a:srgbClr val="161B2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  <a:latin typeface="Calibri"/>
              </a:rPr>
              <a:t>Quy tac: LR (Thai) + MS (Quan) KHONG gop — nguoi chay experiment khong tu verify ket qua cua chinh minh.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010912"/>
            <a:ext cx="11548872" cy="502920"/>
          </a:xfrm>
          <a:prstGeom prst="rect">
            <a:avLst/>
          </a:prstGeom>
          <a:solidFill>
            <a:srgbClr val="161B27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0474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676"/>
                </a:solidFill>
                <a:latin typeface="Calibri"/>
              </a:rPr>
              <a:t>Ai lam phan nao -&gt; Tu viet phan do trong report. Khong giao 1 nguoi viet thay ca nhom.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C107"/>
                </a:solidFill>
                <a:latin typeface="Calibri"/>
              </a:rPr>
              <a:t>S8  Evaluation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Dien giai tat ca ket qua co the xay ra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Quan  | 45s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8/11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9844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CD4"/>
                </a:solidFill>
                <a:latin typeface="Calibri"/>
              </a:rPr>
              <a:t>RQ1 — 3 kich ban ket qua: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3584448" cy="1234440"/>
          </a:xfrm>
          <a:prstGeom prst="rect">
            <a:avLst/>
          </a:prstGeom>
          <a:solidFill>
            <a:srgbClr val="161B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719072"/>
            <a:ext cx="3584448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92224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Ca Java VA Python
vuot 75%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3310128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450592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676"/>
                </a:solidFill>
                <a:latin typeface="Calibri"/>
              </a:rPr>
              <a:t>Evidence on dinh
ca hai ngon ngu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776" y="21671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949E"/>
                </a:solidFill>
                <a:latin typeface="Calibri"/>
              </a:rPr>
              <a:t>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3087" y="1719072"/>
            <a:ext cx="3584448" cy="1234440"/>
          </a:xfrm>
          <a:prstGeom prst="rect">
            <a:avLst/>
          </a:prstGeom>
          <a:solidFill>
            <a:srgbClr val="161B27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3087" y="1719072"/>
            <a:ext cx="3584448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24527" y="1792224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Chi MOT ngon ngu
vuot 75%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70248" y="2377440"/>
            <a:ext cx="3310128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4527" y="2450592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107"/>
                </a:solidFill>
                <a:latin typeface="Calibri"/>
              </a:rPr>
              <a:t>Ket luan:
Language-specific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3" y="2167128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949E"/>
                </a:solidFill>
                <a:latin typeface="Calibri"/>
              </a:rPr>
              <a:t>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46136" y="1719072"/>
            <a:ext cx="3584448" cy="1234440"/>
          </a:xfrm>
          <a:prstGeom prst="rect">
            <a:avLst/>
          </a:prstGeom>
          <a:solidFill>
            <a:srgbClr val="161B27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46136" y="1719072"/>
            <a:ext cx="3584448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7575" y="1792224"/>
            <a:ext cx="34015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KHONG ngon ngu nao
vuot 75%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2377440"/>
            <a:ext cx="3310128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2450592"/>
            <a:ext cx="3401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5C5C"/>
                </a:solidFill>
                <a:latin typeface="Calibri"/>
              </a:rPr>
              <a:t>Target khong duoc
ho tro  —  giu nguyen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108960"/>
            <a:ext cx="7315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107"/>
                </a:solidFill>
                <a:latin typeface="Calibri"/>
              </a:rPr>
              <a:t>RQ2 — Bao cao paired mutation difference: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74720"/>
            <a:ext cx="11548872" cy="685800"/>
          </a:xfrm>
          <a:prstGeom prst="rect">
            <a:avLst/>
          </a:prstGeom>
          <a:solidFill>
            <a:srgbClr val="161B2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52958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Du GPT-4o tot hon hay khong tot hon Randoop -&gt; bao ca hai truong hop.  Bao gom: n hop le, n missing, median/IQR, paired diff, effect size, 95% CI, raw p, adjusted 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315968"/>
            <a:ext cx="11548872" cy="548640"/>
          </a:xfrm>
          <a:prstGeom prst="rect">
            <a:avLst/>
          </a:prstGeom>
          <a:solidFill>
            <a:srgbClr val="2A1010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3708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5C5C"/>
                </a:solidFill>
                <a:latin typeface="Calibri"/>
              </a:rPr>
              <a:t>KHONG thay threshold sau khi xem ket qua  =  HARKing  =  Vi pham tinh toan ven khoa hoc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029200"/>
            <a:ext cx="11548872" cy="1417320"/>
          </a:xfrm>
          <a:prstGeom prst="rect">
            <a:avLst/>
          </a:prstGeom>
          <a:solidFill>
            <a:srgbClr val="161B27"/>
          </a:solidFill>
          <a:ln w="1016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084064"/>
            <a:ext cx="1124712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  <a:latin typeface="Calibri"/>
              </a:rPr>
              <a:t>MOI bang ket qua phai co day du:</a:t>
            </a:r>
          </a:p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n hop le  •  n missing  •  median / IQR  •  effect estimate  •  95% CI  •  raw p-value  •  adjusted p-value (Holm)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5C5C"/>
                </a:solidFill>
                <a:latin typeface="Calibri"/>
              </a:rPr>
              <a:t>S9  Threats to Validity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4 loai bat buoc — moi threat co mitigation cu the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Van  | 40s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9/11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2834640" cy="5166360"/>
          </a:xfrm>
          <a:prstGeom prst="rect">
            <a:avLst/>
          </a:prstGeom>
          <a:solidFill>
            <a:srgbClr val="161B27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98448"/>
            <a:ext cx="2834640" cy="38404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316736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INTERNAL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737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Calibri"/>
              </a:rPr>
              <a:t>THREAT: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9659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Model Drift:
OpenAI co the silent-update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3649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5C5C"/>
                </a:solidFill>
                <a:latin typeface="Calibri"/>
              </a:rP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657600"/>
            <a:ext cx="2651760" cy="274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374903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5C5C"/>
                </a:solidFill>
                <a:latin typeface="Calibri"/>
              </a:rPr>
              <a:t>MITIGATION: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3977639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Pin exact snapshot gpt-4o-2024-08-06
Log version trong moi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298448"/>
            <a:ext cx="2834640" cy="5166360"/>
          </a:xfrm>
          <a:prstGeom prst="rect">
            <a:avLst/>
          </a:prstGeom>
          <a:solidFill>
            <a:srgbClr val="161B27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1298448"/>
            <a:ext cx="283464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2" y="1316736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EXTERNAL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1737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THREAT: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19659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50 units, 2 languages:
Kho khai quat ra ngoai sample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3649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C107"/>
                </a:solidFill>
                <a:latin typeface="Calibri"/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83280" y="3657600"/>
            <a:ext cx="2651760" cy="274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374903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Calibri"/>
              </a:rPr>
              <a:t>MITIGATION: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977639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Claim chi trong 50 units hop le
CC 5-15, khong overgeneralize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298448"/>
            <a:ext cx="2834640" cy="5166360"/>
          </a:xfrm>
          <a:prstGeom prst="rect">
            <a:avLst/>
          </a:prstGeom>
          <a:solidFill>
            <a:srgbClr val="161B27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1298448"/>
            <a:ext cx="2834640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1316736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CONSTRUCT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1737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Calibri"/>
              </a:rPr>
              <a:t>THREAT: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79" y="19659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Coverage != Fault Detection:
BC cao khong co nghia test tot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19" y="33649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B86FC"/>
                </a:solidFill>
                <a:latin typeface="Calibri"/>
              </a:rPr>
              <a:t>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79" y="3657600"/>
            <a:ext cx="265176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374903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B86FC"/>
                </a:solidFill>
                <a:latin typeface="Calibri"/>
              </a:rPr>
              <a:t>MITIGATION: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9" y="3977639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Co-primary: Mutation Score + Executability
Bao cao rieng, khong thay the nhau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35440" y="1298448"/>
            <a:ext cx="2834640" cy="5166360"/>
          </a:xfrm>
          <a:prstGeom prst="rect">
            <a:avLst/>
          </a:prstGeom>
          <a:solidFill>
            <a:srgbClr val="161B27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35440" y="1298448"/>
            <a:ext cx="2834640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08592" y="1316736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117"/>
                </a:solidFill>
                <a:latin typeface="Calibri"/>
              </a:rPr>
              <a:t>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17373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Calibri"/>
              </a:rPr>
              <a:t>THREAT: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196596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 nho + Range restriction:
Estimate co the khong on dinh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19" y="336499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E676"/>
                </a:solidFill>
                <a:latin typeface="Calibri"/>
              </a:rPr>
              <a:t>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657600"/>
            <a:ext cx="2651760" cy="274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374903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676"/>
                </a:solidFill>
                <a:latin typeface="Calibri"/>
              </a:rPr>
              <a:t>MITIGATION: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977639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  <a:latin typeface="Calibri"/>
              </a:rPr>
              <a:t>Bao cao effect size + 95% CI
RQ3 la EXPLORATORY — khong suy nhan qua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6428232"/>
            <a:ext cx="11548872" cy="256032"/>
          </a:xfrm>
          <a:prstGeom prst="rect">
            <a:avLst/>
          </a:prstGeom>
          <a:solidFill>
            <a:srgbClr val="161B27"/>
          </a:solidFill>
          <a:ln w="1016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455664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E676"/>
                </a:solidFill>
                <a:latin typeface="Calibri"/>
              </a:rPr>
              <a:t>Protocol duoc FREEZE truoc full run — giam researcher degrees of freedom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Calibri"/>
              </a:rPr>
              <a:t>S10  Timeline &amp;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W7 pilot -&gt; freeze gate -&gt; W8 full -&gt; W9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Nghi  | 40s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10/11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1810512" cy="1463040"/>
          </a:xfrm>
          <a:prstGeom prst="rect">
            <a:avLst/>
          </a:prstGeom>
          <a:solidFill>
            <a:srgbClr val="161B27"/>
          </a:solidFill>
          <a:ln w="1524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98448"/>
            <a:ext cx="1810512" cy="38404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" y="1316736"/>
            <a:ext cx="1709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W5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" y="1755648"/>
            <a:ext cx="17099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Freeze RQ,
hypotheses,
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3432" y="1298448"/>
            <a:ext cx="1810512" cy="1463040"/>
          </a:xfrm>
          <a:prstGeom prst="rect">
            <a:avLst/>
          </a:prstGeom>
          <a:solidFill>
            <a:srgbClr val="161B27"/>
          </a:solidFill>
          <a:ln w="1524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3432" y="1298448"/>
            <a:ext cx="1810512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68296" y="1316736"/>
            <a:ext cx="1709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W6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1755648"/>
            <a:ext cx="17099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GV approve
Dataset verify
API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2232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06824" y="1298448"/>
            <a:ext cx="1810512" cy="1463040"/>
          </a:xfrm>
          <a:prstGeom prst="rect">
            <a:avLst/>
          </a:prstGeom>
          <a:solidFill>
            <a:srgbClr val="161B27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06824" y="1298448"/>
            <a:ext cx="1810512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1316736"/>
            <a:ext cx="1709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W7
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1755648"/>
            <a:ext cx="17099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5 Java + 5 Python
Fixture, logging
Runtime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  <a:latin typeface="Calibri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0216" y="1298448"/>
            <a:ext cx="1810512" cy="1737360"/>
          </a:xfrm>
          <a:prstGeom prst="rect">
            <a:avLst/>
          </a:prstGeom>
          <a:solidFill>
            <a:srgbClr val="161B27"/>
          </a:solidFill>
          <a:ln w="2540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0216" y="1298448"/>
            <a:ext cx="1810512" cy="38404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316736"/>
            <a:ext cx="1709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FREEZE
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1755648"/>
            <a:ext cx="1709928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Manifest 50 units
Toolchain lock
Amendment?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  <a:latin typeface="Calibri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3608" y="1298448"/>
            <a:ext cx="1810512" cy="1463040"/>
          </a:xfrm>
          <a:prstGeom prst="rect">
            <a:avLst/>
          </a:prstGeom>
          <a:solidFill>
            <a:srgbClr val="161B27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93608" y="1298448"/>
            <a:ext cx="1810512" cy="38404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2" y="1316736"/>
            <a:ext cx="1709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W8
FULL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1755648"/>
            <a:ext cx="17099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Full API run
Randoop baseline
Metrics all 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8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  <a:latin typeface="Calibri"/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87000" y="1298448"/>
            <a:ext cx="1810512" cy="1463040"/>
          </a:xfrm>
          <a:prstGeom prst="rect">
            <a:avLst/>
          </a:prstGeom>
          <a:solidFill>
            <a:srgbClr val="161B27"/>
          </a:solidFill>
          <a:ln w="1524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0" y="1298448"/>
            <a:ext cx="1810512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41864" y="1316736"/>
            <a:ext cx="17099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W9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1864" y="1755648"/>
            <a:ext cx="1709928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  <a:latin typeface="Calibri"/>
              </a:rPr>
              <a:t>Pre-registered
analysis + CI
Defense prep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15800" y="196596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B949E"/>
                </a:solidFill>
                <a:latin typeface="Calibri"/>
              </a:rPr>
              <a:t>&gt;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035808"/>
            <a:ext cx="5486400" cy="3493008"/>
          </a:xfrm>
          <a:prstGeom prst="rect">
            <a:avLst/>
          </a:prstGeom>
          <a:solidFill>
            <a:srgbClr val="161B27"/>
          </a:solidFill>
          <a:ln w="1524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3035808"/>
            <a:ext cx="5486400" cy="365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063240"/>
            <a:ext cx="5212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alibri"/>
              </a:rPr>
              <a:t>RESOURCES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493008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API Budget:  </a:t>
            </a:r>
            <a:r>
              <a:rPr sz="1200">
                <a:solidFill>
                  <a:srgbClr val="FFFFFF"/>
                </a:solidFill>
                <a:latin typeface="Calibri"/>
              </a:rPr>
              <a:t>GPT-4o snapshot gpt-4o-2024-08-06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Cost estimate:  </a:t>
            </a:r>
            <a:r>
              <a:rPr sz="1200">
                <a:solidFill>
                  <a:srgbClr val="FFFFFF"/>
                </a:solidFill>
                <a:latin typeface="Calibri"/>
              </a:rPr>
              <a:t>~$1.14 USD  (60 requests, ~87,500 tokens)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Compute:  </a:t>
            </a:r>
            <a:r>
              <a:rPr sz="1200">
                <a:solidFill>
                  <a:srgbClr val="FFFFFF"/>
                </a:solidFill>
                <a:latin typeface="Calibri"/>
              </a:rPr>
              <a:t>CPU + Git repo luu artifacts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Input price:  </a:t>
            </a:r>
            <a:r>
              <a:rPr sz="1200">
                <a:solidFill>
                  <a:srgbClr val="FFFFFF"/>
                </a:solidFill>
                <a:latin typeface="Calibri"/>
              </a:rPr>
              <a:t>$5.00 / 1M tokens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Output price:  </a:t>
            </a:r>
            <a:r>
              <a:rPr sz="1200">
                <a:solidFill>
                  <a:srgbClr val="FFFFFF"/>
                </a:solidFill>
                <a:latin typeface="Calibri"/>
              </a:rPr>
              <a:t>$15.00 / 1M tokens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Buffer:  </a:t>
            </a:r>
            <a:r>
              <a:rPr sz="1200">
                <a:solidFill>
                  <a:srgbClr val="FFFFFF"/>
                </a:solidFill>
                <a:latin typeface="Calibri"/>
              </a:rPr>
              <a:t>+20%  =&gt;  tong ~$1.37 USD  (&lt;$5 limit)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035808"/>
            <a:ext cx="5742432" cy="3493008"/>
          </a:xfrm>
          <a:prstGeom prst="rect">
            <a:avLst/>
          </a:prstGeom>
          <a:solidFill>
            <a:srgbClr val="161B27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3035808"/>
            <a:ext cx="5742432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3063240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alibri"/>
              </a:rPr>
              <a:t>CONTINGENCY PLAN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493008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200" b="1">
                <a:solidFill>
                  <a:srgbClr val="00BCD4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9D1D9"/>
                </a:solidFill>
                <a:latin typeface="Calibri"/>
              </a:rPr>
              <a:t>Model snapshot unavailable
-&gt; Dung, lap amendment, xin GV duyet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00BCD4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9D1D9"/>
                </a:solidFill>
                <a:latin typeface="Calibri"/>
              </a:rPr>
              <a:t>Tool/fixture failure
-&gt; Fix + re-pilot, khong skip pilot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00BCD4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9D1D9"/>
                </a:solidFill>
                <a:latin typeface="Calibri"/>
              </a:rPr>
              <a:t>API rate limit
-&gt; Chia batch, chay qua dem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00BCD4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9D1D9"/>
                </a:solidFill>
                <a:latin typeface="Calibri"/>
              </a:rPr>
              <a:t>Pilot phat hien van de ky thuat
-&gt; Amendment trong 24h sau pilot meeting</a:t>
            </a: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00BCD4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C9D1D9"/>
                </a:solidFill>
                <a:latin typeface="Calibri"/>
              </a:rPr>
              <a:t>N thuc te &lt; proposal
-&gt; Cap nhat §5.2 + power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1005840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CD4"/>
                </a:solidFill>
                <a:latin typeface="Calibri"/>
              </a:rPr>
              <a:t>S11  Contribution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Ket qua du kien va phong van GV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201168"/>
            <a:ext cx="2011680" cy="384048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93808" y="219456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alibri"/>
              </a:rPr>
              <a:t>  Nghi  | 25s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019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B949E"/>
                </a:solidFill>
                <a:latin typeface="Calibri"/>
              </a:rPr>
              <a:t>11/11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54864"/>
          </a:xfrm>
          <a:prstGeom prst="rect">
            <a:avLst/>
          </a:prstGeom>
          <a:solidFill>
            <a:srgbClr val="161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298448"/>
            <a:ext cx="6217920" cy="5120640"/>
          </a:xfrm>
          <a:prstGeom prst="rect">
            <a:avLst/>
          </a:prstGeom>
          <a:solidFill>
            <a:srgbClr val="161B27"/>
          </a:solidFill>
          <a:ln w="1905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98448"/>
            <a:ext cx="6217920" cy="3657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16736"/>
            <a:ext cx="5943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alibri"/>
              </a:rPr>
              <a:t>EXPECTED CONTRIBUTIONS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83080"/>
            <a:ext cx="5943600" cy="1353312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09728" cy="135331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182880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CD4"/>
                </a:solidFill>
                <a:latin typeface="Calibri"/>
              </a:rPr>
              <a:t>Controlled protocol
CC 5-15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286000"/>
            <a:ext cx="5623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First study to evaluate GPT-4o on balanced Java/Python
filtered by CC 5-15 — bounded claim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5943600" cy="1353312"/>
          </a:xfrm>
          <a:prstGeom prst="rect">
            <a:avLst/>
          </a:prstGeom>
          <a:solidFill>
            <a:srgbClr val="0D1117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109728" cy="135331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291839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Calibri"/>
              </a:rPr>
              <a:t>Paired Java comparison
vs Randoop 4.3.4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749039"/>
            <a:ext cx="5623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Paired mutation score comparison with statistical test,
effect size, 95% CI &amp; multiplicity correction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5943600" cy="1353312"/>
          </a:xfrm>
          <a:prstGeom prst="rect">
            <a:avLst/>
          </a:prstGeom>
          <a:solidFill>
            <a:srgbClr val="0D1117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09160"/>
            <a:ext cx="109728" cy="135331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54880"/>
            <a:ext cx="5623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676"/>
                </a:solidFill>
                <a:latin typeface="Calibri"/>
              </a:rPr>
              <a:t>Reproducibility package
50/50 traceability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212080"/>
            <a:ext cx="5623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  <a:latin typeface="Calibri"/>
              </a:rPr>
              <a:t>Frozen manifest, prompt hash, raw logs, analysis script
&amp; amendment log — fully reproducible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298448"/>
            <a:ext cx="5010912" cy="1920240"/>
          </a:xfrm>
          <a:prstGeom prst="rect">
            <a:avLst/>
          </a:prstGeom>
          <a:solidFill>
            <a:srgbClr val="1A1010"/>
          </a:solidFill>
          <a:ln w="19050">
            <a:solidFill>
              <a:srgbClr val="FF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0" y="1298448"/>
            <a:ext cx="5010912" cy="36576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131673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alibri"/>
              </a:rPr>
              <a:t>KHONG TUYEN BO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1755648"/>
            <a:ext cx="46634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x  </a:t>
            </a:r>
            <a:r>
              <a:rPr sz="1300" b="0" i="0">
                <a:solidFill>
                  <a:srgbClr val="FF5C5C"/>
                </a:solidFill>
                <a:latin typeface="Calibri"/>
              </a:rPr>
              <a:t>GPT-4o tot hon trong moi truong hop</a:t>
            </a: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x  </a:t>
            </a:r>
            <a:r>
              <a:rPr sz="1300" b="0" i="0">
                <a:solidFill>
                  <a:srgbClr val="FF5C5C"/>
                </a:solidFill>
                <a:latin typeface="Calibri"/>
              </a:rPr>
              <a:t>CC 5-15 dai dien toan nganh</a:t>
            </a: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x  </a:t>
            </a:r>
            <a:r>
              <a:rPr sz="1300" b="0" i="0">
                <a:solidFill>
                  <a:srgbClr val="FF5C5C"/>
                </a:solidFill>
                <a:latin typeface="Calibri"/>
              </a:rPr>
              <a:t>Inferential stats la chua tung dung</a:t>
            </a:r>
          </a:p>
          <a:p>
            <a:pPr algn="l">
              <a:spcBef>
                <a:spcPts val="300"/>
              </a:spcBef>
            </a:pPr>
            <a:r>
              <a:rPr sz="1300" b="1">
                <a:solidFill>
                  <a:srgbClr val="00BCD4"/>
                </a:solidFill>
                <a:latin typeface="Calibri"/>
              </a:rPr>
              <a:t>x  </a:t>
            </a:r>
            <a:r>
              <a:rPr sz="1300" b="0" i="0">
                <a:solidFill>
                  <a:srgbClr val="FF5C5C"/>
                </a:solidFill>
                <a:latin typeface="Calibri"/>
              </a:rPr>
              <a:t>Ket qua pilot = ket qua final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401568"/>
            <a:ext cx="5010912" cy="3017520"/>
          </a:xfrm>
          <a:prstGeom prst="rect">
            <a:avLst/>
          </a:prstGeom>
          <a:solidFill>
            <a:srgbClr val="161B27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0" y="3401568"/>
            <a:ext cx="5010912" cy="3657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95160" y="341985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Calibri"/>
              </a:rPr>
              <a:t>Q&amp;A — AI TRA LOI GI?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7728" y="3858768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C9D1D9"/>
                </a:solidFill>
                <a:latin typeface="Calibri"/>
              </a:rPr>
              <a:t>75% lay tu dau?  -&gt; </a:t>
            </a:r>
            <a:r>
              <a:rPr sz="1200" b="1">
                <a:solidFill>
                  <a:srgbClr val="00BCD4"/>
                </a:solidFill>
                <a:latin typeface="Calibri"/>
              </a:rPr>
              <a:t>Vinh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9D1D9"/>
                </a:solidFill>
                <a:latin typeface="Calibri"/>
              </a:rPr>
              <a:t>Model, API, SDK, prompt?  -&gt; </a:t>
            </a:r>
            <a:r>
              <a:rPr sz="1200" b="1">
                <a:solidFill>
                  <a:srgbClr val="00E676"/>
                </a:solidFill>
                <a:latin typeface="Calibri"/>
              </a:rPr>
              <a:t>Thai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9D1D9"/>
                </a:solidFill>
                <a:latin typeface="Calibri"/>
              </a:rPr>
              <a:t>RQ, H0/H1, stats, Randoop?  -&gt; </a:t>
            </a:r>
            <a:r>
              <a:rPr sz="1200" b="1">
                <a:solidFill>
                  <a:srgbClr val="FFC107"/>
                </a:solidFill>
                <a:latin typeface="Calibri"/>
              </a:rPr>
              <a:t>Quan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9D1D9"/>
                </a:solidFill>
                <a:latin typeface="Calibri"/>
              </a:rPr>
              <a:t>Python toolchain, threats?  -&gt; </a:t>
            </a:r>
            <a:r>
              <a:rPr sz="1200" b="1">
                <a:solidFill>
                  <a:srgbClr val="BB86FC"/>
                </a:solidFill>
                <a:latin typeface="Calibri"/>
              </a:rPr>
              <a:t>Van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C9D1D9"/>
                </a:solidFill>
                <a:latin typeface="Calibri"/>
              </a:rPr>
              <a:t>Timeline, resources?  -&gt; </a:t>
            </a:r>
            <a:r>
              <a:rPr sz="1200" b="1">
                <a:solidFill>
                  <a:srgbClr val="FF5C5C"/>
                </a:solidFill>
                <a:latin typeface="Calibri"/>
              </a:rPr>
              <a:t>Nghi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400800"/>
            <a:ext cx="7616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CD4"/>
                </a:solidFill>
                <a:latin typeface="Calibri"/>
              </a:rPr>
              <a:t>Nhom em xin nhan cau hoi cua Thay/Co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